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dh-bridge-dashboard.vercel.app" TargetMode="External"/><Relationship Id="rId2" Type="http://schemas.openxmlformats.org/officeDocument/2006/relationships/hyperlink" Target="https://cdh-bridge-demos.vercel.app/web" TargetMode="External"/><Relationship Id="rId3" Type="http://schemas.openxmlformats.org/officeDocument/2006/relationships/hyperlink" Target="https://cdh-bridge-demos.vercel.app/mobile" TargetMode="External"/><Relationship Id="rId4" Type="http://schemas.openxmlformats.org/officeDocument/2006/relationships/hyperlink" Target="https://cdh-bridge-demos.vercel.app/citadele" TargetMode="External"/><Relationship Id="rId5" Type="http://schemas.openxmlformats.org/officeDocument/2006/relationships/hyperlink" Target="https://cdh-bridge-demos.vercel.app/cookbook" TargetMode="External"/><Relationship Id="rId6" Type="http://schemas.openxmlformats.org/officeDocument/2006/relationships/hyperlink" Target="https://github.com/sunilmlodha/cdh-bridge" TargetMode="External"/><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3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6A34A"/>
          </a:solidFill>
          <a:ln w="12700">
            <a:solidFill>
              <a:srgbClr val="16A34A"/>
            </a:solidFill>
            <a:prstDash val="solid"/>
          </a:ln>
        </p:spPr>
      </p:sp>
      <p:sp>
        <p:nvSpPr>
          <p:cNvPr id="3" name="Text 1"/>
          <p:cNvSpPr/>
          <p:nvPr/>
        </p:nvSpPr>
        <p:spPr>
          <a:xfrm>
            <a:off x="457200" y="1463040"/>
            <a:ext cx="7315200" cy="1280160"/>
          </a:xfrm>
          <a:prstGeom prst="rect">
            <a:avLst/>
          </a:prstGeom>
          <a:noFill/>
          <a:ln/>
        </p:spPr>
        <p:txBody>
          <a:bodyPr wrap="square" lIns="0" tIns="0" rIns="0" bIns="0" rtlCol="0" anchor="ctr"/>
          <a:lstStyle/>
          <a:p>
            <a:pPr indent="0" marL="0">
              <a:buNone/>
            </a:pPr>
            <a:r>
              <a:rPr lang="en-US" sz="5600" b="1" dirty="0">
                <a:solidFill>
                  <a:srgbClr val="FFFFFF"/>
                </a:solidFill>
                <a:latin typeface="Calibri" pitchFamily="34" charset="0"/>
                <a:ea typeface="Calibri" pitchFamily="34" charset="-122"/>
                <a:cs typeface="Calibri" pitchFamily="34" charset="-120"/>
              </a:rPr>
              <a:t>CDH Bridge</a:t>
            </a:r>
            <a:endParaRPr lang="en-US" sz="5600" dirty="0"/>
          </a:p>
        </p:txBody>
      </p:sp>
      <p:sp>
        <p:nvSpPr>
          <p:cNvPr id="4" name="Shape 2"/>
          <p:cNvSpPr/>
          <p:nvPr/>
        </p:nvSpPr>
        <p:spPr>
          <a:xfrm>
            <a:off x="457200" y="2788920"/>
            <a:ext cx="1645920" cy="54864"/>
          </a:xfrm>
          <a:prstGeom prst="rect">
            <a:avLst/>
          </a:prstGeom>
          <a:solidFill>
            <a:srgbClr val="16A34A"/>
          </a:solidFill>
          <a:ln w="12700">
            <a:solidFill>
              <a:srgbClr val="16A34A"/>
            </a:solidFill>
            <a:prstDash val="solid"/>
          </a:ln>
        </p:spPr>
      </p:sp>
      <p:sp>
        <p:nvSpPr>
          <p:cNvPr id="5" name="Text 3"/>
          <p:cNvSpPr/>
          <p:nvPr/>
        </p:nvSpPr>
        <p:spPr>
          <a:xfrm>
            <a:off x="457200" y="2944368"/>
            <a:ext cx="7772400" cy="502920"/>
          </a:xfrm>
          <a:prstGeom prst="rect">
            <a:avLst/>
          </a:prstGeom>
          <a:noFill/>
          <a:ln/>
        </p:spPr>
        <p:txBody>
          <a:bodyPr wrap="square" lIns="0" tIns="0" rIns="0" bIns="0" rtlCol="0" anchor="ctr"/>
          <a:lstStyle/>
          <a:p>
            <a:pPr indent="0" marL="0">
              <a:buNone/>
            </a:pPr>
            <a:r>
              <a:rPr lang="en-US" sz="2200" dirty="0">
                <a:solidFill>
                  <a:srgbClr val="A8C8E0"/>
                </a:solidFill>
                <a:latin typeface="Calibri" pitchFamily="34" charset="0"/>
                <a:ea typeface="Calibri" pitchFamily="34" charset="-122"/>
                <a:cs typeface="Calibri" pitchFamily="34" charset="-120"/>
              </a:rPr>
              <a:t>Closing the Data Gap in Pega CDH</a:t>
            </a:r>
            <a:endParaRPr lang="en-US" sz="2200" dirty="0"/>
          </a:p>
        </p:txBody>
      </p:sp>
      <p:sp>
        <p:nvSpPr>
          <p:cNvPr id="6" name="Text 4"/>
          <p:cNvSpPr/>
          <p:nvPr/>
        </p:nvSpPr>
        <p:spPr>
          <a:xfrm>
            <a:off x="457200" y="3493008"/>
            <a:ext cx="7772400" cy="365760"/>
          </a:xfrm>
          <a:prstGeom prst="rect">
            <a:avLst/>
          </a:prstGeom>
          <a:noFill/>
          <a:ln/>
        </p:spPr>
        <p:txBody>
          <a:bodyPr wrap="square" lIns="0" tIns="0" rIns="0" bIns="0" rtlCol="0" anchor="ctr"/>
          <a:lstStyle/>
          <a:p>
            <a:pPr indent="0" marL="0">
              <a:buNone/>
            </a:pPr>
            <a:r>
              <a:rPr lang="en-US" sz="1500" i="1" dirty="0">
                <a:solidFill>
                  <a:srgbClr val="6E9DB5"/>
                </a:solidFill>
                <a:latin typeface="Calibri" pitchFamily="34" charset="0"/>
                <a:ea typeface="Calibri" pitchFamily="34" charset="-122"/>
                <a:cs typeface="Calibri" pitchFamily="34" charset="-120"/>
              </a:rPr>
              <a:t>A DCS Product for Pega CDH Customers</a:t>
            </a:r>
            <a:endParaRPr lang="en-US" sz="1500" dirty="0"/>
          </a:p>
        </p:txBody>
      </p:sp>
      <p:sp>
        <p:nvSpPr>
          <p:cNvPr id="7" name="Text 5"/>
          <p:cNvSpPr/>
          <p:nvPr/>
        </p:nvSpPr>
        <p:spPr>
          <a:xfrm>
            <a:off x="457200" y="5029200"/>
            <a:ext cx="82296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DCS  </a:t>
            </a:r>
            <a:pPr indent="0" marL="0">
              <a:buNone/>
            </a:pPr>
            <a:r>
              <a:rPr lang="en-US" sz="1300" dirty="0">
                <a:solidFill>
                  <a:srgbClr val="6E9DB5"/>
                </a:solidFill>
                <a:latin typeface="Calibri" pitchFamily="34" charset="0"/>
                <a:ea typeface="Calibri" pitchFamily="34" charset="-122"/>
                <a:cs typeface="Calibri" pitchFamily="34" charset="-120"/>
              </a:rPr>
              <a:t>|  Decision Consulting Solutions  |  wearedcs.com  |  2026</a:t>
            </a:r>
            <a:endParaRPr lang="en-US" sz="1300" dirty="0"/>
          </a:p>
        </p:txBody>
      </p:sp>
      <p:sp>
        <p:nvSpPr>
          <p:cNvPr id="8" name="Shape 6"/>
          <p:cNvSpPr/>
          <p:nvPr/>
        </p:nvSpPr>
        <p:spPr>
          <a:xfrm>
            <a:off x="8961120" y="1188720"/>
            <a:ext cx="2743200" cy="1783080"/>
          </a:xfrm>
          <a:prstGeom prst="ellipse">
            <a:avLst/>
          </a:prstGeom>
          <a:solidFill>
            <a:srgbClr val="0D5080">
              <a:alpha val="75000"/>
            </a:srgbClr>
          </a:solidFill>
          <a:ln w="12700">
            <a:solidFill>
              <a:srgbClr val="FFFFFF"/>
            </a:solidFill>
            <a:prstDash val="solid"/>
          </a:ln>
        </p:spPr>
      </p:sp>
      <p:sp>
        <p:nvSpPr>
          <p:cNvPr id="9" name="Text 7"/>
          <p:cNvSpPr/>
          <p:nvPr/>
        </p:nvSpPr>
        <p:spPr>
          <a:xfrm>
            <a:off x="8961120" y="1353312"/>
            <a:ext cx="2743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Sources</a:t>
            </a:r>
            <a:endParaRPr lang="en-US" sz="1200" dirty="0"/>
          </a:p>
        </p:txBody>
      </p:sp>
      <p:sp>
        <p:nvSpPr>
          <p:cNvPr id="10" name="Text 8"/>
          <p:cNvSpPr/>
          <p:nvPr/>
        </p:nvSpPr>
        <p:spPr>
          <a:xfrm>
            <a:off x="8961120" y="1828800"/>
            <a:ext cx="2743200" cy="320040"/>
          </a:xfrm>
          <a:prstGeom prst="rect">
            <a:avLst/>
          </a:prstGeom>
          <a:noFill/>
          <a:ln/>
        </p:spPr>
        <p:txBody>
          <a:bodyPr wrap="square" lIns="0" tIns="0" rIns="0" bIns="0" rtlCol="0" anchor="ctr"/>
          <a:lstStyle/>
          <a:p>
            <a:pPr algn="ctr" indent="0" marL="0">
              <a:buNone/>
            </a:pPr>
            <a:r>
              <a:rPr lang="en-US" sz="900" dirty="0">
                <a:solidFill>
                  <a:srgbClr val="B0D4E8"/>
                </a:solidFill>
                <a:latin typeface="Calibri" pitchFamily="34" charset="0"/>
                <a:ea typeface="Calibri" pitchFamily="34" charset="-122"/>
                <a:cs typeface="Calibri" pitchFamily="34" charset="-120"/>
              </a:rPr>
              <a:t>CRM · DWH · CCaaS</a:t>
            </a:r>
            <a:endParaRPr lang="en-US" sz="900" dirty="0"/>
          </a:p>
        </p:txBody>
      </p:sp>
      <p:sp>
        <p:nvSpPr>
          <p:cNvPr id="11" name="Shape 9"/>
          <p:cNvSpPr/>
          <p:nvPr/>
        </p:nvSpPr>
        <p:spPr>
          <a:xfrm>
            <a:off x="9601200" y="2743200"/>
            <a:ext cx="2560320" cy="1664208"/>
          </a:xfrm>
          <a:prstGeom prst="ellipse">
            <a:avLst/>
          </a:prstGeom>
          <a:solidFill>
            <a:srgbClr val="0063AB">
              <a:alpha val="75000"/>
            </a:srgbClr>
          </a:solidFill>
          <a:ln w="12700">
            <a:solidFill>
              <a:srgbClr val="FFFFFF"/>
            </a:solidFill>
            <a:prstDash val="solid"/>
          </a:ln>
        </p:spPr>
      </p:sp>
      <p:sp>
        <p:nvSpPr>
          <p:cNvPr id="12" name="Text 10"/>
          <p:cNvSpPr/>
          <p:nvPr/>
        </p:nvSpPr>
        <p:spPr>
          <a:xfrm>
            <a:off x="9601200" y="2907792"/>
            <a:ext cx="25603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CDH Bridge</a:t>
            </a:r>
            <a:endParaRPr lang="en-US" sz="1200" dirty="0"/>
          </a:p>
        </p:txBody>
      </p:sp>
      <p:sp>
        <p:nvSpPr>
          <p:cNvPr id="13" name="Text 11"/>
          <p:cNvSpPr/>
          <p:nvPr/>
        </p:nvSpPr>
        <p:spPr>
          <a:xfrm>
            <a:off x="9601200" y="3383280"/>
            <a:ext cx="2560320" cy="320040"/>
          </a:xfrm>
          <a:prstGeom prst="rect">
            <a:avLst/>
          </a:prstGeom>
          <a:noFill/>
          <a:ln/>
        </p:spPr>
        <p:txBody>
          <a:bodyPr wrap="square" lIns="0" tIns="0" rIns="0" bIns="0" rtlCol="0" anchor="ctr"/>
          <a:lstStyle/>
          <a:p>
            <a:pPr algn="ctr" indent="0" marL="0">
              <a:buNone/>
            </a:pPr>
            <a:r>
              <a:rPr lang="en-US" sz="900" dirty="0">
                <a:solidFill>
                  <a:srgbClr val="B0D4E8"/>
                </a:solidFill>
                <a:latin typeface="Calibri" pitchFamily="34" charset="0"/>
                <a:ea typeface="Calibri" pitchFamily="34" charset="-122"/>
                <a:cs typeface="Calibri" pitchFamily="34" charset="-120"/>
              </a:rPr>
              <a:t>Real-time CDP layer</a:t>
            </a:r>
            <a:endParaRPr lang="en-US" sz="900" dirty="0"/>
          </a:p>
        </p:txBody>
      </p:sp>
      <p:sp>
        <p:nvSpPr>
          <p:cNvPr id="14" name="Shape 12"/>
          <p:cNvSpPr/>
          <p:nvPr/>
        </p:nvSpPr>
        <p:spPr>
          <a:xfrm>
            <a:off x="8961120" y="4297680"/>
            <a:ext cx="2560320" cy="1664208"/>
          </a:xfrm>
          <a:prstGeom prst="ellipse">
            <a:avLst/>
          </a:prstGeom>
          <a:solidFill>
            <a:srgbClr val="16A34A">
              <a:alpha val="75000"/>
            </a:srgbClr>
          </a:solidFill>
          <a:ln w="12700">
            <a:solidFill>
              <a:srgbClr val="FFFFFF"/>
            </a:solidFill>
            <a:prstDash val="solid"/>
          </a:ln>
        </p:spPr>
      </p:sp>
      <p:sp>
        <p:nvSpPr>
          <p:cNvPr id="15" name="Text 13"/>
          <p:cNvSpPr/>
          <p:nvPr/>
        </p:nvSpPr>
        <p:spPr>
          <a:xfrm>
            <a:off x="8961120" y="4462272"/>
            <a:ext cx="25603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Pega CDH</a:t>
            </a:r>
            <a:endParaRPr lang="en-US" sz="1200" dirty="0"/>
          </a:p>
        </p:txBody>
      </p:sp>
      <p:sp>
        <p:nvSpPr>
          <p:cNvPr id="16" name="Text 14"/>
          <p:cNvSpPr/>
          <p:nvPr/>
        </p:nvSpPr>
        <p:spPr>
          <a:xfrm>
            <a:off x="8961120" y="4937760"/>
            <a:ext cx="2560320" cy="320040"/>
          </a:xfrm>
          <a:prstGeom prst="rect">
            <a:avLst/>
          </a:prstGeom>
          <a:noFill/>
          <a:ln/>
        </p:spPr>
        <p:txBody>
          <a:bodyPr wrap="square" lIns="0" tIns="0" rIns="0" bIns="0" rtlCol="0" anchor="ctr"/>
          <a:lstStyle/>
          <a:p>
            <a:pPr algn="ctr" indent="0" marL="0">
              <a:buNone/>
            </a:pPr>
            <a:r>
              <a:rPr lang="en-US" sz="900" dirty="0">
                <a:solidFill>
                  <a:srgbClr val="B0D4E8"/>
                </a:solidFill>
                <a:latin typeface="Calibri" pitchFamily="34" charset="0"/>
                <a:ea typeface="Calibri" pitchFamily="34" charset="-122"/>
                <a:cs typeface="Calibri" pitchFamily="34" charset="-120"/>
              </a:rPr>
              <a:t>NBA · IH · Adaptive AI</a:t>
            </a:r>
            <a:endParaRPr lang="en-US" sz="900" dirty="0"/>
          </a:p>
        </p:txBody>
      </p:sp>
      <p:sp>
        <p:nvSpPr>
          <p:cNvPr id="17" name="Shape 15"/>
          <p:cNvSpPr/>
          <p:nvPr/>
        </p:nvSpPr>
        <p:spPr>
          <a:xfrm>
            <a:off x="10241280" y="2395728"/>
            <a:ext cx="0" cy="347472"/>
          </a:xfrm>
          <a:prstGeom prst="line">
            <a:avLst/>
          </a:prstGeom>
          <a:noFill/>
          <a:ln w="25400">
            <a:solidFill>
              <a:srgbClr val="16A34A"/>
            </a:solidFill>
            <a:prstDash val="solid"/>
          </a:ln>
        </p:spPr>
      </p:sp>
      <p:sp>
        <p:nvSpPr>
          <p:cNvPr id="18" name="Shape 16"/>
          <p:cNvSpPr/>
          <p:nvPr/>
        </p:nvSpPr>
        <p:spPr>
          <a:xfrm>
            <a:off x="10241280" y="4023360"/>
            <a:ext cx="0" cy="274320"/>
          </a:xfrm>
          <a:prstGeom prst="line">
            <a:avLst/>
          </a:prstGeom>
          <a:noFill/>
          <a:ln w="25400">
            <a:solidFill>
              <a:srgbClr val="16A34A"/>
            </a:solidFill>
            <a:prstDash val="solid"/>
          </a:ln>
        </p:spPr>
      </p:sp>
      <p:sp>
        <p:nvSpPr>
          <p:cNvPr id="19" name="Shape 17"/>
          <p:cNvSpPr/>
          <p:nvPr/>
        </p:nvSpPr>
        <p:spPr>
          <a:xfrm>
            <a:off x="0" y="6565392"/>
            <a:ext cx="12188952" cy="292608"/>
          </a:xfrm>
          <a:prstGeom prst="rect">
            <a:avLst/>
          </a:prstGeom>
          <a:solidFill>
            <a:srgbClr val="003A61"/>
          </a:solidFill>
          <a:ln w="12700">
            <a:solidFill>
              <a:srgbClr val="003A61"/>
            </a:solidFill>
            <a:prstDash val="solid"/>
          </a:ln>
        </p:spPr>
      </p:sp>
      <p:sp>
        <p:nvSpPr>
          <p:cNvPr id="20" name="Text 18"/>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21" name="Text 19"/>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1 / 15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164592"/>
            <a:ext cx="11274552" cy="502920"/>
          </a:xfrm>
          <a:prstGeom prst="rect">
            <a:avLst/>
          </a:prstGeom>
          <a:noFill/>
          <a:ln/>
        </p:spPr>
        <p:txBody>
          <a:bodyPr wrap="square" lIns="0" tIns="0" rIns="0" bIns="0" rtlCol="0" anchor="ctr"/>
          <a:lstStyle/>
          <a:p>
            <a:pPr indent="0" marL="0">
              <a:buNone/>
            </a:pPr>
            <a:r>
              <a:rPr lang="en-US" sz="2800" b="1" dirty="0">
                <a:solidFill>
                  <a:srgbClr val="003A61"/>
                </a:solidFill>
                <a:latin typeface="Calibri" pitchFamily="34" charset="0"/>
                <a:ea typeface="Calibri" pitchFamily="34" charset="-122"/>
                <a:cs typeface="Calibri" pitchFamily="34" charset="-120"/>
              </a:rPr>
              <a:t>Pega CDH Is Only As Smart As the Data It Receives</a:t>
            </a:r>
            <a:endParaRPr lang="en-US" sz="2800" dirty="0"/>
          </a:p>
        </p:txBody>
      </p:sp>
      <p:sp>
        <p:nvSpPr>
          <p:cNvPr id="4" name="Text 2"/>
          <p:cNvSpPr/>
          <p:nvPr/>
        </p:nvSpPr>
        <p:spPr>
          <a:xfrm>
            <a:off x="457200" y="667512"/>
            <a:ext cx="11274552" cy="2743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The gap every Pega CDH customer faces today</a:t>
            </a:r>
            <a:endParaRPr lang="en-US" sz="1300" dirty="0"/>
          </a:p>
        </p:txBody>
      </p:sp>
      <p:sp>
        <p:nvSpPr>
          <p:cNvPr id="5" name="Shape 3"/>
          <p:cNvSpPr/>
          <p:nvPr/>
        </p:nvSpPr>
        <p:spPr>
          <a:xfrm>
            <a:off x="457200" y="914400"/>
            <a:ext cx="11274552" cy="27432"/>
          </a:xfrm>
          <a:prstGeom prst="rect">
            <a:avLst/>
          </a:prstGeom>
          <a:solidFill>
            <a:srgbClr val="E2E8F0"/>
          </a:solidFill>
          <a:ln w="12700">
            <a:solidFill>
              <a:srgbClr val="E2E8F0"/>
            </a:solidFill>
            <a:prstDash val="solid"/>
          </a:ln>
        </p:spPr>
      </p:sp>
      <p:sp>
        <p:nvSpPr>
          <p:cNvPr id="6" name="Shape 4"/>
          <p:cNvSpPr/>
          <p:nvPr/>
        </p:nvSpPr>
        <p:spPr>
          <a:xfrm>
            <a:off x="457200" y="1115568"/>
            <a:ext cx="3566160" cy="320040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7" name="Shape 5"/>
          <p:cNvSpPr/>
          <p:nvPr/>
        </p:nvSpPr>
        <p:spPr>
          <a:xfrm>
            <a:off x="457200" y="1115568"/>
            <a:ext cx="54864" cy="3200400"/>
          </a:xfrm>
          <a:prstGeom prst="rect">
            <a:avLst/>
          </a:prstGeom>
          <a:solidFill>
            <a:srgbClr val="DC2626"/>
          </a:solidFill>
          <a:ln w="12700">
            <a:solidFill>
              <a:srgbClr val="DC2626"/>
            </a:solidFill>
            <a:prstDash val="solid"/>
          </a:ln>
        </p:spPr>
      </p:sp>
      <p:sp>
        <p:nvSpPr>
          <p:cNvPr id="8" name="Text 6"/>
          <p:cNvSpPr/>
          <p:nvPr/>
        </p:nvSpPr>
        <p:spPr>
          <a:xfrm>
            <a:off x="640080" y="1234440"/>
            <a:ext cx="640080" cy="50292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9" name="Text 7"/>
          <p:cNvSpPr/>
          <p:nvPr/>
        </p:nvSpPr>
        <p:spPr>
          <a:xfrm>
            <a:off x="585216" y="1783080"/>
            <a:ext cx="3291840" cy="457200"/>
          </a:xfrm>
          <a:prstGeom prst="rect">
            <a:avLst/>
          </a:prstGeom>
          <a:noFill/>
          <a:ln/>
        </p:spPr>
        <p:txBody>
          <a:bodyPr wrap="square" lIns="0" tIns="0" rIns="0" bIns="0" rtlCol="0" anchor="ctr"/>
          <a:lstStyle/>
          <a:p>
            <a:pPr indent="0" marL="0">
              <a:buNone/>
            </a:pPr>
            <a:r>
              <a:rPr lang="en-US" sz="1350" b="1" dirty="0">
                <a:solidFill>
                  <a:srgbClr val="003A61"/>
                </a:solidFill>
                <a:latin typeface="Calibri" pitchFamily="34" charset="0"/>
                <a:ea typeface="Calibri" pitchFamily="34" charset="-122"/>
                <a:cs typeface="Calibri" pitchFamily="34" charset="-120"/>
              </a:rPr>
              <a:t>24–48 Hour Data Latency</a:t>
            </a:r>
            <a:endParaRPr lang="en-US" sz="1350" dirty="0"/>
          </a:p>
        </p:txBody>
      </p:sp>
      <p:sp>
        <p:nvSpPr>
          <p:cNvPr id="10" name="Text 8"/>
          <p:cNvSpPr/>
          <p:nvPr/>
        </p:nvSpPr>
        <p:spPr>
          <a:xfrm>
            <a:off x="585216" y="2286000"/>
            <a:ext cx="3291840" cy="16459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NBA decisions made on yesterday's behaviour. Customers who browsed your website this morning get irrelevant offers this afternoon.</a:t>
            </a:r>
            <a:endParaRPr lang="en-US" sz="1150" dirty="0"/>
          </a:p>
        </p:txBody>
      </p:sp>
      <p:sp>
        <p:nvSpPr>
          <p:cNvPr id="11" name="Shape 9"/>
          <p:cNvSpPr/>
          <p:nvPr/>
        </p:nvSpPr>
        <p:spPr>
          <a:xfrm>
            <a:off x="4206240" y="1115568"/>
            <a:ext cx="3566160" cy="320040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2" name="Shape 10"/>
          <p:cNvSpPr/>
          <p:nvPr/>
        </p:nvSpPr>
        <p:spPr>
          <a:xfrm>
            <a:off x="4206240" y="1115568"/>
            <a:ext cx="54864" cy="3200400"/>
          </a:xfrm>
          <a:prstGeom prst="rect">
            <a:avLst/>
          </a:prstGeom>
          <a:solidFill>
            <a:srgbClr val="D97706"/>
          </a:solidFill>
          <a:ln w="12700">
            <a:solidFill>
              <a:srgbClr val="D97706"/>
            </a:solidFill>
            <a:prstDash val="solid"/>
          </a:ln>
        </p:spPr>
      </p:sp>
      <p:sp>
        <p:nvSpPr>
          <p:cNvPr id="13" name="Text 11"/>
          <p:cNvSpPr/>
          <p:nvPr/>
        </p:nvSpPr>
        <p:spPr>
          <a:xfrm>
            <a:off x="4389120" y="1234440"/>
            <a:ext cx="640080" cy="50292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4" name="Text 12"/>
          <p:cNvSpPr/>
          <p:nvPr/>
        </p:nvSpPr>
        <p:spPr>
          <a:xfrm>
            <a:off x="4334256" y="1783080"/>
            <a:ext cx="3291840" cy="457200"/>
          </a:xfrm>
          <a:prstGeom prst="rect">
            <a:avLst/>
          </a:prstGeom>
          <a:noFill/>
          <a:ln/>
        </p:spPr>
        <p:txBody>
          <a:bodyPr wrap="square" lIns="0" tIns="0" rIns="0" bIns="0" rtlCol="0" anchor="ctr"/>
          <a:lstStyle/>
          <a:p>
            <a:pPr indent="0" marL="0">
              <a:buNone/>
            </a:pPr>
            <a:r>
              <a:rPr lang="en-US" sz="1350" b="1" dirty="0">
                <a:solidFill>
                  <a:srgbClr val="003A61"/>
                </a:solidFill>
                <a:latin typeface="Calibri" pitchFamily="34" charset="0"/>
                <a:ea typeface="Calibri" pitchFamily="34" charset="-122"/>
                <a:cs typeface="Calibri" pitchFamily="34" charset="-120"/>
              </a:rPr>
              <a:t>Siloed Customer Data</a:t>
            </a:r>
            <a:endParaRPr lang="en-US" sz="1350" dirty="0"/>
          </a:p>
        </p:txBody>
      </p:sp>
      <p:sp>
        <p:nvSpPr>
          <p:cNvPr id="15" name="Text 13"/>
          <p:cNvSpPr/>
          <p:nvPr/>
        </p:nvSpPr>
        <p:spPr>
          <a:xfrm>
            <a:off x="4334256" y="2286000"/>
            <a:ext cx="3291840" cy="16459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CRM, data warehouse, call centre, web, and mobile all disconnected. Pega CDH only sees what you manually ETL — usually once per night.</a:t>
            </a:r>
            <a:endParaRPr lang="en-US" sz="1150" dirty="0"/>
          </a:p>
        </p:txBody>
      </p:sp>
      <p:sp>
        <p:nvSpPr>
          <p:cNvPr id="16" name="Shape 14"/>
          <p:cNvSpPr/>
          <p:nvPr/>
        </p:nvSpPr>
        <p:spPr>
          <a:xfrm>
            <a:off x="7955280" y="1115568"/>
            <a:ext cx="3566160" cy="320040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7" name="Shape 15"/>
          <p:cNvSpPr/>
          <p:nvPr/>
        </p:nvSpPr>
        <p:spPr>
          <a:xfrm>
            <a:off x="7955280" y="1115568"/>
            <a:ext cx="54864" cy="3200400"/>
          </a:xfrm>
          <a:prstGeom prst="rect">
            <a:avLst/>
          </a:prstGeom>
          <a:solidFill>
            <a:srgbClr val="003A61"/>
          </a:solidFill>
          <a:ln w="12700">
            <a:solidFill>
              <a:srgbClr val="003A61"/>
            </a:solidFill>
            <a:prstDash val="solid"/>
          </a:ln>
        </p:spPr>
      </p:sp>
      <p:sp>
        <p:nvSpPr>
          <p:cNvPr id="18" name="Text 16"/>
          <p:cNvSpPr/>
          <p:nvPr/>
        </p:nvSpPr>
        <p:spPr>
          <a:xfrm>
            <a:off x="8138160" y="1234440"/>
            <a:ext cx="640080" cy="50292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9" name="Text 17"/>
          <p:cNvSpPr/>
          <p:nvPr/>
        </p:nvSpPr>
        <p:spPr>
          <a:xfrm>
            <a:off x="8083296" y="1783080"/>
            <a:ext cx="3291840" cy="457200"/>
          </a:xfrm>
          <a:prstGeom prst="rect">
            <a:avLst/>
          </a:prstGeom>
          <a:noFill/>
          <a:ln/>
        </p:spPr>
        <p:txBody>
          <a:bodyPr wrap="square" lIns="0" tIns="0" rIns="0" bIns="0" rtlCol="0" anchor="ctr"/>
          <a:lstStyle/>
          <a:p>
            <a:pPr indent="0" marL="0">
              <a:buNone/>
            </a:pPr>
            <a:r>
              <a:rPr lang="en-US" sz="1350" b="1" dirty="0">
                <a:solidFill>
                  <a:srgbClr val="003A61"/>
                </a:solidFill>
                <a:latin typeface="Calibri" pitchFamily="34" charset="0"/>
                <a:ea typeface="Calibri" pitchFamily="34" charset="-122"/>
                <a:cs typeface="Calibri" pitchFamily="34" charset="-120"/>
              </a:rPr>
              <a:t>No Native CDP — $2–5M SI Bills</a:t>
            </a:r>
            <a:endParaRPr lang="en-US" sz="1350" dirty="0"/>
          </a:p>
        </p:txBody>
      </p:sp>
      <p:sp>
        <p:nvSpPr>
          <p:cNvPr id="20" name="Text 18"/>
          <p:cNvSpPr/>
          <p:nvPr/>
        </p:nvSpPr>
        <p:spPr>
          <a:xfrm>
            <a:off x="8083296" y="2286000"/>
            <a:ext cx="3291840" cy="16459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Every Pega CDH customer builds custom data plumbing from scratch. Average integration project: 18 months, $2–5M in SI fees, still brittle.</a:t>
            </a:r>
            <a:endParaRPr lang="en-US" sz="1150" dirty="0"/>
          </a:p>
        </p:txBody>
      </p:sp>
      <p:sp>
        <p:nvSpPr>
          <p:cNvPr id="21" name="Shape 19"/>
          <p:cNvSpPr/>
          <p:nvPr/>
        </p:nvSpPr>
        <p:spPr>
          <a:xfrm>
            <a:off x="457200" y="4526280"/>
            <a:ext cx="11274552" cy="1078992"/>
          </a:xfrm>
          <a:prstGeom prst="rect">
            <a:avLst/>
          </a:prstGeom>
          <a:solidFill>
            <a:srgbClr val="001F3F"/>
          </a:solidFill>
          <a:ln w="12700">
            <a:solidFill>
              <a:srgbClr val="003A61"/>
            </a:solidFill>
            <a:prstDash val="solid"/>
          </a:ln>
        </p:spPr>
      </p:sp>
      <p:sp>
        <p:nvSpPr>
          <p:cNvPr id="22" name="Text 20"/>
          <p:cNvSpPr/>
          <p:nvPr/>
        </p:nvSpPr>
        <p:spPr>
          <a:xfrm>
            <a:off x="731520" y="4617720"/>
            <a:ext cx="10725912" cy="54864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"Only 17% of enterprises with Pega CDH report high real-time personalisation utilisation — most CDH deployments are data-starved, not AI-limited."</a:t>
            </a:r>
            <a:endParaRPr lang="en-US" sz="1300" dirty="0"/>
          </a:p>
        </p:txBody>
      </p:sp>
      <p:sp>
        <p:nvSpPr>
          <p:cNvPr id="23" name="Text 21"/>
          <p:cNvSpPr/>
          <p:nvPr/>
        </p:nvSpPr>
        <p:spPr>
          <a:xfrm>
            <a:off x="731520" y="5230368"/>
            <a:ext cx="10725912" cy="274320"/>
          </a:xfrm>
          <a:prstGeom prst="rect">
            <a:avLst/>
          </a:prstGeom>
          <a:noFill/>
          <a:ln/>
        </p:spPr>
        <p:txBody>
          <a:bodyPr wrap="square" lIns="0" tIns="0" rIns="0" bIns="0" rtlCol="0" anchor="ctr"/>
          <a:lstStyle/>
          <a:p>
            <a:pPr indent="0" marL="0">
              <a:buNone/>
            </a:pPr>
            <a:r>
              <a:rPr lang="en-US" sz="1050" dirty="0">
                <a:solidFill>
                  <a:srgbClr val="6E9DB5"/>
                </a:solidFill>
                <a:latin typeface="Calibri" pitchFamily="34" charset="0"/>
                <a:ea typeface="Calibri" pitchFamily="34" charset="-122"/>
                <a:cs typeface="Calibri" pitchFamily="34" charset="-120"/>
              </a:rPr>
              <a:t>— Forrester Research, CDP Market Analysis 2024</a:t>
            </a:r>
            <a:endParaRPr lang="en-US" sz="1050" dirty="0"/>
          </a:p>
        </p:txBody>
      </p:sp>
      <p:sp>
        <p:nvSpPr>
          <p:cNvPr id="24" name="Shape 22"/>
          <p:cNvSpPr/>
          <p:nvPr/>
        </p:nvSpPr>
        <p:spPr>
          <a:xfrm>
            <a:off x="0" y="6565392"/>
            <a:ext cx="12188952" cy="292608"/>
          </a:xfrm>
          <a:prstGeom prst="rect">
            <a:avLst/>
          </a:prstGeom>
          <a:solidFill>
            <a:srgbClr val="003A61"/>
          </a:solidFill>
          <a:ln w="12700">
            <a:solidFill>
              <a:srgbClr val="003A61"/>
            </a:solidFill>
            <a:prstDash val="solid"/>
          </a:ln>
        </p:spPr>
      </p:sp>
      <p:sp>
        <p:nvSpPr>
          <p:cNvPr id="25" name="Text 23"/>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26" name="Text 24"/>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2 / 15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164592"/>
            <a:ext cx="11274552" cy="502920"/>
          </a:xfrm>
          <a:prstGeom prst="rect">
            <a:avLst/>
          </a:prstGeom>
          <a:noFill/>
          <a:ln/>
        </p:spPr>
        <p:txBody>
          <a:bodyPr wrap="square" lIns="0" tIns="0" rIns="0" bIns="0" rtlCol="0" anchor="ctr"/>
          <a:lstStyle/>
          <a:p>
            <a:pPr indent="0" marL="0">
              <a:buNone/>
            </a:pPr>
            <a:r>
              <a:rPr lang="en-US" sz="2800" b="1" dirty="0">
                <a:solidFill>
                  <a:srgbClr val="003A61"/>
                </a:solidFill>
                <a:latin typeface="Calibri" pitchFamily="34" charset="0"/>
                <a:ea typeface="Calibri" pitchFamily="34" charset="-122"/>
                <a:cs typeface="Calibri" pitchFamily="34" charset="-120"/>
              </a:rPr>
              <a:t>Every Pega CDH Customer Has This Gap</a:t>
            </a:r>
            <a:endParaRPr lang="en-US" sz="2800" dirty="0"/>
          </a:p>
        </p:txBody>
      </p:sp>
      <p:sp>
        <p:nvSpPr>
          <p:cNvPr id="4" name="Text 2"/>
          <p:cNvSpPr/>
          <p:nvPr/>
        </p:nvSpPr>
        <p:spPr>
          <a:xfrm>
            <a:off x="457200" y="667512"/>
            <a:ext cx="11274552" cy="2743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A $500M+ addressable market hiding in plain sight</a:t>
            </a:r>
            <a:endParaRPr lang="en-US" sz="1300" dirty="0"/>
          </a:p>
        </p:txBody>
      </p:sp>
      <p:sp>
        <p:nvSpPr>
          <p:cNvPr id="5" name="Shape 3"/>
          <p:cNvSpPr/>
          <p:nvPr/>
        </p:nvSpPr>
        <p:spPr>
          <a:xfrm>
            <a:off x="457200" y="914400"/>
            <a:ext cx="11274552" cy="27432"/>
          </a:xfrm>
          <a:prstGeom prst="rect">
            <a:avLst/>
          </a:prstGeom>
          <a:solidFill>
            <a:srgbClr val="E2E8F0"/>
          </a:solidFill>
          <a:ln w="12700">
            <a:solidFill>
              <a:srgbClr val="E2E8F0"/>
            </a:solidFill>
            <a:prstDash val="solid"/>
          </a:ln>
        </p:spPr>
      </p:sp>
      <p:sp>
        <p:nvSpPr>
          <p:cNvPr id="6" name="Shape 4"/>
          <p:cNvSpPr/>
          <p:nvPr/>
        </p:nvSpPr>
        <p:spPr>
          <a:xfrm>
            <a:off x="365760" y="1097280"/>
            <a:ext cx="2651760" cy="201168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7" name="Shape 5"/>
          <p:cNvSpPr/>
          <p:nvPr/>
        </p:nvSpPr>
        <p:spPr>
          <a:xfrm>
            <a:off x="365760" y="1097280"/>
            <a:ext cx="54864" cy="2011680"/>
          </a:xfrm>
          <a:prstGeom prst="rect">
            <a:avLst/>
          </a:prstGeom>
          <a:solidFill>
            <a:srgbClr val="003A61"/>
          </a:solidFill>
          <a:ln w="12700">
            <a:solidFill>
              <a:srgbClr val="003A61"/>
            </a:solidFill>
            <a:prstDash val="solid"/>
          </a:ln>
        </p:spPr>
      </p:sp>
      <p:sp>
        <p:nvSpPr>
          <p:cNvPr id="8" name="Text 6"/>
          <p:cNvSpPr/>
          <p:nvPr/>
        </p:nvSpPr>
        <p:spPr>
          <a:xfrm>
            <a:off x="493776" y="1234440"/>
            <a:ext cx="2377440" cy="777240"/>
          </a:xfrm>
          <a:prstGeom prst="rect">
            <a:avLst/>
          </a:prstGeom>
          <a:noFill/>
          <a:ln/>
        </p:spPr>
        <p:txBody>
          <a:bodyPr wrap="square" lIns="0" tIns="0" rIns="0" bIns="0" rtlCol="0" anchor="ctr"/>
          <a:lstStyle/>
          <a:p>
            <a:pPr indent="0" marL="0">
              <a:buNone/>
            </a:pPr>
            <a:r>
              <a:rPr lang="en-US" sz="3600" b="1" dirty="0">
                <a:solidFill>
                  <a:srgbClr val="003A61"/>
                </a:solidFill>
                <a:latin typeface="Calibri" pitchFamily="34" charset="0"/>
                <a:ea typeface="Calibri" pitchFamily="34" charset="-122"/>
                <a:cs typeface="Calibri" pitchFamily="34" charset="-120"/>
              </a:rPr>
              <a:t>1,000+</a:t>
            </a:r>
            <a:endParaRPr lang="en-US" sz="3600" dirty="0"/>
          </a:p>
        </p:txBody>
      </p:sp>
      <p:sp>
        <p:nvSpPr>
          <p:cNvPr id="9" name="Text 7"/>
          <p:cNvSpPr/>
          <p:nvPr/>
        </p:nvSpPr>
        <p:spPr>
          <a:xfrm>
            <a:off x="493776" y="2011680"/>
            <a:ext cx="237744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Global enterprises</a:t>
            </a:r>
            <a:endParaRPr lang="en-US" sz="1050" dirty="0"/>
          </a:p>
          <a:p>
            <a:pPr indent="0" marL="0">
              <a:buNone/>
            </a:pPr>
            <a:r>
              <a:rPr lang="en-US" sz="1050" dirty="0">
                <a:solidFill>
                  <a:srgbClr val="475569"/>
                </a:solidFill>
                <a:latin typeface="Calibri" pitchFamily="34" charset="0"/>
                <a:ea typeface="Calibri" pitchFamily="34" charset="-122"/>
                <a:cs typeface="Calibri" pitchFamily="34" charset="-120"/>
              </a:rPr>
              <a:t>running Pega CDH</a:t>
            </a:r>
            <a:endParaRPr lang="en-US" sz="1050" dirty="0"/>
          </a:p>
        </p:txBody>
      </p:sp>
      <p:sp>
        <p:nvSpPr>
          <p:cNvPr id="10" name="Shape 8"/>
          <p:cNvSpPr/>
          <p:nvPr/>
        </p:nvSpPr>
        <p:spPr>
          <a:xfrm>
            <a:off x="3246120" y="1097280"/>
            <a:ext cx="2651760" cy="201168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1" name="Shape 9"/>
          <p:cNvSpPr/>
          <p:nvPr/>
        </p:nvSpPr>
        <p:spPr>
          <a:xfrm>
            <a:off x="3246120" y="1097280"/>
            <a:ext cx="54864" cy="2011680"/>
          </a:xfrm>
          <a:prstGeom prst="rect">
            <a:avLst/>
          </a:prstGeom>
          <a:solidFill>
            <a:srgbClr val="DC2626"/>
          </a:solidFill>
          <a:ln w="12700">
            <a:solidFill>
              <a:srgbClr val="DC2626"/>
            </a:solidFill>
            <a:prstDash val="solid"/>
          </a:ln>
        </p:spPr>
      </p:sp>
      <p:sp>
        <p:nvSpPr>
          <p:cNvPr id="12" name="Text 10"/>
          <p:cNvSpPr/>
          <p:nvPr/>
        </p:nvSpPr>
        <p:spPr>
          <a:xfrm>
            <a:off x="3374136" y="1234440"/>
            <a:ext cx="2377440" cy="777240"/>
          </a:xfrm>
          <a:prstGeom prst="rect">
            <a:avLst/>
          </a:prstGeom>
          <a:noFill/>
          <a:ln/>
        </p:spPr>
        <p:txBody>
          <a:bodyPr wrap="square" lIns="0" tIns="0" rIns="0" bIns="0" rtlCol="0" anchor="ctr"/>
          <a:lstStyle/>
          <a:p>
            <a:pPr indent="0" marL="0">
              <a:buNone/>
            </a:pPr>
            <a:r>
              <a:rPr lang="en-US" sz="3600" b="1" dirty="0">
                <a:solidFill>
                  <a:srgbClr val="DC2626"/>
                </a:solidFill>
                <a:latin typeface="Calibri" pitchFamily="34" charset="0"/>
                <a:ea typeface="Calibri" pitchFamily="34" charset="-122"/>
                <a:cs typeface="Calibri" pitchFamily="34" charset="-120"/>
              </a:rPr>
              <a:t>$2–5M</a:t>
            </a:r>
            <a:endParaRPr lang="en-US" sz="3600" dirty="0"/>
          </a:p>
        </p:txBody>
      </p:sp>
      <p:sp>
        <p:nvSpPr>
          <p:cNvPr id="13" name="Text 11"/>
          <p:cNvSpPr/>
          <p:nvPr/>
        </p:nvSpPr>
        <p:spPr>
          <a:xfrm>
            <a:off x="3374136" y="2011680"/>
            <a:ext cx="237744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Average SI cost to build</a:t>
            </a:r>
            <a:endParaRPr lang="en-US" sz="1050" dirty="0"/>
          </a:p>
          <a:p>
            <a:pPr indent="0" marL="0">
              <a:buNone/>
            </a:pPr>
            <a:r>
              <a:rPr lang="en-US" sz="1050" dirty="0">
                <a:solidFill>
                  <a:srgbClr val="475569"/>
                </a:solidFill>
                <a:latin typeface="Calibri" pitchFamily="34" charset="0"/>
                <a:ea typeface="Calibri" pitchFamily="34" charset="-122"/>
                <a:cs typeface="Calibri" pitchFamily="34" charset="-120"/>
              </a:rPr>
              <a:t>CDH data integration</a:t>
            </a:r>
            <a:endParaRPr lang="en-US" sz="1050" dirty="0"/>
          </a:p>
        </p:txBody>
      </p:sp>
      <p:sp>
        <p:nvSpPr>
          <p:cNvPr id="14" name="Shape 12"/>
          <p:cNvSpPr/>
          <p:nvPr/>
        </p:nvSpPr>
        <p:spPr>
          <a:xfrm>
            <a:off x="6126480" y="1097280"/>
            <a:ext cx="2651760" cy="201168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5" name="Shape 13"/>
          <p:cNvSpPr/>
          <p:nvPr/>
        </p:nvSpPr>
        <p:spPr>
          <a:xfrm>
            <a:off x="6126480" y="1097280"/>
            <a:ext cx="54864" cy="2011680"/>
          </a:xfrm>
          <a:prstGeom prst="rect">
            <a:avLst/>
          </a:prstGeom>
          <a:solidFill>
            <a:srgbClr val="D97706"/>
          </a:solidFill>
          <a:ln w="12700">
            <a:solidFill>
              <a:srgbClr val="D97706"/>
            </a:solidFill>
            <a:prstDash val="solid"/>
          </a:ln>
        </p:spPr>
      </p:sp>
      <p:sp>
        <p:nvSpPr>
          <p:cNvPr id="16" name="Text 14"/>
          <p:cNvSpPr/>
          <p:nvPr/>
        </p:nvSpPr>
        <p:spPr>
          <a:xfrm>
            <a:off x="6254496" y="1234440"/>
            <a:ext cx="2377440" cy="777240"/>
          </a:xfrm>
          <a:prstGeom prst="rect">
            <a:avLst/>
          </a:prstGeom>
          <a:noFill/>
          <a:ln/>
        </p:spPr>
        <p:txBody>
          <a:bodyPr wrap="square" lIns="0" tIns="0" rIns="0" bIns="0" rtlCol="0" anchor="ctr"/>
          <a:lstStyle/>
          <a:p>
            <a:pPr indent="0" marL="0">
              <a:buNone/>
            </a:pPr>
            <a:r>
              <a:rPr lang="en-US" sz="3600" b="1" dirty="0">
                <a:solidFill>
                  <a:srgbClr val="D97706"/>
                </a:solidFill>
                <a:latin typeface="Calibri" pitchFamily="34" charset="0"/>
                <a:ea typeface="Calibri" pitchFamily="34" charset="-122"/>
                <a:cs typeface="Calibri" pitchFamily="34" charset="-120"/>
              </a:rPr>
              <a:t>12%</a:t>
            </a:r>
            <a:endParaRPr lang="en-US" sz="3600" dirty="0"/>
          </a:p>
        </p:txBody>
      </p:sp>
      <p:sp>
        <p:nvSpPr>
          <p:cNvPr id="17" name="Text 15"/>
          <p:cNvSpPr/>
          <p:nvPr/>
        </p:nvSpPr>
        <p:spPr>
          <a:xfrm>
            <a:off x="6254496" y="2011680"/>
            <a:ext cx="237744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Avg NBA acceptance rate</a:t>
            </a:r>
            <a:endParaRPr lang="en-US" sz="1050" dirty="0"/>
          </a:p>
          <a:p>
            <a:pPr indent="0" marL="0">
              <a:buNone/>
            </a:pPr>
            <a:r>
              <a:rPr lang="en-US" sz="1050" dirty="0">
                <a:solidFill>
                  <a:srgbClr val="475569"/>
                </a:solidFill>
                <a:latin typeface="Calibri" pitchFamily="34" charset="0"/>
                <a:ea typeface="Calibri" pitchFamily="34" charset="-122"/>
                <a:cs typeface="Calibri" pitchFamily="34" charset="-120"/>
              </a:rPr>
              <a:t>without real-time data</a:t>
            </a:r>
            <a:endParaRPr lang="en-US" sz="1050" dirty="0"/>
          </a:p>
        </p:txBody>
      </p:sp>
      <p:sp>
        <p:nvSpPr>
          <p:cNvPr id="18" name="Shape 16"/>
          <p:cNvSpPr/>
          <p:nvPr/>
        </p:nvSpPr>
        <p:spPr>
          <a:xfrm>
            <a:off x="9006840" y="1097280"/>
            <a:ext cx="2651760" cy="201168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9" name="Shape 17"/>
          <p:cNvSpPr/>
          <p:nvPr/>
        </p:nvSpPr>
        <p:spPr>
          <a:xfrm>
            <a:off x="9006840" y="1097280"/>
            <a:ext cx="54864" cy="2011680"/>
          </a:xfrm>
          <a:prstGeom prst="rect">
            <a:avLst/>
          </a:prstGeom>
          <a:solidFill>
            <a:srgbClr val="16A34A"/>
          </a:solidFill>
          <a:ln w="12700">
            <a:solidFill>
              <a:srgbClr val="16A34A"/>
            </a:solidFill>
            <a:prstDash val="solid"/>
          </a:ln>
        </p:spPr>
      </p:sp>
      <p:sp>
        <p:nvSpPr>
          <p:cNvPr id="20" name="Text 18"/>
          <p:cNvSpPr/>
          <p:nvPr/>
        </p:nvSpPr>
        <p:spPr>
          <a:xfrm>
            <a:off x="9134856" y="1234440"/>
            <a:ext cx="2377440" cy="777240"/>
          </a:xfrm>
          <a:prstGeom prst="rect">
            <a:avLst/>
          </a:prstGeom>
          <a:noFill/>
          <a:ln/>
        </p:spPr>
        <p:txBody>
          <a:bodyPr wrap="square" lIns="0" tIns="0" rIns="0" bIns="0" rtlCol="0" anchor="ctr"/>
          <a:lstStyle/>
          <a:p>
            <a:pPr indent="0" marL="0">
              <a:buNone/>
            </a:pPr>
            <a:r>
              <a:rPr lang="en-US" sz="3600" b="1" dirty="0">
                <a:solidFill>
                  <a:srgbClr val="16A34A"/>
                </a:solidFill>
                <a:latin typeface="Calibri" pitchFamily="34" charset="0"/>
                <a:ea typeface="Calibri" pitchFamily="34" charset="-122"/>
                <a:cs typeface="Calibri" pitchFamily="34" charset="-120"/>
              </a:rPr>
              <a:t>+23%</a:t>
            </a:r>
            <a:endParaRPr lang="en-US" sz="3600" dirty="0"/>
          </a:p>
        </p:txBody>
      </p:sp>
      <p:sp>
        <p:nvSpPr>
          <p:cNvPr id="21" name="Text 19"/>
          <p:cNvSpPr/>
          <p:nvPr/>
        </p:nvSpPr>
        <p:spPr>
          <a:xfrm>
            <a:off x="9134856" y="2011680"/>
            <a:ext cx="237744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Improvement with unified</a:t>
            </a:r>
            <a:endParaRPr lang="en-US" sz="1050" dirty="0"/>
          </a:p>
          <a:p>
            <a:pPr indent="0" marL="0">
              <a:buNone/>
            </a:pPr>
            <a:r>
              <a:rPr lang="en-US" sz="1050" dirty="0">
                <a:solidFill>
                  <a:srgbClr val="475569"/>
                </a:solidFill>
                <a:latin typeface="Calibri" pitchFamily="34" charset="0"/>
                <a:ea typeface="Calibri" pitchFamily="34" charset="-122"/>
                <a:cs typeface="Calibri" pitchFamily="34" charset="-120"/>
              </a:rPr>
              <a:t>real-time profiles</a:t>
            </a:r>
            <a:endParaRPr lang="en-US" sz="1050" dirty="0"/>
          </a:p>
        </p:txBody>
      </p:sp>
      <p:sp>
        <p:nvSpPr>
          <p:cNvPr id="22" name="Text 20"/>
          <p:cNvSpPr/>
          <p:nvPr/>
        </p:nvSpPr>
        <p:spPr>
          <a:xfrm>
            <a:off x="457200" y="3337560"/>
            <a:ext cx="5029200" cy="320040"/>
          </a:xfrm>
          <a:prstGeom prst="rect">
            <a:avLst/>
          </a:prstGeom>
          <a:noFill/>
          <a:ln/>
        </p:spPr>
        <p:txBody>
          <a:bodyPr wrap="square" lIns="0" tIns="0" rIns="0" bIns="0" rtlCol="0" anchor="ctr"/>
          <a:lstStyle/>
          <a:p>
            <a:pPr indent="0" marL="0">
              <a:buNone/>
            </a:pPr>
            <a:r>
              <a:rPr lang="en-US" sz="1300" b="1" dirty="0">
                <a:solidFill>
                  <a:srgbClr val="DC2626"/>
                </a:solidFill>
                <a:latin typeface="Calibri" pitchFamily="34" charset="0"/>
                <a:ea typeface="Calibri" pitchFamily="34" charset="-122"/>
                <a:cs typeface="Calibri" pitchFamily="34" charset="-120"/>
              </a:rPr>
              <a:t>Before CDH Bridge</a:t>
            </a:r>
            <a:endParaRPr lang="en-US" sz="1300" dirty="0"/>
          </a:p>
        </p:txBody>
      </p:sp>
      <p:sp>
        <p:nvSpPr>
          <p:cNvPr id="23" name="Text 21"/>
          <p:cNvSpPr/>
          <p:nvPr/>
        </p:nvSpPr>
        <p:spPr>
          <a:xfrm>
            <a:off x="6217920" y="3337560"/>
            <a:ext cx="5029200" cy="320040"/>
          </a:xfrm>
          <a:prstGeom prst="rect">
            <a:avLst/>
          </a:prstGeom>
          <a:noFill/>
          <a:ln/>
        </p:spPr>
        <p:txBody>
          <a:bodyPr wrap="square" lIns="0" tIns="0" rIns="0" bIns="0" rtlCol="0" anchor="ctr"/>
          <a:lstStyle/>
          <a:p>
            <a:pPr indent="0" marL="0">
              <a:buNone/>
            </a:pPr>
            <a:r>
              <a:rPr lang="en-US" sz="1300" b="1" dirty="0">
                <a:solidFill>
                  <a:srgbClr val="16A34A"/>
                </a:solidFill>
                <a:latin typeface="Calibri" pitchFamily="34" charset="0"/>
                <a:ea typeface="Calibri" pitchFamily="34" charset="-122"/>
                <a:cs typeface="Calibri" pitchFamily="34" charset="-120"/>
              </a:rPr>
              <a:t>After CDH Bridge</a:t>
            </a:r>
            <a:endParaRPr lang="en-US" sz="1300" dirty="0"/>
          </a:p>
        </p:txBody>
      </p:sp>
      <p:sp>
        <p:nvSpPr>
          <p:cNvPr id="24" name="Text 22"/>
          <p:cNvSpPr/>
          <p:nvPr/>
        </p:nvSpPr>
        <p:spPr>
          <a:xfrm>
            <a:off x="457200" y="3749040"/>
            <a:ext cx="5303520" cy="34747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Batch profiles — 24 to 48 hour latency</a:t>
            </a:r>
            <a:endParaRPr lang="en-US" sz="1150" dirty="0"/>
          </a:p>
        </p:txBody>
      </p:sp>
      <p:sp>
        <p:nvSpPr>
          <p:cNvPr id="25" name="Text 23"/>
          <p:cNvSpPr/>
          <p:nvPr/>
        </p:nvSpPr>
        <p:spPr>
          <a:xfrm>
            <a:off x="457200" y="4142232"/>
            <a:ext cx="5303520" cy="34747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Siloed data — CRM ≠ Web ≠ Call centre</a:t>
            </a:r>
            <a:endParaRPr lang="en-US" sz="1150" dirty="0"/>
          </a:p>
        </p:txBody>
      </p:sp>
      <p:sp>
        <p:nvSpPr>
          <p:cNvPr id="26" name="Text 24"/>
          <p:cNvSpPr/>
          <p:nvPr/>
        </p:nvSpPr>
        <p:spPr>
          <a:xfrm>
            <a:off x="457200" y="4535424"/>
            <a:ext cx="5303520" cy="34747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Anonymous visitors invisible to CDH</a:t>
            </a:r>
            <a:endParaRPr lang="en-US" sz="1150" dirty="0"/>
          </a:p>
        </p:txBody>
      </p:sp>
      <p:sp>
        <p:nvSpPr>
          <p:cNvPr id="27" name="Text 25"/>
          <p:cNvSpPr/>
          <p:nvPr/>
        </p:nvSpPr>
        <p:spPr>
          <a:xfrm>
            <a:off x="457200" y="4928616"/>
            <a:ext cx="5303520" cy="34747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NBA based on stale, incomplete data</a:t>
            </a:r>
            <a:endParaRPr lang="en-US" sz="1150" dirty="0"/>
          </a:p>
        </p:txBody>
      </p:sp>
      <p:sp>
        <p:nvSpPr>
          <p:cNvPr id="28" name="Text 26"/>
          <p:cNvSpPr/>
          <p:nvPr/>
        </p:nvSpPr>
        <p:spPr>
          <a:xfrm>
            <a:off x="457200" y="5321808"/>
            <a:ext cx="5303520" cy="347472"/>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  $2–5M custom integration per client</a:t>
            </a:r>
            <a:endParaRPr lang="en-US" sz="1150" dirty="0"/>
          </a:p>
        </p:txBody>
      </p:sp>
      <p:sp>
        <p:nvSpPr>
          <p:cNvPr id="29" name="Text 27"/>
          <p:cNvSpPr/>
          <p:nvPr/>
        </p:nvSpPr>
        <p:spPr>
          <a:xfrm>
            <a:off x="6217920" y="3749040"/>
            <a:ext cx="5303520" cy="347472"/>
          </a:xfrm>
          <a:prstGeom prst="rect">
            <a:avLst/>
          </a:prstGeom>
          <a:noFill/>
          <a:ln/>
        </p:spPr>
        <p:txBody>
          <a:bodyPr wrap="square" lIns="0" tIns="0" rIns="0" bIns="0" rtlCol="0" anchor="ctr"/>
          <a:lstStyle/>
          <a:p>
            <a:pPr indent="0" marL="0">
              <a:buNone/>
            </a:pPr>
            <a:r>
              <a:rPr lang="en-US" sz="1150" dirty="0">
                <a:solidFill>
                  <a:srgbClr val="003A61"/>
                </a:solidFill>
                <a:latin typeface="Calibri" pitchFamily="34" charset="0"/>
                <a:ea typeface="Calibri" pitchFamily="34" charset="-122"/>
                <a:cs typeface="Calibri" pitchFamily="34" charset="-120"/>
              </a:rPr>
              <a:t>✅  Real-time unified profiles — sub-100ms</a:t>
            </a:r>
            <a:endParaRPr lang="en-US" sz="1150" dirty="0"/>
          </a:p>
        </p:txBody>
      </p:sp>
      <p:sp>
        <p:nvSpPr>
          <p:cNvPr id="30" name="Text 28"/>
          <p:cNvSpPr/>
          <p:nvPr/>
        </p:nvSpPr>
        <p:spPr>
          <a:xfrm>
            <a:off x="6217920" y="4142232"/>
            <a:ext cx="5303520" cy="347472"/>
          </a:xfrm>
          <a:prstGeom prst="rect">
            <a:avLst/>
          </a:prstGeom>
          <a:noFill/>
          <a:ln/>
        </p:spPr>
        <p:txBody>
          <a:bodyPr wrap="square" lIns="0" tIns="0" rIns="0" bIns="0" rtlCol="0" anchor="ctr"/>
          <a:lstStyle/>
          <a:p>
            <a:pPr indent="0" marL="0">
              <a:buNone/>
            </a:pPr>
            <a:r>
              <a:rPr lang="en-US" sz="1150" dirty="0">
                <a:solidFill>
                  <a:srgbClr val="003A61"/>
                </a:solidFill>
                <a:latin typeface="Calibri" pitchFamily="34" charset="0"/>
                <a:ea typeface="Calibri" pitchFamily="34" charset="-122"/>
                <a:cs typeface="Calibri" pitchFamily="34" charset="-120"/>
              </a:rPr>
              <a:t>✅  All channels unified — one golden record</a:t>
            </a:r>
            <a:endParaRPr lang="en-US" sz="1150" dirty="0"/>
          </a:p>
        </p:txBody>
      </p:sp>
      <p:sp>
        <p:nvSpPr>
          <p:cNvPr id="31" name="Text 29"/>
          <p:cNvSpPr/>
          <p:nvPr/>
        </p:nvSpPr>
        <p:spPr>
          <a:xfrm>
            <a:off x="6217920" y="4535424"/>
            <a:ext cx="5303520" cy="347472"/>
          </a:xfrm>
          <a:prstGeom prst="rect">
            <a:avLst/>
          </a:prstGeom>
          <a:noFill/>
          <a:ln/>
        </p:spPr>
        <p:txBody>
          <a:bodyPr wrap="square" lIns="0" tIns="0" rIns="0" bIns="0" rtlCol="0" anchor="ctr"/>
          <a:lstStyle/>
          <a:p>
            <a:pPr indent="0" marL="0">
              <a:buNone/>
            </a:pPr>
            <a:r>
              <a:rPr lang="en-US" sz="1150" dirty="0">
                <a:solidFill>
                  <a:srgbClr val="003A61"/>
                </a:solidFill>
                <a:latin typeface="Calibri" pitchFamily="34" charset="0"/>
                <a:ea typeface="Calibri" pitchFamily="34" charset="-122"/>
                <a:cs typeface="Calibri" pitchFamily="34" charset="-120"/>
              </a:rPr>
              <a:t>✅  Pre-login behaviour stitched on login</a:t>
            </a:r>
            <a:endParaRPr lang="en-US" sz="1150" dirty="0"/>
          </a:p>
        </p:txBody>
      </p:sp>
      <p:sp>
        <p:nvSpPr>
          <p:cNvPr id="32" name="Text 30"/>
          <p:cNvSpPr/>
          <p:nvPr/>
        </p:nvSpPr>
        <p:spPr>
          <a:xfrm>
            <a:off x="6217920" y="4928616"/>
            <a:ext cx="5303520" cy="347472"/>
          </a:xfrm>
          <a:prstGeom prst="rect">
            <a:avLst/>
          </a:prstGeom>
          <a:noFill/>
          <a:ln/>
        </p:spPr>
        <p:txBody>
          <a:bodyPr wrap="square" lIns="0" tIns="0" rIns="0" bIns="0" rtlCol="0" anchor="ctr"/>
          <a:lstStyle/>
          <a:p>
            <a:pPr indent="0" marL="0">
              <a:buNone/>
            </a:pPr>
            <a:r>
              <a:rPr lang="en-US" sz="1150" dirty="0">
                <a:solidFill>
                  <a:srgbClr val="003A61"/>
                </a:solidFill>
                <a:latin typeface="Calibri" pitchFamily="34" charset="0"/>
                <a:ea typeface="Calibri" pitchFamily="34" charset="-122"/>
                <a:cs typeface="Calibri" pitchFamily="34" charset="-120"/>
              </a:rPr>
              <a:t>✅  NBA informed by today's signals</a:t>
            </a:r>
            <a:endParaRPr lang="en-US" sz="1150" dirty="0"/>
          </a:p>
        </p:txBody>
      </p:sp>
      <p:sp>
        <p:nvSpPr>
          <p:cNvPr id="33" name="Text 31"/>
          <p:cNvSpPr/>
          <p:nvPr/>
        </p:nvSpPr>
        <p:spPr>
          <a:xfrm>
            <a:off x="6217920" y="5321808"/>
            <a:ext cx="5303520" cy="347472"/>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  30-day SaaS implementation</a:t>
            </a:r>
            <a:endParaRPr lang="en-US" sz="1150" dirty="0"/>
          </a:p>
        </p:txBody>
      </p:sp>
      <p:sp>
        <p:nvSpPr>
          <p:cNvPr id="34" name="Shape 32"/>
          <p:cNvSpPr/>
          <p:nvPr/>
        </p:nvSpPr>
        <p:spPr>
          <a:xfrm>
            <a:off x="5623560" y="3566160"/>
            <a:ext cx="73152" cy="2468880"/>
          </a:xfrm>
          <a:prstGeom prst="rect">
            <a:avLst/>
          </a:prstGeom>
          <a:solidFill>
            <a:srgbClr val="E2E8F0"/>
          </a:solidFill>
          <a:ln w="12700">
            <a:solidFill>
              <a:srgbClr val="E2E8F0"/>
            </a:solidFill>
            <a:prstDash val="solid"/>
          </a:ln>
        </p:spPr>
      </p:sp>
      <p:sp>
        <p:nvSpPr>
          <p:cNvPr id="35" name="Text 33"/>
          <p:cNvSpPr/>
          <p:nvPr/>
        </p:nvSpPr>
        <p:spPr>
          <a:xfrm>
            <a:off x="5394960" y="4663440"/>
            <a:ext cx="502920" cy="365760"/>
          </a:xfrm>
          <a:prstGeom prst="rect">
            <a:avLst/>
          </a:prstGeom>
          <a:noFill/>
          <a:ln/>
        </p:spPr>
        <p:txBody>
          <a:bodyPr wrap="square" lIns="0" tIns="0" rIns="0" bIns="0" rtlCol="0" anchor="ctr"/>
          <a:lstStyle/>
          <a:p>
            <a:pPr algn="ctr" indent="0" marL="0">
              <a:buNone/>
            </a:pPr>
            <a:r>
              <a:rPr lang="en-US" sz="2200" dirty="0">
                <a:solidFill>
                  <a:srgbClr val="0063AB"/>
                </a:solidFill>
              </a:rPr>
              <a:t>→</a:t>
            </a:r>
            <a:endParaRPr lang="en-US" sz="2200" dirty="0"/>
          </a:p>
        </p:txBody>
      </p:sp>
      <p:sp>
        <p:nvSpPr>
          <p:cNvPr id="36" name="Shape 34"/>
          <p:cNvSpPr/>
          <p:nvPr/>
        </p:nvSpPr>
        <p:spPr>
          <a:xfrm>
            <a:off x="0" y="6565392"/>
            <a:ext cx="12188952" cy="292608"/>
          </a:xfrm>
          <a:prstGeom prst="rect">
            <a:avLst/>
          </a:prstGeom>
          <a:solidFill>
            <a:srgbClr val="003A61"/>
          </a:solidFill>
          <a:ln w="12700">
            <a:solidFill>
              <a:srgbClr val="003A61"/>
            </a:solidFill>
            <a:prstDash val="solid"/>
          </a:ln>
        </p:spPr>
      </p:sp>
      <p:sp>
        <p:nvSpPr>
          <p:cNvPr id="37" name="Text 35"/>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38" name="Text 36"/>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3 / 15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164592"/>
            <a:ext cx="11274552" cy="502920"/>
          </a:xfrm>
          <a:prstGeom prst="rect">
            <a:avLst/>
          </a:prstGeom>
          <a:noFill/>
          <a:ln/>
        </p:spPr>
        <p:txBody>
          <a:bodyPr wrap="square" lIns="0" tIns="0" rIns="0" bIns="0" rtlCol="0" anchor="ctr"/>
          <a:lstStyle/>
          <a:p>
            <a:pPr indent="0" marL="0">
              <a:buNone/>
            </a:pPr>
            <a:r>
              <a:rPr lang="en-US" sz="2800" b="1" dirty="0">
                <a:solidFill>
                  <a:srgbClr val="003A61"/>
                </a:solidFill>
                <a:latin typeface="Calibri" pitchFamily="34" charset="0"/>
                <a:ea typeface="Calibri" pitchFamily="34" charset="-122"/>
                <a:cs typeface="Calibri" pitchFamily="34" charset="-120"/>
              </a:rPr>
              <a:t>CDH Bridge — The Missing Data Layer for Pega CDH</a:t>
            </a:r>
            <a:endParaRPr lang="en-US" sz="2800" dirty="0"/>
          </a:p>
        </p:txBody>
      </p:sp>
      <p:sp>
        <p:nvSpPr>
          <p:cNvPr id="4" name="Text 2"/>
          <p:cNvSpPr/>
          <p:nvPr/>
        </p:nvSpPr>
        <p:spPr>
          <a:xfrm>
            <a:off x="457200" y="667512"/>
            <a:ext cx="11274552" cy="2743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A productised real-time CDP purpose-built for Pega CDH's four integration points</a:t>
            </a:r>
            <a:endParaRPr lang="en-US" sz="1300" dirty="0"/>
          </a:p>
        </p:txBody>
      </p:sp>
      <p:sp>
        <p:nvSpPr>
          <p:cNvPr id="5" name="Shape 3"/>
          <p:cNvSpPr/>
          <p:nvPr/>
        </p:nvSpPr>
        <p:spPr>
          <a:xfrm>
            <a:off x="457200" y="914400"/>
            <a:ext cx="11274552" cy="27432"/>
          </a:xfrm>
          <a:prstGeom prst="rect">
            <a:avLst/>
          </a:prstGeom>
          <a:solidFill>
            <a:srgbClr val="E2E8F0"/>
          </a:solidFill>
          <a:ln w="12700">
            <a:solidFill>
              <a:srgbClr val="E2E8F0"/>
            </a:solidFill>
            <a:prstDash val="solid"/>
          </a:ln>
        </p:spPr>
      </p:sp>
      <p:sp>
        <p:nvSpPr>
          <p:cNvPr id="6" name="Shape 4"/>
          <p:cNvSpPr/>
          <p:nvPr/>
        </p:nvSpPr>
        <p:spPr>
          <a:xfrm>
            <a:off x="365760" y="1143000"/>
            <a:ext cx="5577840" cy="182880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7" name="Shape 5"/>
          <p:cNvSpPr/>
          <p:nvPr/>
        </p:nvSpPr>
        <p:spPr>
          <a:xfrm>
            <a:off x="365760" y="1143000"/>
            <a:ext cx="54864" cy="1828800"/>
          </a:xfrm>
          <a:prstGeom prst="rect">
            <a:avLst/>
          </a:prstGeom>
          <a:solidFill>
            <a:srgbClr val="16A34A"/>
          </a:solidFill>
          <a:ln w="12700">
            <a:solidFill>
              <a:srgbClr val="16A34A"/>
            </a:solidFill>
            <a:prstDash val="solid"/>
          </a:ln>
        </p:spPr>
      </p:sp>
      <p:sp>
        <p:nvSpPr>
          <p:cNvPr id="8" name="Text 6"/>
          <p:cNvSpPr/>
          <p:nvPr/>
        </p:nvSpPr>
        <p:spPr>
          <a:xfrm>
            <a:off x="548640" y="1325880"/>
            <a:ext cx="640080" cy="50292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9" name="Text 7"/>
          <p:cNvSpPr/>
          <p:nvPr/>
        </p:nvSpPr>
        <p:spPr>
          <a:xfrm>
            <a:off x="1280160" y="1344168"/>
            <a:ext cx="4389120" cy="384048"/>
          </a:xfrm>
          <a:prstGeom prst="rect">
            <a:avLst/>
          </a:prstGeom>
          <a:noFill/>
          <a:ln/>
        </p:spPr>
        <p:txBody>
          <a:bodyPr wrap="square" lIns="0" tIns="0" rIns="0" bIns="0" rtlCol="0" anchor="ctr"/>
          <a:lstStyle/>
          <a:p>
            <a:pPr indent="0" marL="0">
              <a:buNone/>
            </a:pPr>
            <a:r>
              <a:rPr lang="en-US" sz="1400" b="1" dirty="0">
                <a:solidFill>
                  <a:srgbClr val="003A61"/>
                </a:solidFill>
                <a:latin typeface="Calibri" pitchFamily="34" charset="0"/>
                <a:ea typeface="Calibri" pitchFamily="34" charset="-122"/>
                <a:cs typeface="Calibri" pitchFamily="34" charset="-120"/>
              </a:rPr>
              <a:t>Live in 30 Days</a:t>
            </a:r>
            <a:endParaRPr lang="en-US" sz="1400" dirty="0"/>
          </a:p>
        </p:txBody>
      </p:sp>
      <p:sp>
        <p:nvSpPr>
          <p:cNvPr id="10" name="Text 8"/>
          <p:cNvSpPr/>
          <p:nvPr/>
        </p:nvSpPr>
        <p:spPr>
          <a:xfrm>
            <a:off x="493776" y="1801368"/>
            <a:ext cx="5303520" cy="9601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Pre-built connectors, certified Pega CDH integration. No custom SI build required. First event flowing to CDH in 30 minutes.</a:t>
            </a:r>
            <a:endParaRPr lang="en-US" sz="1150" dirty="0"/>
          </a:p>
        </p:txBody>
      </p:sp>
      <p:sp>
        <p:nvSpPr>
          <p:cNvPr id="11" name="Shape 9"/>
          <p:cNvSpPr/>
          <p:nvPr/>
        </p:nvSpPr>
        <p:spPr>
          <a:xfrm>
            <a:off x="6080760" y="1143000"/>
            <a:ext cx="5577840" cy="182880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2" name="Shape 10"/>
          <p:cNvSpPr/>
          <p:nvPr/>
        </p:nvSpPr>
        <p:spPr>
          <a:xfrm>
            <a:off x="6080760" y="1143000"/>
            <a:ext cx="54864" cy="1828800"/>
          </a:xfrm>
          <a:prstGeom prst="rect">
            <a:avLst/>
          </a:prstGeom>
          <a:solidFill>
            <a:srgbClr val="0063AB"/>
          </a:solidFill>
          <a:ln w="12700">
            <a:solidFill>
              <a:srgbClr val="0063AB"/>
            </a:solidFill>
            <a:prstDash val="solid"/>
          </a:ln>
        </p:spPr>
      </p:sp>
      <p:sp>
        <p:nvSpPr>
          <p:cNvPr id="13" name="Text 11"/>
          <p:cNvSpPr/>
          <p:nvPr/>
        </p:nvSpPr>
        <p:spPr>
          <a:xfrm>
            <a:off x="6263640" y="1325880"/>
            <a:ext cx="640080" cy="50292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14" name="Text 12"/>
          <p:cNvSpPr/>
          <p:nvPr/>
        </p:nvSpPr>
        <p:spPr>
          <a:xfrm>
            <a:off x="6995160" y="1344168"/>
            <a:ext cx="4389120" cy="384048"/>
          </a:xfrm>
          <a:prstGeom prst="rect">
            <a:avLst/>
          </a:prstGeom>
          <a:noFill/>
          <a:ln/>
        </p:spPr>
        <p:txBody>
          <a:bodyPr wrap="square" lIns="0" tIns="0" rIns="0" bIns="0" rtlCol="0" anchor="ctr"/>
          <a:lstStyle/>
          <a:p>
            <a:pPr indent="0" marL="0">
              <a:buNone/>
            </a:pPr>
            <a:r>
              <a:rPr lang="en-US" sz="1400" b="1" dirty="0">
                <a:solidFill>
                  <a:srgbClr val="003A61"/>
                </a:solidFill>
                <a:latin typeface="Calibri" pitchFamily="34" charset="0"/>
                <a:ea typeface="Calibri" pitchFamily="34" charset="-122"/>
                <a:cs typeface="Calibri" pitchFamily="34" charset="-120"/>
              </a:rPr>
              <a:t>Sub-100ms Latency</a:t>
            </a:r>
            <a:endParaRPr lang="en-US" sz="1400" dirty="0"/>
          </a:p>
        </p:txBody>
      </p:sp>
      <p:sp>
        <p:nvSpPr>
          <p:cNvPr id="15" name="Text 13"/>
          <p:cNvSpPr/>
          <p:nvPr/>
        </p:nvSpPr>
        <p:spPr>
          <a:xfrm>
            <a:off x="6208776" y="1801368"/>
            <a:ext cx="5303520" cy="9601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Redis-backed unified profiles served to Pega CDH synchronously before each NBA decision. p99: 34ms in production.</a:t>
            </a:r>
            <a:endParaRPr lang="en-US" sz="1150" dirty="0"/>
          </a:p>
        </p:txBody>
      </p:sp>
      <p:sp>
        <p:nvSpPr>
          <p:cNvPr id="16" name="Shape 14"/>
          <p:cNvSpPr/>
          <p:nvPr/>
        </p:nvSpPr>
        <p:spPr>
          <a:xfrm>
            <a:off x="365760" y="3154680"/>
            <a:ext cx="5577840" cy="182880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7" name="Shape 15"/>
          <p:cNvSpPr/>
          <p:nvPr/>
        </p:nvSpPr>
        <p:spPr>
          <a:xfrm>
            <a:off x="365760" y="3154680"/>
            <a:ext cx="54864" cy="1828800"/>
          </a:xfrm>
          <a:prstGeom prst="rect">
            <a:avLst/>
          </a:prstGeom>
          <a:solidFill>
            <a:srgbClr val="003A61"/>
          </a:solidFill>
          <a:ln w="12700">
            <a:solidFill>
              <a:srgbClr val="003A61"/>
            </a:solidFill>
            <a:prstDash val="solid"/>
          </a:ln>
        </p:spPr>
      </p:sp>
      <p:sp>
        <p:nvSpPr>
          <p:cNvPr id="18" name="Text 16"/>
          <p:cNvSpPr/>
          <p:nvPr/>
        </p:nvSpPr>
        <p:spPr>
          <a:xfrm>
            <a:off x="548640" y="3337560"/>
            <a:ext cx="640080" cy="50292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19" name="Text 17"/>
          <p:cNvSpPr/>
          <p:nvPr/>
        </p:nvSpPr>
        <p:spPr>
          <a:xfrm>
            <a:off x="1280160" y="3355848"/>
            <a:ext cx="4389120" cy="384048"/>
          </a:xfrm>
          <a:prstGeom prst="rect">
            <a:avLst/>
          </a:prstGeom>
          <a:noFill/>
          <a:ln/>
        </p:spPr>
        <p:txBody>
          <a:bodyPr wrap="square" lIns="0" tIns="0" rIns="0" bIns="0" rtlCol="0" anchor="ctr"/>
          <a:lstStyle/>
          <a:p>
            <a:pPr indent="0" marL="0">
              <a:buNone/>
            </a:pPr>
            <a:r>
              <a:rPr lang="en-US" sz="1400" b="1" dirty="0">
                <a:solidFill>
                  <a:srgbClr val="003A61"/>
                </a:solidFill>
                <a:latin typeface="Calibri" pitchFamily="34" charset="0"/>
                <a:ea typeface="Calibri" pitchFamily="34" charset="-122"/>
                <a:cs typeface="Calibri" pitchFamily="34" charset="-120"/>
              </a:rPr>
              <a:t>15 Pre-Built Connectors</a:t>
            </a:r>
            <a:endParaRPr lang="en-US" sz="1400" dirty="0"/>
          </a:p>
        </p:txBody>
      </p:sp>
      <p:sp>
        <p:nvSpPr>
          <p:cNvPr id="20" name="Text 18"/>
          <p:cNvSpPr/>
          <p:nvPr/>
        </p:nvSpPr>
        <p:spPr>
          <a:xfrm>
            <a:off x="493776" y="3813048"/>
            <a:ext cx="5303520" cy="9601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Salesforce, Snowflake, SAP CX, Genesys, MS Dynamics, S3, ServiceNow, Adobe Analytics, Braze and more. Plug in, not build in.</a:t>
            </a:r>
            <a:endParaRPr lang="en-US" sz="1150" dirty="0"/>
          </a:p>
        </p:txBody>
      </p:sp>
      <p:sp>
        <p:nvSpPr>
          <p:cNvPr id="21" name="Shape 19"/>
          <p:cNvSpPr/>
          <p:nvPr/>
        </p:nvSpPr>
        <p:spPr>
          <a:xfrm>
            <a:off x="6080760" y="3154680"/>
            <a:ext cx="5577840" cy="182880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2" name="Shape 20"/>
          <p:cNvSpPr/>
          <p:nvPr/>
        </p:nvSpPr>
        <p:spPr>
          <a:xfrm>
            <a:off x="6080760" y="3154680"/>
            <a:ext cx="54864" cy="1828800"/>
          </a:xfrm>
          <a:prstGeom prst="rect">
            <a:avLst/>
          </a:prstGeom>
          <a:solidFill>
            <a:srgbClr val="D97706"/>
          </a:solidFill>
          <a:ln w="12700">
            <a:solidFill>
              <a:srgbClr val="D97706"/>
            </a:solidFill>
            <a:prstDash val="solid"/>
          </a:ln>
        </p:spPr>
      </p:sp>
      <p:sp>
        <p:nvSpPr>
          <p:cNvPr id="23" name="Text 21"/>
          <p:cNvSpPr/>
          <p:nvPr/>
        </p:nvSpPr>
        <p:spPr>
          <a:xfrm>
            <a:off x="6263640" y="3337560"/>
            <a:ext cx="640080" cy="50292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24" name="Text 22"/>
          <p:cNvSpPr/>
          <p:nvPr/>
        </p:nvSpPr>
        <p:spPr>
          <a:xfrm>
            <a:off x="6995160" y="3355848"/>
            <a:ext cx="4389120" cy="384048"/>
          </a:xfrm>
          <a:prstGeom prst="rect">
            <a:avLst/>
          </a:prstGeom>
          <a:noFill/>
          <a:ln/>
        </p:spPr>
        <p:txBody>
          <a:bodyPr wrap="square" lIns="0" tIns="0" rIns="0" bIns="0" rtlCol="0" anchor="ctr"/>
          <a:lstStyle/>
          <a:p>
            <a:pPr indent="0" marL="0">
              <a:buNone/>
            </a:pPr>
            <a:r>
              <a:rPr lang="en-US" sz="1400" b="1" dirty="0">
                <a:solidFill>
                  <a:srgbClr val="003A61"/>
                </a:solidFill>
                <a:latin typeface="Calibri" pitchFamily="34" charset="0"/>
                <a:ea typeface="Calibri" pitchFamily="34" charset="-122"/>
                <a:cs typeface="Calibri" pitchFamily="34" charset="-120"/>
              </a:rPr>
              <a:t>Pega-Native Design</a:t>
            </a:r>
            <a:endParaRPr lang="en-US" sz="1400" dirty="0"/>
          </a:p>
        </p:txBody>
      </p:sp>
      <p:sp>
        <p:nvSpPr>
          <p:cNvPr id="25" name="Text 23"/>
          <p:cNvSpPr/>
          <p:nvPr/>
        </p:nvSpPr>
        <p:spPr>
          <a:xfrm>
            <a:off x="6208776" y="3813048"/>
            <a:ext cx="5303520" cy="9601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Auto-maps all events to CDH Interaction History schema. Feeds CDH's 4 integration points: Events, Profiles, NBA sharing, Decision history.</a:t>
            </a:r>
            <a:endParaRPr lang="en-US" sz="1150" dirty="0"/>
          </a:p>
        </p:txBody>
      </p:sp>
      <p:sp>
        <p:nvSpPr>
          <p:cNvPr id="26" name="Text 24"/>
          <p:cNvSpPr/>
          <p:nvPr/>
        </p:nvSpPr>
        <p:spPr>
          <a:xfrm>
            <a:off x="9601200" y="6355080"/>
            <a:ext cx="182880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v0.1.0  ·  2026</a:t>
            </a:r>
            <a:endParaRPr lang="en-US" sz="900" dirty="0"/>
          </a:p>
        </p:txBody>
      </p:sp>
      <p:sp>
        <p:nvSpPr>
          <p:cNvPr id="27" name="Shape 25"/>
          <p:cNvSpPr/>
          <p:nvPr/>
        </p:nvSpPr>
        <p:spPr>
          <a:xfrm>
            <a:off x="0" y="6565392"/>
            <a:ext cx="12188952" cy="292608"/>
          </a:xfrm>
          <a:prstGeom prst="rect">
            <a:avLst/>
          </a:prstGeom>
          <a:solidFill>
            <a:srgbClr val="003A61"/>
          </a:solidFill>
          <a:ln w="12700">
            <a:solidFill>
              <a:srgbClr val="003A61"/>
            </a:solidFill>
            <a:prstDash val="solid"/>
          </a:ln>
        </p:spPr>
      </p:sp>
      <p:sp>
        <p:nvSpPr>
          <p:cNvPr id="28" name="Text 26"/>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29" name="Text 27"/>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4 / 15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164592"/>
            <a:ext cx="11274552" cy="502920"/>
          </a:xfrm>
          <a:prstGeom prst="rect">
            <a:avLst/>
          </a:prstGeom>
          <a:noFill/>
          <a:ln/>
        </p:spPr>
        <p:txBody>
          <a:bodyPr wrap="square" lIns="0" tIns="0" rIns="0" bIns="0" rtlCol="0" anchor="ctr"/>
          <a:lstStyle/>
          <a:p>
            <a:pPr indent="0" marL="0">
              <a:buNone/>
            </a:pPr>
            <a:r>
              <a:rPr lang="en-US" sz="2800" b="1" dirty="0">
                <a:solidFill>
                  <a:srgbClr val="003A61"/>
                </a:solidFill>
                <a:latin typeface="Calibri" pitchFamily="34" charset="0"/>
                <a:ea typeface="Calibri" pitchFamily="34" charset="-122"/>
                <a:cs typeface="Calibri" pitchFamily="34" charset="-120"/>
              </a:rPr>
              <a:t>The CDH Bridge Architecture</a:t>
            </a:r>
            <a:endParaRPr lang="en-US" sz="2800" dirty="0"/>
          </a:p>
        </p:txBody>
      </p:sp>
      <p:sp>
        <p:nvSpPr>
          <p:cNvPr id="4" name="Text 2"/>
          <p:cNvSpPr/>
          <p:nvPr/>
        </p:nvSpPr>
        <p:spPr>
          <a:xfrm>
            <a:off x="457200" y="667512"/>
            <a:ext cx="11274552" cy="2743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Real-time data flows from any source to Pega CDH in under 100ms</a:t>
            </a:r>
            <a:endParaRPr lang="en-US" sz="1300" dirty="0"/>
          </a:p>
        </p:txBody>
      </p:sp>
      <p:sp>
        <p:nvSpPr>
          <p:cNvPr id="5" name="Shape 3"/>
          <p:cNvSpPr/>
          <p:nvPr/>
        </p:nvSpPr>
        <p:spPr>
          <a:xfrm>
            <a:off x="457200" y="914400"/>
            <a:ext cx="11274552" cy="27432"/>
          </a:xfrm>
          <a:prstGeom prst="rect">
            <a:avLst/>
          </a:prstGeom>
          <a:solidFill>
            <a:srgbClr val="E2E8F0"/>
          </a:solidFill>
          <a:ln w="12700">
            <a:solidFill>
              <a:srgbClr val="E2E8F0"/>
            </a:solidFill>
            <a:prstDash val="solid"/>
          </a:ln>
        </p:spPr>
      </p:sp>
      <p:sp>
        <p:nvSpPr>
          <p:cNvPr id="6" name="Text 4"/>
          <p:cNvSpPr/>
          <p:nvPr/>
        </p:nvSpPr>
        <p:spPr>
          <a:xfrm>
            <a:off x="365760" y="1024128"/>
            <a:ext cx="3474720" cy="256032"/>
          </a:xfrm>
          <a:prstGeom prst="rect">
            <a:avLst/>
          </a:prstGeom>
          <a:noFill/>
          <a:ln/>
        </p:spPr>
        <p:txBody>
          <a:bodyPr wrap="square" lIns="0" tIns="0" rIns="0" bIns="0" rtlCol="0" anchor="ctr"/>
          <a:lstStyle/>
          <a:p>
            <a:pPr indent="0" marL="0">
              <a:buNone/>
            </a:pPr>
            <a:r>
              <a:rPr lang="en-US" sz="950" b="1" spc="200" kern="0" dirty="0">
                <a:solidFill>
                  <a:srgbClr val="475569"/>
                </a:solidFill>
                <a:latin typeface="Calibri" pitchFamily="34" charset="0"/>
                <a:ea typeface="Calibri" pitchFamily="34" charset="-122"/>
                <a:cs typeface="Calibri" pitchFamily="34" charset="-120"/>
              </a:rPr>
              <a:t>DATA SOURCES</a:t>
            </a:r>
            <a:endParaRPr lang="en-US" sz="950" dirty="0"/>
          </a:p>
        </p:txBody>
      </p:sp>
      <p:sp>
        <p:nvSpPr>
          <p:cNvPr id="7" name="Text 5"/>
          <p:cNvSpPr/>
          <p:nvPr/>
        </p:nvSpPr>
        <p:spPr>
          <a:xfrm>
            <a:off x="4114800" y="1024128"/>
            <a:ext cx="3474720" cy="256032"/>
          </a:xfrm>
          <a:prstGeom prst="rect">
            <a:avLst/>
          </a:prstGeom>
          <a:noFill/>
          <a:ln/>
        </p:spPr>
        <p:txBody>
          <a:bodyPr wrap="square" lIns="0" tIns="0" rIns="0" bIns="0" rtlCol="0" anchor="ctr"/>
          <a:lstStyle/>
          <a:p>
            <a:pPr indent="0" marL="0">
              <a:buNone/>
            </a:pPr>
            <a:r>
              <a:rPr lang="en-US" sz="950" b="1" spc="200" kern="0" dirty="0">
                <a:solidFill>
                  <a:srgbClr val="0063AB"/>
                </a:solidFill>
                <a:latin typeface="Calibri" pitchFamily="34" charset="0"/>
                <a:ea typeface="Calibri" pitchFamily="34" charset="-122"/>
                <a:cs typeface="Calibri" pitchFamily="34" charset="-120"/>
              </a:rPr>
              <a:t>CDH BRIDGE</a:t>
            </a:r>
            <a:endParaRPr lang="en-US" sz="950" dirty="0"/>
          </a:p>
        </p:txBody>
      </p:sp>
      <p:sp>
        <p:nvSpPr>
          <p:cNvPr id="8" name="Text 6"/>
          <p:cNvSpPr/>
          <p:nvPr/>
        </p:nvSpPr>
        <p:spPr>
          <a:xfrm>
            <a:off x="8046720" y="1024128"/>
            <a:ext cx="3474720" cy="256032"/>
          </a:xfrm>
          <a:prstGeom prst="rect">
            <a:avLst/>
          </a:prstGeom>
          <a:noFill/>
          <a:ln/>
        </p:spPr>
        <p:txBody>
          <a:bodyPr wrap="square" lIns="0" tIns="0" rIns="0" bIns="0" rtlCol="0" anchor="ctr"/>
          <a:lstStyle/>
          <a:p>
            <a:pPr indent="0" marL="0">
              <a:buNone/>
            </a:pPr>
            <a:r>
              <a:rPr lang="en-US" sz="950" b="1" spc="200" kern="0" dirty="0">
                <a:solidFill>
                  <a:srgbClr val="003A61"/>
                </a:solidFill>
                <a:latin typeface="Calibri" pitchFamily="34" charset="0"/>
                <a:ea typeface="Calibri" pitchFamily="34" charset="-122"/>
                <a:cs typeface="Calibri" pitchFamily="34" charset="-120"/>
              </a:rPr>
              <a:t>PEGA CDH</a:t>
            </a:r>
            <a:endParaRPr lang="en-US" sz="950" dirty="0"/>
          </a:p>
        </p:txBody>
      </p:sp>
      <p:sp>
        <p:nvSpPr>
          <p:cNvPr id="9" name="Text 7"/>
          <p:cNvSpPr/>
          <p:nvPr/>
        </p:nvSpPr>
        <p:spPr>
          <a:xfrm>
            <a:off x="10789920" y="1024128"/>
            <a:ext cx="3474720" cy="256032"/>
          </a:xfrm>
          <a:prstGeom prst="rect">
            <a:avLst/>
          </a:prstGeom>
          <a:noFill/>
          <a:ln/>
        </p:spPr>
        <p:txBody>
          <a:bodyPr wrap="square" lIns="0" tIns="0" rIns="0" bIns="0" rtlCol="0" anchor="ctr"/>
          <a:lstStyle/>
          <a:p>
            <a:pPr indent="0" marL="0">
              <a:buNone/>
            </a:pPr>
            <a:r>
              <a:rPr lang="en-US" sz="950" b="1" spc="200" kern="0" dirty="0">
                <a:solidFill>
                  <a:srgbClr val="16A34A"/>
                </a:solidFill>
                <a:latin typeface="Calibri" pitchFamily="34" charset="0"/>
                <a:ea typeface="Calibri" pitchFamily="34" charset="-122"/>
                <a:cs typeface="Calibri" pitchFamily="34" charset="-120"/>
              </a:rPr>
              <a:t>OUTCOMES</a:t>
            </a:r>
            <a:endParaRPr lang="en-US" sz="950" dirty="0"/>
          </a:p>
        </p:txBody>
      </p:sp>
      <p:sp>
        <p:nvSpPr>
          <p:cNvPr id="10" name="Shape 8"/>
          <p:cNvSpPr/>
          <p:nvPr/>
        </p:nvSpPr>
        <p:spPr>
          <a:xfrm>
            <a:off x="365760" y="1261872"/>
            <a:ext cx="11612880" cy="27432"/>
          </a:xfrm>
          <a:prstGeom prst="rect">
            <a:avLst/>
          </a:prstGeom>
          <a:solidFill>
            <a:srgbClr val="E2E8F0"/>
          </a:solidFill>
          <a:ln w="12700">
            <a:solidFill>
              <a:srgbClr val="E2E8F0"/>
            </a:solidFill>
            <a:prstDash val="solid"/>
          </a:ln>
        </p:spPr>
      </p:sp>
      <p:sp>
        <p:nvSpPr>
          <p:cNvPr id="11" name="Shape 9"/>
          <p:cNvSpPr/>
          <p:nvPr/>
        </p:nvSpPr>
        <p:spPr>
          <a:xfrm>
            <a:off x="365760" y="1417320"/>
            <a:ext cx="3383280" cy="621792"/>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2" name="Shape 10"/>
          <p:cNvSpPr/>
          <p:nvPr/>
        </p:nvSpPr>
        <p:spPr>
          <a:xfrm>
            <a:off x="365760" y="1417320"/>
            <a:ext cx="54864" cy="621792"/>
          </a:xfrm>
          <a:prstGeom prst="rect">
            <a:avLst/>
          </a:prstGeom>
          <a:solidFill>
            <a:srgbClr val="94A3B8"/>
          </a:solidFill>
          <a:ln w="12700">
            <a:solidFill>
              <a:srgbClr val="94A3B8"/>
            </a:solidFill>
            <a:prstDash val="solid"/>
          </a:ln>
        </p:spPr>
      </p:sp>
      <p:sp>
        <p:nvSpPr>
          <p:cNvPr id="13" name="Text 11"/>
          <p:cNvSpPr/>
          <p:nvPr/>
        </p:nvSpPr>
        <p:spPr>
          <a:xfrm>
            <a:off x="548640" y="1527048"/>
            <a:ext cx="3017520" cy="402336"/>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Salesforce CRM</a:t>
            </a:r>
            <a:endParaRPr lang="en-US" sz="1100" dirty="0"/>
          </a:p>
        </p:txBody>
      </p:sp>
      <p:sp>
        <p:nvSpPr>
          <p:cNvPr id="14" name="Shape 12"/>
          <p:cNvSpPr/>
          <p:nvPr/>
        </p:nvSpPr>
        <p:spPr>
          <a:xfrm>
            <a:off x="365760" y="2167128"/>
            <a:ext cx="3383280" cy="621792"/>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5" name="Shape 13"/>
          <p:cNvSpPr/>
          <p:nvPr/>
        </p:nvSpPr>
        <p:spPr>
          <a:xfrm>
            <a:off x="365760" y="2167128"/>
            <a:ext cx="54864" cy="621792"/>
          </a:xfrm>
          <a:prstGeom prst="rect">
            <a:avLst/>
          </a:prstGeom>
          <a:solidFill>
            <a:srgbClr val="94A3B8"/>
          </a:solidFill>
          <a:ln w="12700">
            <a:solidFill>
              <a:srgbClr val="94A3B8"/>
            </a:solidFill>
            <a:prstDash val="solid"/>
          </a:ln>
        </p:spPr>
      </p:sp>
      <p:sp>
        <p:nvSpPr>
          <p:cNvPr id="16" name="Text 14"/>
          <p:cNvSpPr/>
          <p:nvPr/>
        </p:nvSpPr>
        <p:spPr>
          <a:xfrm>
            <a:off x="548640" y="2276856"/>
            <a:ext cx="3017520" cy="402336"/>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Snowflake DW</a:t>
            </a:r>
            <a:endParaRPr lang="en-US" sz="1100" dirty="0"/>
          </a:p>
        </p:txBody>
      </p:sp>
      <p:sp>
        <p:nvSpPr>
          <p:cNvPr id="17" name="Shape 15"/>
          <p:cNvSpPr/>
          <p:nvPr/>
        </p:nvSpPr>
        <p:spPr>
          <a:xfrm>
            <a:off x="365760" y="2916936"/>
            <a:ext cx="3383280" cy="621792"/>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8" name="Shape 16"/>
          <p:cNvSpPr/>
          <p:nvPr/>
        </p:nvSpPr>
        <p:spPr>
          <a:xfrm>
            <a:off x="365760" y="2916936"/>
            <a:ext cx="54864" cy="621792"/>
          </a:xfrm>
          <a:prstGeom prst="rect">
            <a:avLst/>
          </a:prstGeom>
          <a:solidFill>
            <a:srgbClr val="94A3B8"/>
          </a:solidFill>
          <a:ln w="12700">
            <a:solidFill>
              <a:srgbClr val="94A3B8"/>
            </a:solidFill>
            <a:prstDash val="solid"/>
          </a:ln>
        </p:spPr>
      </p:sp>
      <p:sp>
        <p:nvSpPr>
          <p:cNvPr id="19" name="Text 17"/>
          <p:cNvSpPr/>
          <p:nvPr/>
        </p:nvSpPr>
        <p:spPr>
          <a:xfrm>
            <a:off x="548640" y="3026664"/>
            <a:ext cx="3017520" cy="402336"/>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Genesys CCaaS</a:t>
            </a:r>
            <a:endParaRPr lang="en-US" sz="1100" dirty="0"/>
          </a:p>
        </p:txBody>
      </p:sp>
      <p:sp>
        <p:nvSpPr>
          <p:cNvPr id="20" name="Shape 18"/>
          <p:cNvSpPr/>
          <p:nvPr/>
        </p:nvSpPr>
        <p:spPr>
          <a:xfrm>
            <a:off x="365760" y="3666744"/>
            <a:ext cx="3383280" cy="621792"/>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1" name="Shape 19"/>
          <p:cNvSpPr/>
          <p:nvPr/>
        </p:nvSpPr>
        <p:spPr>
          <a:xfrm>
            <a:off x="365760" y="3666744"/>
            <a:ext cx="54864" cy="621792"/>
          </a:xfrm>
          <a:prstGeom prst="rect">
            <a:avLst/>
          </a:prstGeom>
          <a:solidFill>
            <a:srgbClr val="94A3B8"/>
          </a:solidFill>
          <a:ln w="12700">
            <a:solidFill>
              <a:srgbClr val="94A3B8"/>
            </a:solidFill>
            <a:prstDash val="solid"/>
          </a:ln>
        </p:spPr>
      </p:sp>
      <p:sp>
        <p:nvSpPr>
          <p:cNvPr id="22" name="Text 20"/>
          <p:cNvSpPr/>
          <p:nvPr/>
        </p:nvSpPr>
        <p:spPr>
          <a:xfrm>
            <a:off x="548640" y="3776472"/>
            <a:ext cx="3017520" cy="402336"/>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Web / Mobile SDK</a:t>
            </a:r>
            <a:endParaRPr lang="en-US" sz="1100" dirty="0"/>
          </a:p>
        </p:txBody>
      </p:sp>
      <p:sp>
        <p:nvSpPr>
          <p:cNvPr id="23" name="Shape 21"/>
          <p:cNvSpPr/>
          <p:nvPr/>
        </p:nvSpPr>
        <p:spPr>
          <a:xfrm>
            <a:off x="365760" y="4416552"/>
            <a:ext cx="3383280" cy="621792"/>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4" name="Shape 22"/>
          <p:cNvSpPr/>
          <p:nvPr/>
        </p:nvSpPr>
        <p:spPr>
          <a:xfrm>
            <a:off x="365760" y="4416552"/>
            <a:ext cx="54864" cy="621792"/>
          </a:xfrm>
          <a:prstGeom prst="rect">
            <a:avLst/>
          </a:prstGeom>
          <a:solidFill>
            <a:srgbClr val="94A3B8"/>
          </a:solidFill>
          <a:ln w="12700">
            <a:solidFill>
              <a:srgbClr val="94A3B8"/>
            </a:solidFill>
            <a:prstDash val="solid"/>
          </a:ln>
        </p:spPr>
      </p:sp>
      <p:sp>
        <p:nvSpPr>
          <p:cNvPr id="25" name="Text 23"/>
          <p:cNvSpPr/>
          <p:nvPr/>
        </p:nvSpPr>
        <p:spPr>
          <a:xfrm>
            <a:off x="548640" y="4526280"/>
            <a:ext cx="3017520" cy="402336"/>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SAP CX / S3 / more</a:t>
            </a:r>
            <a:endParaRPr lang="en-US" sz="1100" dirty="0"/>
          </a:p>
        </p:txBody>
      </p:sp>
      <p:sp>
        <p:nvSpPr>
          <p:cNvPr id="26" name="Shape 24"/>
          <p:cNvSpPr/>
          <p:nvPr/>
        </p:nvSpPr>
        <p:spPr>
          <a:xfrm>
            <a:off x="4114800" y="1417320"/>
            <a:ext cx="3566160" cy="621792"/>
          </a:xfrm>
          <a:prstGeom prst="rect">
            <a:avLst/>
          </a:prstGeom>
          <a:solidFill>
            <a:srgbClr val="EFF6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7" name="Shape 25"/>
          <p:cNvSpPr/>
          <p:nvPr/>
        </p:nvSpPr>
        <p:spPr>
          <a:xfrm>
            <a:off x="4114800" y="1417320"/>
            <a:ext cx="54864" cy="621792"/>
          </a:xfrm>
          <a:prstGeom prst="rect">
            <a:avLst/>
          </a:prstGeom>
          <a:solidFill>
            <a:srgbClr val="0063AB"/>
          </a:solidFill>
          <a:ln w="12700">
            <a:solidFill>
              <a:srgbClr val="0063AB"/>
            </a:solidFill>
            <a:prstDash val="solid"/>
          </a:ln>
        </p:spPr>
      </p:sp>
      <p:sp>
        <p:nvSpPr>
          <p:cNvPr id="28" name="Text 26"/>
          <p:cNvSpPr/>
          <p:nvPr/>
        </p:nvSpPr>
        <p:spPr>
          <a:xfrm>
            <a:off x="4297680" y="1490472"/>
            <a:ext cx="3200400" cy="256032"/>
          </a:xfrm>
          <a:prstGeom prst="rect">
            <a:avLst/>
          </a:prstGeom>
          <a:noFill/>
          <a:ln/>
        </p:spPr>
        <p:txBody>
          <a:bodyPr wrap="square" lIns="0" tIns="0" rIns="0" bIns="0" rtlCol="0" anchor="ctr"/>
          <a:lstStyle/>
          <a:p>
            <a:pPr indent="0" marL="0">
              <a:buNone/>
            </a:pPr>
            <a:r>
              <a:rPr lang="en-US" sz="1150" b="1" dirty="0">
                <a:solidFill>
                  <a:srgbClr val="003A61"/>
                </a:solidFill>
                <a:latin typeface="Calibri" pitchFamily="34" charset="0"/>
                <a:ea typeface="Calibri" pitchFamily="34" charset="-122"/>
                <a:cs typeface="Calibri" pitchFamily="34" charset="-120"/>
              </a:rPr>
              <a:t>Event Collector</a:t>
            </a:r>
            <a:endParaRPr lang="en-US" sz="1150" dirty="0"/>
          </a:p>
        </p:txBody>
      </p:sp>
      <p:sp>
        <p:nvSpPr>
          <p:cNvPr id="29" name="Text 27"/>
          <p:cNvSpPr/>
          <p:nvPr/>
        </p:nvSpPr>
        <p:spPr>
          <a:xfrm>
            <a:off x="4297680" y="1755648"/>
            <a:ext cx="32004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IH schema mapper → Kafka</a:t>
            </a:r>
            <a:endParaRPr lang="en-US" sz="950" dirty="0"/>
          </a:p>
        </p:txBody>
      </p:sp>
      <p:sp>
        <p:nvSpPr>
          <p:cNvPr id="30" name="Shape 28"/>
          <p:cNvSpPr/>
          <p:nvPr/>
        </p:nvSpPr>
        <p:spPr>
          <a:xfrm>
            <a:off x="4114800" y="2167128"/>
            <a:ext cx="3566160" cy="621792"/>
          </a:xfrm>
          <a:prstGeom prst="rect">
            <a:avLst/>
          </a:prstGeom>
          <a:solidFill>
            <a:srgbClr val="F0F9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31" name="Shape 29"/>
          <p:cNvSpPr/>
          <p:nvPr/>
        </p:nvSpPr>
        <p:spPr>
          <a:xfrm>
            <a:off x="4114800" y="2167128"/>
            <a:ext cx="54864" cy="621792"/>
          </a:xfrm>
          <a:prstGeom prst="rect">
            <a:avLst/>
          </a:prstGeom>
          <a:solidFill>
            <a:srgbClr val="0063AB"/>
          </a:solidFill>
          <a:ln w="12700">
            <a:solidFill>
              <a:srgbClr val="0063AB"/>
            </a:solidFill>
            <a:prstDash val="solid"/>
          </a:ln>
        </p:spPr>
      </p:sp>
      <p:sp>
        <p:nvSpPr>
          <p:cNvPr id="32" name="Text 30"/>
          <p:cNvSpPr/>
          <p:nvPr/>
        </p:nvSpPr>
        <p:spPr>
          <a:xfrm>
            <a:off x="4297680" y="2240280"/>
            <a:ext cx="3200400" cy="256032"/>
          </a:xfrm>
          <a:prstGeom prst="rect">
            <a:avLst/>
          </a:prstGeom>
          <a:noFill/>
          <a:ln/>
        </p:spPr>
        <p:txBody>
          <a:bodyPr wrap="square" lIns="0" tIns="0" rIns="0" bIns="0" rtlCol="0" anchor="ctr"/>
          <a:lstStyle/>
          <a:p>
            <a:pPr indent="0" marL="0">
              <a:buNone/>
            </a:pPr>
            <a:r>
              <a:rPr lang="en-US" sz="1150" b="1" dirty="0">
                <a:solidFill>
                  <a:srgbClr val="003A61"/>
                </a:solidFill>
                <a:latin typeface="Calibri" pitchFamily="34" charset="0"/>
                <a:ea typeface="Calibri" pitchFamily="34" charset="-122"/>
                <a:cs typeface="Calibri" pitchFamily="34" charset="-120"/>
              </a:rPr>
              <a:t>Profile Router</a:t>
            </a:r>
            <a:endParaRPr lang="en-US" sz="1150" dirty="0"/>
          </a:p>
        </p:txBody>
      </p:sp>
      <p:sp>
        <p:nvSpPr>
          <p:cNvPr id="33" name="Text 31"/>
          <p:cNvSpPr/>
          <p:nvPr/>
        </p:nvSpPr>
        <p:spPr>
          <a:xfrm>
            <a:off x="4297680" y="2505456"/>
            <a:ext cx="32004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Redis &lt;100ms unified profile</a:t>
            </a:r>
            <a:endParaRPr lang="en-US" sz="950" dirty="0"/>
          </a:p>
        </p:txBody>
      </p:sp>
      <p:sp>
        <p:nvSpPr>
          <p:cNvPr id="34" name="Shape 32"/>
          <p:cNvSpPr/>
          <p:nvPr/>
        </p:nvSpPr>
        <p:spPr>
          <a:xfrm>
            <a:off x="4114800" y="2916936"/>
            <a:ext cx="3566160" cy="621792"/>
          </a:xfrm>
          <a:prstGeom prst="rect">
            <a:avLst/>
          </a:prstGeom>
          <a:solidFill>
            <a:srgbClr val="EFF6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35" name="Shape 33"/>
          <p:cNvSpPr/>
          <p:nvPr/>
        </p:nvSpPr>
        <p:spPr>
          <a:xfrm>
            <a:off x="4114800" y="2916936"/>
            <a:ext cx="54864" cy="621792"/>
          </a:xfrm>
          <a:prstGeom prst="rect">
            <a:avLst/>
          </a:prstGeom>
          <a:solidFill>
            <a:srgbClr val="1A85D6"/>
          </a:solidFill>
          <a:ln w="12700">
            <a:solidFill>
              <a:srgbClr val="1A85D6"/>
            </a:solidFill>
            <a:prstDash val="solid"/>
          </a:ln>
        </p:spPr>
      </p:sp>
      <p:sp>
        <p:nvSpPr>
          <p:cNvPr id="36" name="Text 34"/>
          <p:cNvSpPr/>
          <p:nvPr/>
        </p:nvSpPr>
        <p:spPr>
          <a:xfrm>
            <a:off x="4297680" y="2990088"/>
            <a:ext cx="3200400" cy="256032"/>
          </a:xfrm>
          <a:prstGeom prst="rect">
            <a:avLst/>
          </a:prstGeom>
          <a:noFill/>
          <a:ln/>
        </p:spPr>
        <p:txBody>
          <a:bodyPr wrap="square" lIns="0" tIns="0" rIns="0" bIns="0" rtlCol="0" anchor="ctr"/>
          <a:lstStyle/>
          <a:p>
            <a:pPr indent="0" marL="0">
              <a:buNone/>
            </a:pPr>
            <a:r>
              <a:rPr lang="en-US" sz="1150" b="1" dirty="0">
                <a:solidFill>
                  <a:srgbClr val="003A61"/>
                </a:solidFill>
                <a:latin typeface="Calibri" pitchFamily="34" charset="0"/>
                <a:ea typeface="Calibri" pitchFamily="34" charset="-122"/>
                <a:cs typeface="Calibri" pitchFamily="34" charset="-120"/>
              </a:rPr>
              <a:t>Identity Resolution</a:t>
            </a:r>
            <a:endParaRPr lang="en-US" sz="1150" dirty="0"/>
          </a:p>
        </p:txBody>
      </p:sp>
      <p:sp>
        <p:nvSpPr>
          <p:cNvPr id="37" name="Text 35"/>
          <p:cNvSpPr/>
          <p:nvPr/>
        </p:nvSpPr>
        <p:spPr>
          <a:xfrm>
            <a:off x="4297680" y="3255264"/>
            <a:ext cx="32004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Deterministic + probabilistic</a:t>
            </a:r>
            <a:endParaRPr lang="en-US" sz="950" dirty="0"/>
          </a:p>
        </p:txBody>
      </p:sp>
      <p:sp>
        <p:nvSpPr>
          <p:cNvPr id="38" name="Shape 36"/>
          <p:cNvSpPr/>
          <p:nvPr/>
        </p:nvSpPr>
        <p:spPr>
          <a:xfrm>
            <a:off x="4114800" y="3666744"/>
            <a:ext cx="3566160" cy="621792"/>
          </a:xfrm>
          <a:prstGeom prst="rect">
            <a:avLst/>
          </a:prstGeom>
          <a:solidFill>
            <a:srgbClr val="F0F9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39" name="Shape 37"/>
          <p:cNvSpPr/>
          <p:nvPr/>
        </p:nvSpPr>
        <p:spPr>
          <a:xfrm>
            <a:off x="4114800" y="3666744"/>
            <a:ext cx="54864" cy="621792"/>
          </a:xfrm>
          <a:prstGeom prst="rect">
            <a:avLst/>
          </a:prstGeom>
          <a:solidFill>
            <a:srgbClr val="1A85D6"/>
          </a:solidFill>
          <a:ln w="12700">
            <a:solidFill>
              <a:srgbClr val="1A85D6"/>
            </a:solidFill>
            <a:prstDash val="solid"/>
          </a:ln>
        </p:spPr>
      </p:sp>
      <p:sp>
        <p:nvSpPr>
          <p:cNvPr id="40" name="Text 38"/>
          <p:cNvSpPr/>
          <p:nvPr/>
        </p:nvSpPr>
        <p:spPr>
          <a:xfrm>
            <a:off x="4297680" y="3739896"/>
            <a:ext cx="3200400" cy="256032"/>
          </a:xfrm>
          <a:prstGeom prst="rect">
            <a:avLst/>
          </a:prstGeom>
          <a:noFill/>
          <a:ln/>
        </p:spPr>
        <p:txBody>
          <a:bodyPr wrap="square" lIns="0" tIns="0" rIns="0" bIns="0" rtlCol="0" anchor="ctr"/>
          <a:lstStyle/>
          <a:p>
            <a:pPr indent="0" marL="0">
              <a:buNone/>
            </a:pPr>
            <a:r>
              <a:rPr lang="en-US" sz="1150" b="1" dirty="0">
                <a:solidFill>
                  <a:srgbClr val="003A61"/>
                </a:solidFill>
                <a:latin typeface="Calibri" pitchFamily="34" charset="0"/>
                <a:ea typeface="Calibri" pitchFamily="34" charset="-122"/>
                <a:cs typeface="Calibri" pitchFamily="34" charset="-120"/>
              </a:rPr>
              <a:t>Consent Layer</a:t>
            </a:r>
            <a:endParaRPr lang="en-US" sz="1150" dirty="0"/>
          </a:p>
        </p:txBody>
      </p:sp>
      <p:sp>
        <p:nvSpPr>
          <p:cNvPr id="41" name="Text 39"/>
          <p:cNvSpPr/>
          <p:nvPr/>
        </p:nvSpPr>
        <p:spPr>
          <a:xfrm>
            <a:off x="4297680" y="4005072"/>
            <a:ext cx="32004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&lt;500ms propagation</a:t>
            </a:r>
            <a:endParaRPr lang="en-US" sz="950" dirty="0"/>
          </a:p>
        </p:txBody>
      </p:sp>
      <p:sp>
        <p:nvSpPr>
          <p:cNvPr id="42" name="Shape 40"/>
          <p:cNvSpPr/>
          <p:nvPr/>
        </p:nvSpPr>
        <p:spPr>
          <a:xfrm>
            <a:off x="4114800" y="4416552"/>
            <a:ext cx="3566160" cy="621792"/>
          </a:xfrm>
          <a:prstGeom prst="rect">
            <a:avLst/>
          </a:prstGeom>
          <a:solidFill>
            <a:srgbClr val="EFF6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43" name="Shape 41"/>
          <p:cNvSpPr/>
          <p:nvPr/>
        </p:nvSpPr>
        <p:spPr>
          <a:xfrm>
            <a:off x="4114800" y="4416552"/>
            <a:ext cx="54864" cy="621792"/>
          </a:xfrm>
          <a:prstGeom prst="rect">
            <a:avLst/>
          </a:prstGeom>
          <a:solidFill>
            <a:srgbClr val="0063AB"/>
          </a:solidFill>
          <a:ln w="12700">
            <a:solidFill>
              <a:srgbClr val="0063AB"/>
            </a:solidFill>
            <a:prstDash val="solid"/>
          </a:ln>
        </p:spPr>
      </p:sp>
      <p:sp>
        <p:nvSpPr>
          <p:cNvPr id="44" name="Text 42"/>
          <p:cNvSpPr/>
          <p:nvPr/>
        </p:nvSpPr>
        <p:spPr>
          <a:xfrm>
            <a:off x="4297680" y="4489704"/>
            <a:ext cx="3200400" cy="256032"/>
          </a:xfrm>
          <a:prstGeom prst="rect">
            <a:avLst/>
          </a:prstGeom>
          <a:noFill/>
          <a:ln/>
        </p:spPr>
        <p:txBody>
          <a:bodyPr wrap="square" lIns="0" tIns="0" rIns="0" bIns="0" rtlCol="0" anchor="ctr"/>
          <a:lstStyle/>
          <a:p>
            <a:pPr indent="0" marL="0">
              <a:buNone/>
            </a:pPr>
            <a:r>
              <a:rPr lang="en-US" sz="1150" b="1" dirty="0">
                <a:solidFill>
                  <a:srgbClr val="003A61"/>
                </a:solidFill>
                <a:latin typeface="Calibri" pitchFamily="34" charset="0"/>
                <a:ea typeface="Calibri" pitchFamily="34" charset="-122"/>
                <a:cs typeface="Calibri" pitchFamily="34" charset="-120"/>
              </a:rPr>
              <a:t>Connector Pack</a:t>
            </a:r>
            <a:endParaRPr lang="en-US" sz="1150" dirty="0"/>
          </a:p>
        </p:txBody>
      </p:sp>
      <p:sp>
        <p:nvSpPr>
          <p:cNvPr id="45" name="Text 43"/>
          <p:cNvSpPr/>
          <p:nvPr/>
        </p:nvSpPr>
        <p:spPr>
          <a:xfrm>
            <a:off x="4297680" y="4754880"/>
            <a:ext cx="32004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15 pre-built connectors</a:t>
            </a:r>
            <a:endParaRPr lang="en-US" sz="950" dirty="0"/>
          </a:p>
        </p:txBody>
      </p:sp>
      <p:sp>
        <p:nvSpPr>
          <p:cNvPr id="46" name="Shape 44"/>
          <p:cNvSpPr/>
          <p:nvPr/>
        </p:nvSpPr>
        <p:spPr>
          <a:xfrm>
            <a:off x="8046720" y="1417320"/>
            <a:ext cx="2468880" cy="621792"/>
          </a:xfrm>
          <a:prstGeom prst="rect">
            <a:avLst/>
          </a:prstGeom>
          <a:solidFill>
            <a:srgbClr val="F0F4FA"/>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47" name="Shape 45"/>
          <p:cNvSpPr/>
          <p:nvPr/>
        </p:nvSpPr>
        <p:spPr>
          <a:xfrm>
            <a:off x="8046720" y="1417320"/>
            <a:ext cx="54864" cy="621792"/>
          </a:xfrm>
          <a:prstGeom prst="rect">
            <a:avLst/>
          </a:prstGeom>
          <a:solidFill>
            <a:srgbClr val="003A61"/>
          </a:solidFill>
          <a:ln w="12700">
            <a:solidFill>
              <a:srgbClr val="003A61"/>
            </a:solidFill>
            <a:prstDash val="solid"/>
          </a:ln>
        </p:spPr>
      </p:sp>
      <p:sp>
        <p:nvSpPr>
          <p:cNvPr id="48" name="Text 46"/>
          <p:cNvSpPr/>
          <p:nvPr/>
        </p:nvSpPr>
        <p:spPr>
          <a:xfrm>
            <a:off x="8229600" y="1527048"/>
            <a:ext cx="2194560" cy="402336"/>
          </a:xfrm>
          <a:prstGeom prst="rect">
            <a:avLst/>
          </a:prstGeom>
          <a:noFill/>
          <a:ln/>
        </p:spPr>
        <p:txBody>
          <a:bodyPr wrap="square" lIns="0" tIns="0" rIns="0" bIns="0" rtlCol="0" anchor="ctr"/>
          <a:lstStyle/>
          <a:p>
            <a:pPr indent="0" marL="0">
              <a:buNone/>
            </a:pPr>
            <a:r>
              <a:rPr lang="en-US" sz="1050" dirty="0">
                <a:solidFill>
                  <a:srgbClr val="003A61"/>
                </a:solidFill>
                <a:latin typeface="Calibri" pitchFamily="34" charset="0"/>
                <a:ea typeface="Calibri" pitchFamily="34" charset="-122"/>
                <a:cs typeface="Calibri" pitchFamily="34" charset="-120"/>
              </a:rPr>
              <a:t>Interaction History (IH)</a:t>
            </a:r>
            <a:endParaRPr lang="en-US" sz="1050" dirty="0"/>
          </a:p>
        </p:txBody>
      </p:sp>
      <p:sp>
        <p:nvSpPr>
          <p:cNvPr id="49" name="Shape 47"/>
          <p:cNvSpPr/>
          <p:nvPr/>
        </p:nvSpPr>
        <p:spPr>
          <a:xfrm>
            <a:off x="8046720" y="2167128"/>
            <a:ext cx="2468880" cy="621792"/>
          </a:xfrm>
          <a:prstGeom prst="rect">
            <a:avLst/>
          </a:prstGeom>
          <a:solidFill>
            <a:srgbClr val="F0F4FA"/>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50" name="Shape 48"/>
          <p:cNvSpPr/>
          <p:nvPr/>
        </p:nvSpPr>
        <p:spPr>
          <a:xfrm>
            <a:off x="8046720" y="2167128"/>
            <a:ext cx="54864" cy="621792"/>
          </a:xfrm>
          <a:prstGeom prst="rect">
            <a:avLst/>
          </a:prstGeom>
          <a:solidFill>
            <a:srgbClr val="003A61"/>
          </a:solidFill>
          <a:ln w="12700">
            <a:solidFill>
              <a:srgbClr val="003A61"/>
            </a:solidFill>
            <a:prstDash val="solid"/>
          </a:ln>
        </p:spPr>
      </p:sp>
      <p:sp>
        <p:nvSpPr>
          <p:cNvPr id="51" name="Text 49"/>
          <p:cNvSpPr/>
          <p:nvPr/>
        </p:nvSpPr>
        <p:spPr>
          <a:xfrm>
            <a:off x="8229600" y="2276856"/>
            <a:ext cx="2194560" cy="402336"/>
          </a:xfrm>
          <a:prstGeom prst="rect">
            <a:avLst/>
          </a:prstGeom>
          <a:noFill/>
          <a:ln/>
        </p:spPr>
        <p:txBody>
          <a:bodyPr wrap="square" lIns="0" tIns="0" rIns="0" bIns="0" rtlCol="0" anchor="ctr"/>
          <a:lstStyle/>
          <a:p>
            <a:pPr indent="0" marL="0">
              <a:buNone/>
            </a:pPr>
            <a:r>
              <a:rPr lang="en-US" sz="1050" dirty="0">
                <a:solidFill>
                  <a:srgbClr val="003A61"/>
                </a:solidFill>
                <a:latin typeface="Calibri" pitchFamily="34" charset="0"/>
                <a:ea typeface="Calibri" pitchFamily="34" charset="-122"/>
                <a:cs typeface="Calibri" pitchFamily="34" charset="-120"/>
              </a:rPr>
              <a:t>Customer Profile</a:t>
            </a:r>
            <a:endParaRPr lang="en-US" sz="1050" dirty="0"/>
          </a:p>
        </p:txBody>
      </p:sp>
      <p:sp>
        <p:nvSpPr>
          <p:cNvPr id="52" name="Shape 50"/>
          <p:cNvSpPr/>
          <p:nvPr/>
        </p:nvSpPr>
        <p:spPr>
          <a:xfrm>
            <a:off x="8046720" y="2916936"/>
            <a:ext cx="2468880" cy="621792"/>
          </a:xfrm>
          <a:prstGeom prst="rect">
            <a:avLst/>
          </a:prstGeom>
          <a:solidFill>
            <a:srgbClr val="F0F4FA"/>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53" name="Shape 51"/>
          <p:cNvSpPr/>
          <p:nvPr/>
        </p:nvSpPr>
        <p:spPr>
          <a:xfrm>
            <a:off x="8046720" y="2916936"/>
            <a:ext cx="54864" cy="621792"/>
          </a:xfrm>
          <a:prstGeom prst="rect">
            <a:avLst/>
          </a:prstGeom>
          <a:solidFill>
            <a:srgbClr val="003A61"/>
          </a:solidFill>
          <a:ln w="12700">
            <a:solidFill>
              <a:srgbClr val="003A61"/>
            </a:solidFill>
            <a:prstDash val="solid"/>
          </a:ln>
        </p:spPr>
      </p:sp>
      <p:sp>
        <p:nvSpPr>
          <p:cNvPr id="54" name="Text 52"/>
          <p:cNvSpPr/>
          <p:nvPr/>
        </p:nvSpPr>
        <p:spPr>
          <a:xfrm>
            <a:off x="8229600" y="3026664"/>
            <a:ext cx="2194560" cy="402336"/>
          </a:xfrm>
          <a:prstGeom prst="rect">
            <a:avLst/>
          </a:prstGeom>
          <a:noFill/>
          <a:ln/>
        </p:spPr>
        <p:txBody>
          <a:bodyPr wrap="square" lIns="0" tIns="0" rIns="0" bIns="0" rtlCol="0" anchor="ctr"/>
          <a:lstStyle/>
          <a:p>
            <a:pPr indent="0" marL="0">
              <a:buNone/>
            </a:pPr>
            <a:r>
              <a:rPr lang="en-US" sz="1050" dirty="0">
                <a:solidFill>
                  <a:srgbClr val="003A61"/>
                </a:solidFill>
                <a:latin typeface="Calibri" pitchFamily="34" charset="0"/>
                <a:ea typeface="Calibri" pitchFamily="34" charset="-122"/>
                <a:cs typeface="Calibri" pitchFamily="34" charset="-120"/>
              </a:rPr>
              <a:t>NBA Engine</a:t>
            </a:r>
            <a:endParaRPr lang="en-US" sz="1050" dirty="0"/>
          </a:p>
        </p:txBody>
      </p:sp>
      <p:sp>
        <p:nvSpPr>
          <p:cNvPr id="55" name="Shape 53"/>
          <p:cNvSpPr/>
          <p:nvPr/>
        </p:nvSpPr>
        <p:spPr>
          <a:xfrm>
            <a:off x="8046720" y="3666744"/>
            <a:ext cx="2468880" cy="621792"/>
          </a:xfrm>
          <a:prstGeom prst="rect">
            <a:avLst/>
          </a:prstGeom>
          <a:solidFill>
            <a:srgbClr val="F0F4FA"/>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56" name="Shape 54"/>
          <p:cNvSpPr/>
          <p:nvPr/>
        </p:nvSpPr>
        <p:spPr>
          <a:xfrm>
            <a:off x="8046720" y="3666744"/>
            <a:ext cx="54864" cy="621792"/>
          </a:xfrm>
          <a:prstGeom prst="rect">
            <a:avLst/>
          </a:prstGeom>
          <a:solidFill>
            <a:srgbClr val="003A61"/>
          </a:solidFill>
          <a:ln w="12700">
            <a:solidFill>
              <a:srgbClr val="003A61"/>
            </a:solidFill>
            <a:prstDash val="solid"/>
          </a:ln>
        </p:spPr>
      </p:sp>
      <p:sp>
        <p:nvSpPr>
          <p:cNvPr id="57" name="Text 55"/>
          <p:cNvSpPr/>
          <p:nvPr/>
        </p:nvSpPr>
        <p:spPr>
          <a:xfrm>
            <a:off x="8229600" y="3776472"/>
            <a:ext cx="2194560" cy="402336"/>
          </a:xfrm>
          <a:prstGeom prst="rect">
            <a:avLst/>
          </a:prstGeom>
          <a:noFill/>
          <a:ln/>
        </p:spPr>
        <p:txBody>
          <a:bodyPr wrap="square" lIns="0" tIns="0" rIns="0" bIns="0" rtlCol="0" anchor="ctr"/>
          <a:lstStyle/>
          <a:p>
            <a:pPr indent="0" marL="0">
              <a:buNone/>
            </a:pPr>
            <a:r>
              <a:rPr lang="en-US" sz="1050" dirty="0">
                <a:solidFill>
                  <a:srgbClr val="003A61"/>
                </a:solidFill>
                <a:latin typeface="Calibri" pitchFamily="34" charset="0"/>
                <a:ea typeface="Calibri" pitchFamily="34" charset="-122"/>
                <a:cs typeface="Calibri" pitchFamily="34" charset="-120"/>
              </a:rPr>
              <a:t>Adaptive Models</a:t>
            </a:r>
            <a:endParaRPr lang="en-US" sz="1050" dirty="0"/>
          </a:p>
        </p:txBody>
      </p:sp>
      <p:sp>
        <p:nvSpPr>
          <p:cNvPr id="58" name="Shape 56"/>
          <p:cNvSpPr/>
          <p:nvPr/>
        </p:nvSpPr>
        <p:spPr>
          <a:xfrm>
            <a:off x="8046720" y="4416552"/>
            <a:ext cx="2468880" cy="621792"/>
          </a:xfrm>
          <a:prstGeom prst="rect">
            <a:avLst/>
          </a:prstGeom>
          <a:solidFill>
            <a:srgbClr val="F0F4FA"/>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59" name="Shape 57"/>
          <p:cNvSpPr/>
          <p:nvPr/>
        </p:nvSpPr>
        <p:spPr>
          <a:xfrm>
            <a:off x="8046720" y="4416552"/>
            <a:ext cx="54864" cy="621792"/>
          </a:xfrm>
          <a:prstGeom prst="rect">
            <a:avLst/>
          </a:prstGeom>
          <a:solidFill>
            <a:srgbClr val="003A61"/>
          </a:solidFill>
          <a:ln w="12700">
            <a:solidFill>
              <a:srgbClr val="003A61"/>
            </a:solidFill>
            <a:prstDash val="solid"/>
          </a:ln>
        </p:spPr>
      </p:sp>
      <p:sp>
        <p:nvSpPr>
          <p:cNvPr id="60" name="Text 58"/>
          <p:cNvSpPr/>
          <p:nvPr/>
        </p:nvSpPr>
        <p:spPr>
          <a:xfrm>
            <a:off x="8229600" y="4526280"/>
            <a:ext cx="2194560" cy="402336"/>
          </a:xfrm>
          <a:prstGeom prst="rect">
            <a:avLst/>
          </a:prstGeom>
          <a:noFill/>
          <a:ln/>
        </p:spPr>
        <p:txBody>
          <a:bodyPr wrap="square" lIns="0" tIns="0" rIns="0" bIns="0" rtlCol="0" anchor="ctr"/>
          <a:lstStyle/>
          <a:p>
            <a:pPr indent="0" marL="0">
              <a:buNone/>
            </a:pPr>
            <a:r>
              <a:rPr lang="en-US" sz="1050" dirty="0">
                <a:solidFill>
                  <a:srgbClr val="003A61"/>
                </a:solidFill>
                <a:latin typeface="Calibri" pitchFamily="34" charset="0"/>
                <a:ea typeface="Calibri" pitchFamily="34" charset="-122"/>
                <a:cs typeface="Calibri" pitchFamily="34" charset="-120"/>
              </a:rPr>
              <a:t>Decision Analytics</a:t>
            </a:r>
            <a:endParaRPr lang="en-US" sz="1050" dirty="0"/>
          </a:p>
        </p:txBody>
      </p:sp>
      <p:sp>
        <p:nvSpPr>
          <p:cNvPr id="61" name="Text 59"/>
          <p:cNvSpPr/>
          <p:nvPr/>
        </p:nvSpPr>
        <p:spPr>
          <a:xfrm>
            <a:off x="10652760" y="1572768"/>
            <a:ext cx="1463040" cy="402336"/>
          </a:xfrm>
          <a:prstGeom prst="rect">
            <a:avLst/>
          </a:prstGeom>
          <a:noFill/>
          <a:ln/>
        </p:spPr>
        <p:txBody>
          <a:bodyPr wrap="square" lIns="0" tIns="0" rIns="0" bIns="0" rtlCol="0" anchor="ctr"/>
          <a:lstStyle/>
          <a:p>
            <a:pPr indent="0" marL="0">
              <a:buNone/>
            </a:pPr>
            <a:r>
              <a:rPr lang="en-US" sz="950" b="1" dirty="0">
                <a:solidFill>
                  <a:srgbClr val="16A34A"/>
                </a:solidFill>
                <a:latin typeface="Calibri" pitchFamily="34" charset="0"/>
                <a:ea typeface="Calibri" pitchFamily="34" charset="-122"/>
                <a:cs typeface="Calibri" pitchFamily="34" charset="-120"/>
              </a:rPr>
              <a:t>→ +23% NBA lift</a:t>
            </a:r>
            <a:endParaRPr lang="en-US" sz="950" dirty="0"/>
          </a:p>
        </p:txBody>
      </p:sp>
      <p:sp>
        <p:nvSpPr>
          <p:cNvPr id="62" name="Text 60"/>
          <p:cNvSpPr/>
          <p:nvPr/>
        </p:nvSpPr>
        <p:spPr>
          <a:xfrm>
            <a:off x="10652760" y="2322576"/>
            <a:ext cx="1463040" cy="402336"/>
          </a:xfrm>
          <a:prstGeom prst="rect">
            <a:avLst/>
          </a:prstGeom>
          <a:noFill/>
          <a:ln/>
        </p:spPr>
        <p:txBody>
          <a:bodyPr wrap="square" lIns="0" tIns="0" rIns="0" bIns="0" rtlCol="0" anchor="ctr"/>
          <a:lstStyle/>
          <a:p>
            <a:pPr indent="0" marL="0">
              <a:buNone/>
            </a:pPr>
            <a:r>
              <a:rPr lang="en-US" sz="950" b="1" dirty="0">
                <a:solidFill>
                  <a:srgbClr val="16A34A"/>
                </a:solidFill>
                <a:latin typeface="Calibri" pitchFamily="34" charset="0"/>
                <a:ea typeface="Calibri" pitchFamily="34" charset="-122"/>
                <a:cs typeface="Calibri" pitchFamily="34" charset="-120"/>
              </a:rPr>
              <a:t>→ &gt;94% match rate</a:t>
            </a:r>
            <a:endParaRPr lang="en-US" sz="950" dirty="0"/>
          </a:p>
        </p:txBody>
      </p:sp>
      <p:sp>
        <p:nvSpPr>
          <p:cNvPr id="63" name="Text 61"/>
          <p:cNvSpPr/>
          <p:nvPr/>
        </p:nvSpPr>
        <p:spPr>
          <a:xfrm>
            <a:off x="10652760" y="3072384"/>
            <a:ext cx="1463040" cy="402336"/>
          </a:xfrm>
          <a:prstGeom prst="rect">
            <a:avLst/>
          </a:prstGeom>
          <a:noFill/>
          <a:ln/>
        </p:spPr>
        <p:txBody>
          <a:bodyPr wrap="square" lIns="0" tIns="0" rIns="0" bIns="0" rtlCol="0" anchor="ctr"/>
          <a:lstStyle/>
          <a:p>
            <a:pPr indent="0" marL="0">
              <a:buNone/>
            </a:pPr>
            <a:r>
              <a:rPr lang="en-US" sz="950" b="1" dirty="0">
                <a:solidFill>
                  <a:srgbClr val="16A34A"/>
                </a:solidFill>
                <a:latin typeface="Calibri" pitchFamily="34" charset="0"/>
                <a:ea typeface="Calibri" pitchFamily="34" charset="-122"/>
                <a:cs typeface="Calibri" pitchFamily="34" charset="-120"/>
              </a:rPr>
              <a:t>→ &lt;500ms consent</a:t>
            </a:r>
            <a:endParaRPr lang="en-US" sz="950" dirty="0"/>
          </a:p>
        </p:txBody>
      </p:sp>
      <p:sp>
        <p:nvSpPr>
          <p:cNvPr id="64" name="Text 62"/>
          <p:cNvSpPr/>
          <p:nvPr/>
        </p:nvSpPr>
        <p:spPr>
          <a:xfrm>
            <a:off x="10652760" y="3822192"/>
            <a:ext cx="1463040" cy="402336"/>
          </a:xfrm>
          <a:prstGeom prst="rect">
            <a:avLst/>
          </a:prstGeom>
          <a:noFill/>
          <a:ln/>
        </p:spPr>
        <p:txBody>
          <a:bodyPr wrap="square" lIns="0" tIns="0" rIns="0" bIns="0" rtlCol="0" anchor="ctr"/>
          <a:lstStyle/>
          <a:p>
            <a:pPr indent="0" marL="0">
              <a:buNone/>
            </a:pPr>
            <a:r>
              <a:rPr lang="en-US" sz="950" b="1" dirty="0">
                <a:solidFill>
                  <a:srgbClr val="16A34A"/>
                </a:solidFill>
                <a:latin typeface="Calibri" pitchFamily="34" charset="0"/>
                <a:ea typeface="Calibri" pitchFamily="34" charset="-122"/>
                <a:cs typeface="Calibri" pitchFamily="34" charset="-120"/>
              </a:rPr>
              <a:t>→ &lt;100ms latency</a:t>
            </a:r>
            <a:endParaRPr lang="en-US" sz="950" dirty="0"/>
          </a:p>
        </p:txBody>
      </p:sp>
      <p:sp>
        <p:nvSpPr>
          <p:cNvPr id="65" name="Text 63"/>
          <p:cNvSpPr/>
          <p:nvPr/>
        </p:nvSpPr>
        <p:spPr>
          <a:xfrm>
            <a:off x="10652760" y="4572000"/>
            <a:ext cx="1463040" cy="402336"/>
          </a:xfrm>
          <a:prstGeom prst="rect">
            <a:avLst/>
          </a:prstGeom>
          <a:noFill/>
          <a:ln/>
        </p:spPr>
        <p:txBody>
          <a:bodyPr wrap="square" lIns="0" tIns="0" rIns="0" bIns="0" rtlCol="0" anchor="ctr"/>
          <a:lstStyle/>
          <a:p>
            <a:pPr indent="0" marL="0">
              <a:buNone/>
            </a:pPr>
            <a:r>
              <a:rPr lang="en-US" sz="950" b="1" dirty="0">
                <a:solidFill>
                  <a:srgbClr val="16A34A"/>
                </a:solidFill>
                <a:latin typeface="Calibri" pitchFamily="34" charset="0"/>
                <a:ea typeface="Calibri" pitchFamily="34" charset="-122"/>
                <a:cs typeface="Calibri" pitchFamily="34" charset="-120"/>
              </a:rPr>
              <a:t>→ 30-day go-live</a:t>
            </a:r>
            <a:endParaRPr lang="en-US" sz="950" dirty="0"/>
          </a:p>
        </p:txBody>
      </p:sp>
      <p:sp>
        <p:nvSpPr>
          <p:cNvPr id="66" name="Shape 64"/>
          <p:cNvSpPr/>
          <p:nvPr/>
        </p:nvSpPr>
        <p:spPr>
          <a:xfrm>
            <a:off x="3767328" y="1719072"/>
            <a:ext cx="329184" cy="0"/>
          </a:xfrm>
          <a:prstGeom prst="line">
            <a:avLst/>
          </a:prstGeom>
          <a:noFill/>
          <a:ln w="19050">
            <a:solidFill>
              <a:srgbClr val="0063AB"/>
            </a:solidFill>
            <a:prstDash val="solid"/>
          </a:ln>
        </p:spPr>
      </p:sp>
      <p:sp>
        <p:nvSpPr>
          <p:cNvPr id="67" name="Shape 65"/>
          <p:cNvSpPr/>
          <p:nvPr/>
        </p:nvSpPr>
        <p:spPr>
          <a:xfrm>
            <a:off x="7699248" y="1719072"/>
            <a:ext cx="329184" cy="0"/>
          </a:xfrm>
          <a:prstGeom prst="line">
            <a:avLst/>
          </a:prstGeom>
          <a:noFill/>
          <a:ln w="19050">
            <a:solidFill>
              <a:srgbClr val="003A61"/>
            </a:solidFill>
            <a:prstDash val="solid"/>
          </a:ln>
        </p:spPr>
      </p:sp>
      <p:sp>
        <p:nvSpPr>
          <p:cNvPr id="68" name="Shape 66"/>
          <p:cNvSpPr/>
          <p:nvPr/>
        </p:nvSpPr>
        <p:spPr>
          <a:xfrm>
            <a:off x="10533888" y="1719072"/>
            <a:ext cx="109728" cy="0"/>
          </a:xfrm>
          <a:prstGeom prst="line">
            <a:avLst/>
          </a:prstGeom>
          <a:noFill/>
          <a:ln w="19050">
            <a:solidFill>
              <a:srgbClr val="16A34A"/>
            </a:solidFill>
            <a:prstDash val="solid"/>
          </a:ln>
        </p:spPr>
      </p:sp>
      <p:sp>
        <p:nvSpPr>
          <p:cNvPr id="69" name="Shape 67"/>
          <p:cNvSpPr/>
          <p:nvPr/>
        </p:nvSpPr>
        <p:spPr>
          <a:xfrm>
            <a:off x="3767328" y="2468880"/>
            <a:ext cx="329184" cy="0"/>
          </a:xfrm>
          <a:prstGeom prst="line">
            <a:avLst/>
          </a:prstGeom>
          <a:noFill/>
          <a:ln w="19050">
            <a:solidFill>
              <a:srgbClr val="0063AB"/>
            </a:solidFill>
            <a:prstDash val="solid"/>
          </a:ln>
        </p:spPr>
      </p:sp>
      <p:sp>
        <p:nvSpPr>
          <p:cNvPr id="70" name="Shape 68"/>
          <p:cNvSpPr/>
          <p:nvPr/>
        </p:nvSpPr>
        <p:spPr>
          <a:xfrm>
            <a:off x="7699248" y="2468880"/>
            <a:ext cx="329184" cy="0"/>
          </a:xfrm>
          <a:prstGeom prst="line">
            <a:avLst/>
          </a:prstGeom>
          <a:noFill/>
          <a:ln w="19050">
            <a:solidFill>
              <a:srgbClr val="003A61"/>
            </a:solidFill>
            <a:prstDash val="solid"/>
          </a:ln>
        </p:spPr>
      </p:sp>
      <p:sp>
        <p:nvSpPr>
          <p:cNvPr id="71" name="Shape 69"/>
          <p:cNvSpPr/>
          <p:nvPr/>
        </p:nvSpPr>
        <p:spPr>
          <a:xfrm>
            <a:off x="10533888" y="2468880"/>
            <a:ext cx="109728" cy="0"/>
          </a:xfrm>
          <a:prstGeom prst="line">
            <a:avLst/>
          </a:prstGeom>
          <a:noFill/>
          <a:ln w="19050">
            <a:solidFill>
              <a:srgbClr val="16A34A"/>
            </a:solidFill>
            <a:prstDash val="solid"/>
          </a:ln>
        </p:spPr>
      </p:sp>
      <p:sp>
        <p:nvSpPr>
          <p:cNvPr id="72" name="Shape 70"/>
          <p:cNvSpPr/>
          <p:nvPr/>
        </p:nvSpPr>
        <p:spPr>
          <a:xfrm>
            <a:off x="3767328" y="3218688"/>
            <a:ext cx="329184" cy="0"/>
          </a:xfrm>
          <a:prstGeom prst="line">
            <a:avLst/>
          </a:prstGeom>
          <a:noFill/>
          <a:ln w="19050">
            <a:solidFill>
              <a:srgbClr val="0063AB"/>
            </a:solidFill>
            <a:prstDash val="solid"/>
          </a:ln>
        </p:spPr>
      </p:sp>
      <p:sp>
        <p:nvSpPr>
          <p:cNvPr id="73" name="Shape 71"/>
          <p:cNvSpPr/>
          <p:nvPr/>
        </p:nvSpPr>
        <p:spPr>
          <a:xfrm>
            <a:off x="7699248" y="3218688"/>
            <a:ext cx="329184" cy="0"/>
          </a:xfrm>
          <a:prstGeom prst="line">
            <a:avLst/>
          </a:prstGeom>
          <a:noFill/>
          <a:ln w="19050">
            <a:solidFill>
              <a:srgbClr val="003A61"/>
            </a:solidFill>
            <a:prstDash val="solid"/>
          </a:ln>
        </p:spPr>
      </p:sp>
      <p:sp>
        <p:nvSpPr>
          <p:cNvPr id="74" name="Shape 72"/>
          <p:cNvSpPr/>
          <p:nvPr/>
        </p:nvSpPr>
        <p:spPr>
          <a:xfrm>
            <a:off x="10533888" y="3218688"/>
            <a:ext cx="109728" cy="0"/>
          </a:xfrm>
          <a:prstGeom prst="line">
            <a:avLst/>
          </a:prstGeom>
          <a:noFill/>
          <a:ln w="19050">
            <a:solidFill>
              <a:srgbClr val="16A34A"/>
            </a:solidFill>
            <a:prstDash val="solid"/>
          </a:ln>
        </p:spPr>
      </p:sp>
      <p:sp>
        <p:nvSpPr>
          <p:cNvPr id="75" name="Shape 73"/>
          <p:cNvSpPr/>
          <p:nvPr/>
        </p:nvSpPr>
        <p:spPr>
          <a:xfrm>
            <a:off x="3767328" y="3968496"/>
            <a:ext cx="329184" cy="0"/>
          </a:xfrm>
          <a:prstGeom prst="line">
            <a:avLst/>
          </a:prstGeom>
          <a:noFill/>
          <a:ln w="19050">
            <a:solidFill>
              <a:srgbClr val="0063AB"/>
            </a:solidFill>
            <a:prstDash val="solid"/>
          </a:ln>
        </p:spPr>
      </p:sp>
      <p:sp>
        <p:nvSpPr>
          <p:cNvPr id="76" name="Shape 74"/>
          <p:cNvSpPr/>
          <p:nvPr/>
        </p:nvSpPr>
        <p:spPr>
          <a:xfrm>
            <a:off x="7699248" y="3968496"/>
            <a:ext cx="329184" cy="0"/>
          </a:xfrm>
          <a:prstGeom prst="line">
            <a:avLst/>
          </a:prstGeom>
          <a:noFill/>
          <a:ln w="19050">
            <a:solidFill>
              <a:srgbClr val="003A61"/>
            </a:solidFill>
            <a:prstDash val="solid"/>
          </a:ln>
        </p:spPr>
      </p:sp>
      <p:sp>
        <p:nvSpPr>
          <p:cNvPr id="77" name="Shape 75"/>
          <p:cNvSpPr/>
          <p:nvPr/>
        </p:nvSpPr>
        <p:spPr>
          <a:xfrm>
            <a:off x="10533888" y="3968496"/>
            <a:ext cx="109728" cy="0"/>
          </a:xfrm>
          <a:prstGeom prst="line">
            <a:avLst/>
          </a:prstGeom>
          <a:noFill/>
          <a:ln w="19050">
            <a:solidFill>
              <a:srgbClr val="16A34A"/>
            </a:solidFill>
            <a:prstDash val="solid"/>
          </a:ln>
        </p:spPr>
      </p:sp>
      <p:sp>
        <p:nvSpPr>
          <p:cNvPr id="78" name="Shape 76"/>
          <p:cNvSpPr/>
          <p:nvPr/>
        </p:nvSpPr>
        <p:spPr>
          <a:xfrm>
            <a:off x="3767328" y="4718304"/>
            <a:ext cx="329184" cy="0"/>
          </a:xfrm>
          <a:prstGeom prst="line">
            <a:avLst/>
          </a:prstGeom>
          <a:noFill/>
          <a:ln w="19050">
            <a:solidFill>
              <a:srgbClr val="0063AB"/>
            </a:solidFill>
            <a:prstDash val="solid"/>
          </a:ln>
        </p:spPr>
      </p:sp>
      <p:sp>
        <p:nvSpPr>
          <p:cNvPr id="79" name="Shape 77"/>
          <p:cNvSpPr/>
          <p:nvPr/>
        </p:nvSpPr>
        <p:spPr>
          <a:xfrm>
            <a:off x="7699248" y="4718304"/>
            <a:ext cx="329184" cy="0"/>
          </a:xfrm>
          <a:prstGeom prst="line">
            <a:avLst/>
          </a:prstGeom>
          <a:noFill/>
          <a:ln w="19050">
            <a:solidFill>
              <a:srgbClr val="003A61"/>
            </a:solidFill>
            <a:prstDash val="solid"/>
          </a:ln>
        </p:spPr>
      </p:sp>
      <p:sp>
        <p:nvSpPr>
          <p:cNvPr id="80" name="Shape 78"/>
          <p:cNvSpPr/>
          <p:nvPr/>
        </p:nvSpPr>
        <p:spPr>
          <a:xfrm>
            <a:off x="10533888" y="4718304"/>
            <a:ext cx="109728" cy="0"/>
          </a:xfrm>
          <a:prstGeom prst="line">
            <a:avLst/>
          </a:prstGeom>
          <a:noFill/>
          <a:ln w="19050">
            <a:solidFill>
              <a:srgbClr val="16A34A"/>
            </a:solidFill>
            <a:prstDash val="solid"/>
          </a:ln>
        </p:spPr>
      </p:sp>
      <p:sp>
        <p:nvSpPr>
          <p:cNvPr id="81" name="Shape 79"/>
          <p:cNvSpPr/>
          <p:nvPr/>
        </p:nvSpPr>
        <p:spPr>
          <a:xfrm>
            <a:off x="0" y="6565392"/>
            <a:ext cx="12188952" cy="292608"/>
          </a:xfrm>
          <a:prstGeom prst="rect">
            <a:avLst/>
          </a:prstGeom>
          <a:solidFill>
            <a:srgbClr val="003A61"/>
          </a:solidFill>
          <a:ln w="12700">
            <a:solidFill>
              <a:srgbClr val="003A61"/>
            </a:solidFill>
            <a:prstDash val="solid"/>
          </a:ln>
        </p:spPr>
      </p:sp>
      <p:sp>
        <p:nvSpPr>
          <p:cNvPr id="82" name="Text 80"/>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83" name="Text 81"/>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5 / 15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164592"/>
            <a:ext cx="11274552" cy="502920"/>
          </a:xfrm>
          <a:prstGeom prst="rect">
            <a:avLst/>
          </a:prstGeom>
          <a:noFill/>
          <a:ln/>
        </p:spPr>
        <p:txBody>
          <a:bodyPr wrap="square" lIns="0" tIns="0" rIns="0" bIns="0" rtlCol="0" anchor="ctr"/>
          <a:lstStyle/>
          <a:p>
            <a:pPr indent="0" marL="0">
              <a:buNone/>
            </a:pPr>
            <a:r>
              <a:rPr lang="en-US" sz="2800" b="1" dirty="0">
                <a:solidFill>
                  <a:srgbClr val="003A61"/>
                </a:solidFill>
                <a:latin typeface="Calibri" pitchFamily="34" charset="0"/>
                <a:ea typeface="Calibri" pitchFamily="34" charset="-122"/>
                <a:cs typeface="Calibri" pitchFamily="34" charset="-120"/>
              </a:rPr>
              <a:t>Five Features. One Product. Zero Custom Build.</a:t>
            </a:r>
            <a:endParaRPr lang="en-US" sz="2800" dirty="0"/>
          </a:p>
        </p:txBody>
      </p:sp>
      <p:sp>
        <p:nvSpPr>
          <p:cNvPr id="4" name="Text 2"/>
          <p:cNvSpPr/>
          <p:nvPr/>
        </p:nvSpPr>
        <p:spPr>
          <a:xfrm>
            <a:off x="457200" y="667512"/>
            <a:ext cx="11274552" cy="2743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Everything Pega CDH needs to deliver real-time NBA accuracy</a:t>
            </a:r>
            <a:endParaRPr lang="en-US" sz="1300" dirty="0"/>
          </a:p>
        </p:txBody>
      </p:sp>
      <p:sp>
        <p:nvSpPr>
          <p:cNvPr id="5" name="Shape 3"/>
          <p:cNvSpPr/>
          <p:nvPr/>
        </p:nvSpPr>
        <p:spPr>
          <a:xfrm>
            <a:off x="457200" y="914400"/>
            <a:ext cx="11274552" cy="27432"/>
          </a:xfrm>
          <a:prstGeom prst="rect">
            <a:avLst/>
          </a:prstGeom>
          <a:solidFill>
            <a:srgbClr val="E2E8F0"/>
          </a:solidFill>
          <a:ln w="12700">
            <a:solidFill>
              <a:srgbClr val="E2E8F0"/>
            </a:solidFill>
            <a:prstDash val="solid"/>
          </a:ln>
        </p:spPr>
      </p:sp>
      <p:sp>
        <p:nvSpPr>
          <p:cNvPr id="6" name="Shape 4"/>
          <p:cNvSpPr/>
          <p:nvPr/>
        </p:nvSpPr>
        <p:spPr>
          <a:xfrm>
            <a:off x="365760" y="1115568"/>
            <a:ext cx="5486400" cy="201168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7" name="Shape 5"/>
          <p:cNvSpPr/>
          <p:nvPr/>
        </p:nvSpPr>
        <p:spPr>
          <a:xfrm>
            <a:off x="365760" y="1115568"/>
            <a:ext cx="54864" cy="2011680"/>
          </a:xfrm>
          <a:prstGeom prst="rect">
            <a:avLst/>
          </a:prstGeom>
          <a:solidFill>
            <a:srgbClr val="0063AB"/>
          </a:solidFill>
          <a:ln w="12700">
            <a:solidFill>
              <a:srgbClr val="0063AB"/>
            </a:solidFill>
            <a:prstDash val="solid"/>
          </a:ln>
        </p:spPr>
      </p:sp>
      <p:sp>
        <p:nvSpPr>
          <p:cNvPr id="8" name="Text 6"/>
          <p:cNvSpPr/>
          <p:nvPr/>
        </p:nvSpPr>
        <p:spPr>
          <a:xfrm>
            <a:off x="566928" y="1234440"/>
            <a:ext cx="1828800" cy="457200"/>
          </a:xfrm>
          <a:prstGeom prst="rect">
            <a:avLst/>
          </a:prstGeom>
          <a:noFill/>
          <a:ln/>
        </p:spPr>
        <p:txBody>
          <a:bodyPr wrap="square" lIns="0" tIns="0" rIns="0" bIns="0" rtlCol="0" anchor="ctr"/>
          <a:lstStyle/>
          <a:p>
            <a:pPr indent="0" marL="0">
              <a:buNone/>
            </a:pPr>
            <a:r>
              <a:rPr lang="en-US" sz="1500" b="1" dirty="0">
                <a:solidFill>
                  <a:srgbClr val="0063AB"/>
                </a:solidFill>
                <a:latin typeface="Calibri" pitchFamily="34" charset="0"/>
                <a:ea typeface="Calibri" pitchFamily="34" charset="-122"/>
                <a:cs typeface="Calibri" pitchFamily="34" charset="-120"/>
              </a:rPr>
              <a:t>01  📡</a:t>
            </a:r>
            <a:endParaRPr lang="en-US" sz="1500" dirty="0"/>
          </a:p>
        </p:txBody>
      </p:sp>
      <p:sp>
        <p:nvSpPr>
          <p:cNvPr id="9" name="Text 7"/>
          <p:cNvSpPr/>
          <p:nvPr/>
        </p:nvSpPr>
        <p:spPr>
          <a:xfrm>
            <a:off x="493776" y="1719072"/>
            <a:ext cx="5212080" cy="411480"/>
          </a:xfrm>
          <a:prstGeom prst="rect">
            <a:avLst/>
          </a:prstGeom>
          <a:noFill/>
          <a:ln/>
        </p:spPr>
        <p:txBody>
          <a:bodyPr wrap="square" lIns="0" tIns="0" rIns="0" bIns="0" rtlCol="0" anchor="ctr"/>
          <a:lstStyle/>
          <a:p>
            <a:pPr indent="0" marL="0">
              <a:buNone/>
            </a:pPr>
            <a:r>
              <a:rPr lang="en-US" sz="1400" b="1" dirty="0">
                <a:solidFill>
                  <a:srgbClr val="003A61"/>
                </a:solidFill>
                <a:latin typeface="Calibri" pitchFamily="34" charset="0"/>
                <a:ea typeface="Calibri" pitchFamily="34" charset="-122"/>
                <a:cs typeface="Calibri" pitchFamily="34" charset="-120"/>
              </a:rPr>
              <a:t>Universal Event Collector</a:t>
            </a:r>
            <a:endParaRPr lang="en-US" sz="1400" dirty="0"/>
          </a:p>
        </p:txBody>
      </p:sp>
      <p:sp>
        <p:nvSpPr>
          <p:cNvPr id="10" name="Text 8"/>
          <p:cNvSpPr/>
          <p:nvPr/>
        </p:nvSpPr>
        <p:spPr>
          <a:xfrm>
            <a:off x="493776" y="2157984"/>
            <a:ext cx="5212080" cy="80467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2KB JS snippet captures web, mobile, and call centre events. Auto-maps to Pega CDH Interaction History schema. No manual mapping required.</a:t>
            </a:r>
            <a:endParaRPr lang="en-US" sz="1100" dirty="0"/>
          </a:p>
        </p:txBody>
      </p:sp>
      <p:sp>
        <p:nvSpPr>
          <p:cNvPr id="11" name="Shape 9"/>
          <p:cNvSpPr/>
          <p:nvPr/>
        </p:nvSpPr>
        <p:spPr>
          <a:xfrm>
            <a:off x="6126480" y="1115568"/>
            <a:ext cx="5486400" cy="201168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2" name="Shape 10"/>
          <p:cNvSpPr/>
          <p:nvPr/>
        </p:nvSpPr>
        <p:spPr>
          <a:xfrm>
            <a:off x="6126480" y="1115568"/>
            <a:ext cx="54864" cy="2011680"/>
          </a:xfrm>
          <a:prstGeom prst="rect">
            <a:avLst/>
          </a:prstGeom>
          <a:solidFill>
            <a:srgbClr val="003A61"/>
          </a:solidFill>
          <a:ln w="12700">
            <a:solidFill>
              <a:srgbClr val="003A61"/>
            </a:solidFill>
            <a:prstDash val="solid"/>
          </a:ln>
        </p:spPr>
      </p:sp>
      <p:sp>
        <p:nvSpPr>
          <p:cNvPr id="13" name="Text 11"/>
          <p:cNvSpPr/>
          <p:nvPr/>
        </p:nvSpPr>
        <p:spPr>
          <a:xfrm>
            <a:off x="6327648" y="1234440"/>
            <a:ext cx="1828800" cy="457200"/>
          </a:xfrm>
          <a:prstGeom prst="rect">
            <a:avLst/>
          </a:prstGeom>
          <a:noFill/>
          <a:ln/>
        </p:spPr>
        <p:txBody>
          <a:bodyPr wrap="square" lIns="0" tIns="0" rIns="0" bIns="0" rtlCol="0" anchor="ctr"/>
          <a:lstStyle/>
          <a:p>
            <a:pPr indent="0" marL="0">
              <a:buNone/>
            </a:pPr>
            <a:r>
              <a:rPr lang="en-US" sz="1500" b="1" dirty="0">
                <a:solidFill>
                  <a:srgbClr val="003A61"/>
                </a:solidFill>
                <a:latin typeface="Calibri" pitchFamily="34" charset="0"/>
                <a:ea typeface="Calibri" pitchFamily="34" charset="-122"/>
                <a:cs typeface="Calibri" pitchFamily="34" charset="-120"/>
              </a:rPr>
              <a:t>02  👤</a:t>
            </a:r>
            <a:endParaRPr lang="en-US" sz="1500" dirty="0"/>
          </a:p>
        </p:txBody>
      </p:sp>
      <p:sp>
        <p:nvSpPr>
          <p:cNvPr id="14" name="Text 12"/>
          <p:cNvSpPr/>
          <p:nvPr/>
        </p:nvSpPr>
        <p:spPr>
          <a:xfrm>
            <a:off x="6254496" y="1719072"/>
            <a:ext cx="5212080" cy="411480"/>
          </a:xfrm>
          <a:prstGeom prst="rect">
            <a:avLst/>
          </a:prstGeom>
          <a:noFill/>
          <a:ln/>
        </p:spPr>
        <p:txBody>
          <a:bodyPr wrap="square" lIns="0" tIns="0" rIns="0" bIns="0" rtlCol="0" anchor="ctr"/>
          <a:lstStyle/>
          <a:p>
            <a:pPr indent="0" marL="0">
              <a:buNone/>
            </a:pPr>
            <a:r>
              <a:rPr lang="en-US" sz="1400" b="1" dirty="0">
                <a:solidFill>
                  <a:srgbClr val="003A61"/>
                </a:solidFill>
                <a:latin typeface="Calibri" pitchFamily="34" charset="0"/>
                <a:ea typeface="Calibri" pitchFamily="34" charset="-122"/>
                <a:cs typeface="Calibri" pitchFamily="34" charset="-120"/>
              </a:rPr>
              <a:t>Profile Unification Router</a:t>
            </a:r>
            <a:endParaRPr lang="en-US" sz="1400" dirty="0"/>
          </a:p>
        </p:txBody>
      </p:sp>
      <p:sp>
        <p:nvSpPr>
          <p:cNvPr id="15" name="Text 13"/>
          <p:cNvSpPr/>
          <p:nvPr/>
        </p:nvSpPr>
        <p:spPr>
          <a:xfrm>
            <a:off x="6254496" y="2157984"/>
            <a:ext cx="5212080" cy="80467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Redis-backed unified profiles. Sub-100ms reads. 15 source connectors ingest CRM, DWH, and CCaaS data in real time. Served to CDH on demand.</a:t>
            </a:r>
            <a:endParaRPr lang="en-US" sz="1100" dirty="0"/>
          </a:p>
        </p:txBody>
      </p:sp>
      <p:sp>
        <p:nvSpPr>
          <p:cNvPr id="16" name="Shape 14"/>
          <p:cNvSpPr/>
          <p:nvPr/>
        </p:nvSpPr>
        <p:spPr>
          <a:xfrm>
            <a:off x="365760" y="3291840"/>
            <a:ext cx="3657600" cy="201168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7" name="Shape 15"/>
          <p:cNvSpPr/>
          <p:nvPr/>
        </p:nvSpPr>
        <p:spPr>
          <a:xfrm>
            <a:off x="365760" y="3291840"/>
            <a:ext cx="54864" cy="2011680"/>
          </a:xfrm>
          <a:prstGeom prst="rect">
            <a:avLst/>
          </a:prstGeom>
          <a:solidFill>
            <a:srgbClr val="16A34A"/>
          </a:solidFill>
          <a:ln w="12700">
            <a:solidFill>
              <a:srgbClr val="16A34A"/>
            </a:solidFill>
            <a:prstDash val="solid"/>
          </a:ln>
        </p:spPr>
      </p:sp>
      <p:sp>
        <p:nvSpPr>
          <p:cNvPr id="18" name="Text 16"/>
          <p:cNvSpPr/>
          <p:nvPr/>
        </p:nvSpPr>
        <p:spPr>
          <a:xfrm>
            <a:off x="566928" y="3401568"/>
            <a:ext cx="1828800" cy="411480"/>
          </a:xfrm>
          <a:prstGeom prst="rect">
            <a:avLst/>
          </a:prstGeom>
          <a:noFill/>
          <a:ln/>
        </p:spPr>
        <p:txBody>
          <a:bodyPr wrap="square" lIns="0" tIns="0" rIns="0" bIns="0"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03  🔄</a:t>
            </a:r>
            <a:endParaRPr lang="en-US" sz="1400" dirty="0"/>
          </a:p>
        </p:txBody>
      </p:sp>
      <p:sp>
        <p:nvSpPr>
          <p:cNvPr id="19" name="Text 17"/>
          <p:cNvSpPr/>
          <p:nvPr/>
        </p:nvSpPr>
        <p:spPr>
          <a:xfrm>
            <a:off x="493776" y="3840480"/>
            <a:ext cx="3383280" cy="384048"/>
          </a:xfrm>
          <a:prstGeom prst="rect">
            <a:avLst/>
          </a:prstGeom>
          <a:noFill/>
          <a:ln/>
        </p:spPr>
        <p:txBody>
          <a:bodyPr wrap="square" lIns="0" tIns="0" rIns="0" bIns="0" rtlCol="0" anchor="ctr"/>
          <a:lstStyle/>
          <a:p>
            <a:pPr indent="0" marL="0">
              <a:buNone/>
            </a:pPr>
            <a:r>
              <a:rPr lang="en-US" sz="1250" b="1" dirty="0">
                <a:solidFill>
                  <a:srgbClr val="003A61"/>
                </a:solidFill>
                <a:latin typeface="Calibri" pitchFamily="34" charset="0"/>
                <a:ea typeface="Calibri" pitchFamily="34" charset="-122"/>
                <a:cs typeface="Calibri" pitchFamily="34" charset="-120"/>
              </a:rPr>
              <a:t>CDH Feedback Loop</a:t>
            </a:r>
            <a:endParaRPr lang="en-US" sz="1250" dirty="0"/>
          </a:p>
        </p:txBody>
      </p:sp>
      <p:sp>
        <p:nvSpPr>
          <p:cNvPr id="20" name="Text 18"/>
          <p:cNvSpPr/>
          <p:nvPr/>
        </p:nvSpPr>
        <p:spPr>
          <a:xfrm>
            <a:off x="493776" y="4251960"/>
            <a:ext cx="3383280" cy="8412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Records NBA outcomes (accept, reject, convert) back to profiles. CDH Adaptive Models train faster with richer cross-channel context.</a:t>
            </a:r>
            <a:endParaRPr lang="en-US" sz="1050" dirty="0"/>
          </a:p>
        </p:txBody>
      </p:sp>
      <p:sp>
        <p:nvSpPr>
          <p:cNvPr id="21" name="Shape 19"/>
          <p:cNvSpPr/>
          <p:nvPr/>
        </p:nvSpPr>
        <p:spPr>
          <a:xfrm>
            <a:off x="4251960" y="3291840"/>
            <a:ext cx="3657600" cy="201168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2" name="Shape 20"/>
          <p:cNvSpPr/>
          <p:nvPr/>
        </p:nvSpPr>
        <p:spPr>
          <a:xfrm>
            <a:off x="4251960" y="3291840"/>
            <a:ext cx="54864" cy="2011680"/>
          </a:xfrm>
          <a:prstGeom prst="rect">
            <a:avLst/>
          </a:prstGeom>
          <a:solidFill>
            <a:srgbClr val="D97706"/>
          </a:solidFill>
          <a:ln w="12700">
            <a:solidFill>
              <a:srgbClr val="D97706"/>
            </a:solidFill>
            <a:prstDash val="solid"/>
          </a:ln>
        </p:spPr>
      </p:sp>
      <p:sp>
        <p:nvSpPr>
          <p:cNvPr id="23" name="Text 21"/>
          <p:cNvSpPr/>
          <p:nvPr/>
        </p:nvSpPr>
        <p:spPr>
          <a:xfrm>
            <a:off x="4453128" y="3401568"/>
            <a:ext cx="1828800" cy="41148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04  🔒</a:t>
            </a:r>
            <a:endParaRPr lang="en-US" sz="1400" dirty="0"/>
          </a:p>
        </p:txBody>
      </p:sp>
      <p:sp>
        <p:nvSpPr>
          <p:cNvPr id="24" name="Text 22"/>
          <p:cNvSpPr/>
          <p:nvPr/>
        </p:nvSpPr>
        <p:spPr>
          <a:xfrm>
            <a:off x="4379976" y="3840480"/>
            <a:ext cx="3383280" cy="384048"/>
          </a:xfrm>
          <a:prstGeom prst="rect">
            <a:avLst/>
          </a:prstGeom>
          <a:noFill/>
          <a:ln/>
        </p:spPr>
        <p:txBody>
          <a:bodyPr wrap="square" lIns="0" tIns="0" rIns="0" bIns="0" rtlCol="0" anchor="ctr"/>
          <a:lstStyle/>
          <a:p>
            <a:pPr indent="0" marL="0">
              <a:buNone/>
            </a:pPr>
            <a:r>
              <a:rPr lang="en-US" sz="1250" b="1" dirty="0">
                <a:solidFill>
                  <a:srgbClr val="003A61"/>
                </a:solidFill>
                <a:latin typeface="Calibri" pitchFamily="34" charset="0"/>
                <a:ea typeface="Calibri" pitchFamily="34" charset="-122"/>
                <a:cs typeface="Calibri" pitchFamily="34" charset="-120"/>
              </a:rPr>
              <a:t>Consent Propagation Layer</a:t>
            </a:r>
            <a:endParaRPr lang="en-US" sz="1250" dirty="0"/>
          </a:p>
        </p:txBody>
      </p:sp>
      <p:sp>
        <p:nvSpPr>
          <p:cNvPr id="25" name="Text 23"/>
          <p:cNvSpPr/>
          <p:nvPr/>
        </p:nvSpPr>
        <p:spPr>
          <a:xfrm>
            <a:off x="4379976" y="4251960"/>
            <a:ext cx="3383280" cy="8412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Single opt-out fans out to Pega CDH + 12 connected systems in under 500ms. GDPR / CCPA / PDPA compliant. Immutable audit trail.</a:t>
            </a:r>
            <a:endParaRPr lang="en-US" sz="1050" dirty="0"/>
          </a:p>
        </p:txBody>
      </p:sp>
      <p:sp>
        <p:nvSpPr>
          <p:cNvPr id="26" name="Shape 24"/>
          <p:cNvSpPr/>
          <p:nvPr/>
        </p:nvSpPr>
        <p:spPr>
          <a:xfrm>
            <a:off x="8138160" y="3291840"/>
            <a:ext cx="3657600" cy="201168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7" name="Shape 25"/>
          <p:cNvSpPr/>
          <p:nvPr/>
        </p:nvSpPr>
        <p:spPr>
          <a:xfrm>
            <a:off x="8138160" y="3291840"/>
            <a:ext cx="54864" cy="2011680"/>
          </a:xfrm>
          <a:prstGeom prst="rect">
            <a:avLst/>
          </a:prstGeom>
          <a:solidFill>
            <a:srgbClr val="1A85D6"/>
          </a:solidFill>
          <a:ln w="12700">
            <a:solidFill>
              <a:srgbClr val="1A85D6"/>
            </a:solidFill>
            <a:prstDash val="solid"/>
          </a:ln>
        </p:spPr>
      </p:sp>
      <p:sp>
        <p:nvSpPr>
          <p:cNvPr id="28" name="Text 26"/>
          <p:cNvSpPr/>
          <p:nvPr/>
        </p:nvSpPr>
        <p:spPr>
          <a:xfrm>
            <a:off x="8339328" y="3401568"/>
            <a:ext cx="1828800" cy="411480"/>
          </a:xfrm>
          <a:prstGeom prst="rect">
            <a:avLst/>
          </a:prstGeom>
          <a:noFill/>
          <a:ln/>
        </p:spPr>
        <p:txBody>
          <a:bodyPr wrap="square" lIns="0" tIns="0" rIns="0" bIns="0" rtlCol="0" anchor="ctr"/>
          <a:lstStyle/>
          <a:p>
            <a:pPr indent="0" marL="0">
              <a:buNone/>
            </a:pPr>
            <a:r>
              <a:rPr lang="en-US" sz="1400" b="1" dirty="0">
                <a:solidFill>
                  <a:srgbClr val="1A85D6"/>
                </a:solidFill>
                <a:latin typeface="Calibri" pitchFamily="34" charset="0"/>
                <a:ea typeface="Calibri" pitchFamily="34" charset="-122"/>
                <a:cs typeface="Calibri" pitchFamily="34" charset="-120"/>
              </a:rPr>
              <a:t>05  🔌</a:t>
            </a:r>
            <a:endParaRPr lang="en-US" sz="1400" dirty="0"/>
          </a:p>
        </p:txBody>
      </p:sp>
      <p:sp>
        <p:nvSpPr>
          <p:cNvPr id="29" name="Text 27"/>
          <p:cNvSpPr/>
          <p:nvPr/>
        </p:nvSpPr>
        <p:spPr>
          <a:xfrm>
            <a:off x="8266176" y="3840480"/>
            <a:ext cx="3383280" cy="384048"/>
          </a:xfrm>
          <a:prstGeom prst="rect">
            <a:avLst/>
          </a:prstGeom>
          <a:noFill/>
          <a:ln/>
        </p:spPr>
        <p:txBody>
          <a:bodyPr wrap="square" lIns="0" tIns="0" rIns="0" bIns="0" rtlCol="0" anchor="ctr"/>
          <a:lstStyle/>
          <a:p>
            <a:pPr indent="0" marL="0">
              <a:buNone/>
            </a:pPr>
            <a:r>
              <a:rPr lang="en-US" sz="1250" b="1" dirty="0">
                <a:solidFill>
                  <a:srgbClr val="003A61"/>
                </a:solidFill>
                <a:latin typeface="Calibri" pitchFamily="34" charset="0"/>
                <a:ea typeface="Calibri" pitchFamily="34" charset="-122"/>
                <a:cs typeface="Calibri" pitchFamily="34" charset="-120"/>
              </a:rPr>
              <a:t>15-Connector Pack</a:t>
            </a:r>
            <a:endParaRPr lang="en-US" sz="1250" dirty="0"/>
          </a:p>
        </p:txBody>
      </p:sp>
      <p:sp>
        <p:nvSpPr>
          <p:cNvPr id="30" name="Text 28"/>
          <p:cNvSpPr/>
          <p:nvPr/>
        </p:nvSpPr>
        <p:spPr>
          <a:xfrm>
            <a:off x="8266176" y="4251960"/>
            <a:ext cx="3383280" cy="8412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Salesforce, Snowflake, SAP CX, Genesys, MS Dynamics, S3, ServiceNow, Adobe Analytics, Twilio, Braze, Google Analytics 4 and more.</a:t>
            </a:r>
            <a:endParaRPr lang="en-US" sz="1050" dirty="0"/>
          </a:p>
        </p:txBody>
      </p:sp>
      <p:sp>
        <p:nvSpPr>
          <p:cNvPr id="31" name="Shape 29"/>
          <p:cNvSpPr/>
          <p:nvPr/>
        </p:nvSpPr>
        <p:spPr>
          <a:xfrm>
            <a:off x="0" y="6565392"/>
            <a:ext cx="12188952" cy="292608"/>
          </a:xfrm>
          <a:prstGeom prst="rect">
            <a:avLst/>
          </a:prstGeom>
          <a:solidFill>
            <a:srgbClr val="003A61"/>
          </a:solidFill>
          <a:ln w="12700">
            <a:solidFill>
              <a:srgbClr val="003A61"/>
            </a:solidFill>
            <a:prstDash val="solid"/>
          </a:ln>
        </p:spPr>
      </p:sp>
      <p:sp>
        <p:nvSpPr>
          <p:cNvPr id="32" name="Text 30"/>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33" name="Text 31"/>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6 / 15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164592"/>
            <a:ext cx="11274552" cy="502920"/>
          </a:xfrm>
          <a:prstGeom prst="rect">
            <a:avLst/>
          </a:prstGeom>
          <a:noFill/>
          <a:ln/>
        </p:spPr>
        <p:txBody>
          <a:bodyPr wrap="square" lIns="0" tIns="0" rIns="0" bIns="0" rtlCol="0" anchor="ctr"/>
          <a:lstStyle/>
          <a:p>
            <a:pPr indent="0" marL="0">
              <a:buNone/>
            </a:pPr>
            <a:r>
              <a:rPr lang="en-US" sz="2800" b="1" dirty="0">
                <a:solidFill>
                  <a:srgbClr val="003A61"/>
                </a:solidFill>
                <a:latin typeface="Calibri" pitchFamily="34" charset="0"/>
                <a:ea typeface="Calibri" pitchFamily="34" charset="-122"/>
                <a:cs typeface="Calibri" pitchFamily="34" charset="-120"/>
              </a:rPr>
              <a:t>Production-Grade Identity Resolution Built In</a:t>
            </a:r>
            <a:endParaRPr lang="en-US" sz="2800" dirty="0"/>
          </a:p>
        </p:txBody>
      </p:sp>
      <p:sp>
        <p:nvSpPr>
          <p:cNvPr id="4" name="Text 2"/>
          <p:cNvSpPr/>
          <p:nvPr/>
        </p:nvSpPr>
        <p:spPr>
          <a:xfrm>
            <a:off x="457200" y="667512"/>
            <a:ext cx="11274552" cy="2743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Three-tier matching ensures every customer is known to Pega CDH</a:t>
            </a:r>
            <a:endParaRPr lang="en-US" sz="1300" dirty="0"/>
          </a:p>
        </p:txBody>
      </p:sp>
      <p:sp>
        <p:nvSpPr>
          <p:cNvPr id="5" name="Shape 3"/>
          <p:cNvSpPr/>
          <p:nvPr/>
        </p:nvSpPr>
        <p:spPr>
          <a:xfrm>
            <a:off x="457200" y="914400"/>
            <a:ext cx="11274552" cy="27432"/>
          </a:xfrm>
          <a:prstGeom prst="rect">
            <a:avLst/>
          </a:prstGeom>
          <a:solidFill>
            <a:srgbClr val="E2E8F0"/>
          </a:solidFill>
          <a:ln w="12700">
            <a:solidFill>
              <a:srgbClr val="E2E8F0"/>
            </a:solidFill>
            <a:prstDash val="solid"/>
          </a:ln>
        </p:spPr>
      </p:sp>
      <p:sp>
        <p:nvSpPr>
          <p:cNvPr id="6" name="Shape 4"/>
          <p:cNvSpPr/>
          <p:nvPr/>
        </p:nvSpPr>
        <p:spPr>
          <a:xfrm>
            <a:off x="365760" y="1115568"/>
            <a:ext cx="3657600" cy="420624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7" name="Shape 5"/>
          <p:cNvSpPr/>
          <p:nvPr/>
        </p:nvSpPr>
        <p:spPr>
          <a:xfrm>
            <a:off x="365760" y="1115568"/>
            <a:ext cx="54864" cy="4206240"/>
          </a:xfrm>
          <a:prstGeom prst="rect">
            <a:avLst/>
          </a:prstGeom>
          <a:solidFill>
            <a:srgbClr val="16A34A"/>
          </a:solidFill>
          <a:ln w="12700">
            <a:solidFill>
              <a:srgbClr val="16A34A"/>
            </a:solidFill>
            <a:prstDash val="solid"/>
          </a:ln>
        </p:spPr>
      </p:sp>
      <p:sp>
        <p:nvSpPr>
          <p:cNvPr id="8" name="Shape 6"/>
          <p:cNvSpPr/>
          <p:nvPr/>
        </p:nvSpPr>
        <p:spPr>
          <a:xfrm>
            <a:off x="493776" y="1261872"/>
            <a:ext cx="3383280" cy="365760"/>
          </a:xfrm>
          <a:prstGeom prst="rect">
            <a:avLst/>
          </a:prstGeom>
          <a:solidFill>
            <a:srgbClr val="16A34A"/>
          </a:solidFill>
          <a:ln w="12700">
            <a:solidFill>
              <a:srgbClr val="16A34A"/>
            </a:solidFill>
            <a:prstDash val="solid"/>
          </a:ln>
        </p:spPr>
      </p:sp>
      <p:sp>
        <p:nvSpPr>
          <p:cNvPr id="9" name="Text 7"/>
          <p:cNvSpPr/>
          <p:nvPr/>
        </p:nvSpPr>
        <p:spPr>
          <a:xfrm>
            <a:off x="493776" y="1261872"/>
            <a:ext cx="33832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TIER 1  —  AUTO-MERGE</a:t>
            </a:r>
            <a:endParaRPr lang="en-US" sz="900" dirty="0"/>
          </a:p>
        </p:txBody>
      </p:sp>
      <p:sp>
        <p:nvSpPr>
          <p:cNvPr id="10" name="Text 8"/>
          <p:cNvSpPr/>
          <p:nvPr/>
        </p:nvSpPr>
        <p:spPr>
          <a:xfrm>
            <a:off x="493776" y="1719072"/>
            <a:ext cx="3383280" cy="411480"/>
          </a:xfrm>
          <a:prstGeom prst="rect">
            <a:avLst/>
          </a:prstGeom>
          <a:noFill/>
          <a:ln/>
        </p:spPr>
        <p:txBody>
          <a:bodyPr wrap="square" lIns="0" tIns="0" rIns="0" bIns="0" rtlCol="0" anchor="ctr"/>
          <a:lstStyle/>
          <a:p>
            <a:pPr indent="0" marL="0">
              <a:buNone/>
            </a:pPr>
            <a:r>
              <a:rPr lang="en-US" sz="1350" b="1" dirty="0">
                <a:solidFill>
                  <a:srgbClr val="003A61"/>
                </a:solidFill>
                <a:latin typeface="Calibri" pitchFamily="34" charset="0"/>
                <a:ea typeface="Calibri" pitchFamily="34" charset="-122"/>
                <a:cs typeface="Calibri" pitchFamily="34" charset="-120"/>
              </a:rPr>
              <a:t>Deterministic Match</a:t>
            </a:r>
            <a:endParaRPr lang="en-US" sz="1350" dirty="0"/>
          </a:p>
        </p:txBody>
      </p:sp>
      <p:sp>
        <p:nvSpPr>
          <p:cNvPr id="11" name="Text 9"/>
          <p:cNvSpPr/>
          <p:nvPr/>
        </p:nvSpPr>
        <p:spPr>
          <a:xfrm>
            <a:off x="493776" y="2176272"/>
            <a:ext cx="3383280" cy="320040"/>
          </a:xfrm>
          <a:prstGeom prst="rect">
            <a:avLst/>
          </a:prstGeom>
          <a:noFill/>
          <a:ln/>
        </p:spPr>
        <p:txBody>
          <a:bodyPr wrap="square" lIns="0" tIns="0" rIns="0" bIns="0" rtlCol="0" anchor="ctr"/>
          <a:lstStyle/>
          <a:p>
            <a:pPr indent="0" marL="0">
              <a:buNone/>
            </a:pPr>
            <a:r>
              <a:rPr lang="en-US" sz="1000" b="1" i="1" dirty="0">
                <a:solidFill>
                  <a:srgbClr val="16A34A"/>
                </a:solidFill>
                <a:latin typeface="Calibri" pitchFamily="34" charset="0"/>
                <a:ea typeface="Calibri" pitchFamily="34" charset="-122"/>
                <a:cs typeface="Calibri" pitchFamily="34" charset="-120"/>
              </a:rPr>
              <a:t>Confidence: 1.0 → Auto-Merge</a:t>
            </a:r>
            <a:endParaRPr lang="en-US" sz="1000" dirty="0"/>
          </a:p>
        </p:txBody>
      </p:sp>
      <p:sp>
        <p:nvSpPr>
          <p:cNvPr id="12" name="Text 10"/>
          <p:cNvSpPr/>
          <p:nvPr/>
        </p:nvSpPr>
        <p:spPr>
          <a:xfrm>
            <a:off x="493776" y="2596896"/>
            <a:ext cx="3383280"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  Exact email match</a:t>
            </a:r>
            <a:endParaRPr lang="en-US" sz="1100" dirty="0"/>
          </a:p>
        </p:txBody>
      </p:sp>
      <p:sp>
        <p:nvSpPr>
          <p:cNvPr id="13" name="Text 11"/>
          <p:cNvSpPr/>
          <p:nvPr/>
        </p:nvSpPr>
        <p:spPr>
          <a:xfrm>
            <a:off x="493776" y="3054096"/>
            <a:ext cx="3383280"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  Exact phone number match</a:t>
            </a:r>
            <a:endParaRPr lang="en-US" sz="1100" dirty="0"/>
          </a:p>
        </p:txBody>
      </p:sp>
      <p:sp>
        <p:nvSpPr>
          <p:cNvPr id="14" name="Text 12"/>
          <p:cNvSpPr/>
          <p:nvPr/>
        </p:nvSpPr>
        <p:spPr>
          <a:xfrm>
            <a:off x="493776" y="3511296"/>
            <a:ext cx="3383280"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  CRM / external ID match</a:t>
            </a:r>
            <a:endParaRPr lang="en-US" sz="1100" dirty="0"/>
          </a:p>
        </p:txBody>
      </p:sp>
      <p:sp>
        <p:nvSpPr>
          <p:cNvPr id="15" name="Text 13"/>
          <p:cNvSpPr/>
          <p:nvPr/>
        </p:nvSpPr>
        <p:spPr>
          <a:xfrm>
            <a:off x="493776" y="3968496"/>
            <a:ext cx="3383280"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  Device ID exact match</a:t>
            </a:r>
            <a:endParaRPr lang="en-US" sz="1100" dirty="0"/>
          </a:p>
        </p:txBody>
      </p:sp>
      <p:sp>
        <p:nvSpPr>
          <p:cNvPr id="16" name="Shape 14"/>
          <p:cNvSpPr/>
          <p:nvPr/>
        </p:nvSpPr>
        <p:spPr>
          <a:xfrm>
            <a:off x="4251960" y="1115568"/>
            <a:ext cx="3657600" cy="420624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7" name="Shape 15"/>
          <p:cNvSpPr/>
          <p:nvPr/>
        </p:nvSpPr>
        <p:spPr>
          <a:xfrm>
            <a:off x="4251960" y="1115568"/>
            <a:ext cx="54864" cy="4206240"/>
          </a:xfrm>
          <a:prstGeom prst="rect">
            <a:avLst/>
          </a:prstGeom>
          <a:solidFill>
            <a:srgbClr val="D97706"/>
          </a:solidFill>
          <a:ln w="12700">
            <a:solidFill>
              <a:srgbClr val="D97706"/>
            </a:solidFill>
            <a:prstDash val="solid"/>
          </a:ln>
        </p:spPr>
      </p:sp>
      <p:sp>
        <p:nvSpPr>
          <p:cNvPr id="18" name="Shape 16"/>
          <p:cNvSpPr/>
          <p:nvPr/>
        </p:nvSpPr>
        <p:spPr>
          <a:xfrm>
            <a:off x="4379976" y="1261872"/>
            <a:ext cx="3383280" cy="365760"/>
          </a:xfrm>
          <a:prstGeom prst="rect">
            <a:avLst/>
          </a:prstGeom>
          <a:solidFill>
            <a:srgbClr val="D97706"/>
          </a:solidFill>
          <a:ln w="12700">
            <a:solidFill>
              <a:srgbClr val="D97706"/>
            </a:solidFill>
            <a:prstDash val="solid"/>
          </a:ln>
        </p:spPr>
      </p:sp>
      <p:sp>
        <p:nvSpPr>
          <p:cNvPr id="19" name="Text 17"/>
          <p:cNvSpPr/>
          <p:nvPr/>
        </p:nvSpPr>
        <p:spPr>
          <a:xfrm>
            <a:off x="4379976" y="1261872"/>
            <a:ext cx="33832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TIER 2  —  REVIEW QUEUE</a:t>
            </a:r>
            <a:endParaRPr lang="en-US" sz="900" dirty="0"/>
          </a:p>
        </p:txBody>
      </p:sp>
      <p:sp>
        <p:nvSpPr>
          <p:cNvPr id="20" name="Text 18"/>
          <p:cNvSpPr/>
          <p:nvPr/>
        </p:nvSpPr>
        <p:spPr>
          <a:xfrm>
            <a:off x="4379976" y="1719072"/>
            <a:ext cx="3383280" cy="411480"/>
          </a:xfrm>
          <a:prstGeom prst="rect">
            <a:avLst/>
          </a:prstGeom>
          <a:noFill/>
          <a:ln/>
        </p:spPr>
        <p:txBody>
          <a:bodyPr wrap="square" lIns="0" tIns="0" rIns="0" bIns="0" rtlCol="0" anchor="ctr"/>
          <a:lstStyle/>
          <a:p>
            <a:pPr indent="0" marL="0">
              <a:buNone/>
            </a:pPr>
            <a:r>
              <a:rPr lang="en-US" sz="1350" b="1" dirty="0">
                <a:solidFill>
                  <a:srgbClr val="003A61"/>
                </a:solidFill>
                <a:latin typeface="Calibri" pitchFamily="34" charset="0"/>
                <a:ea typeface="Calibri" pitchFamily="34" charset="-122"/>
                <a:cs typeface="Calibri" pitchFamily="34" charset="-120"/>
              </a:rPr>
              <a:t>Probabilistic Match</a:t>
            </a:r>
            <a:endParaRPr lang="en-US" sz="1350" dirty="0"/>
          </a:p>
        </p:txBody>
      </p:sp>
      <p:sp>
        <p:nvSpPr>
          <p:cNvPr id="21" name="Text 19"/>
          <p:cNvSpPr/>
          <p:nvPr/>
        </p:nvSpPr>
        <p:spPr>
          <a:xfrm>
            <a:off x="4379976" y="2176272"/>
            <a:ext cx="3383280" cy="320040"/>
          </a:xfrm>
          <a:prstGeom prst="rect">
            <a:avLst/>
          </a:prstGeom>
          <a:noFill/>
          <a:ln/>
        </p:spPr>
        <p:txBody>
          <a:bodyPr wrap="square" lIns="0" tIns="0" rIns="0" bIns="0" rtlCol="0" anchor="ctr"/>
          <a:lstStyle/>
          <a:p>
            <a:pPr indent="0" marL="0">
              <a:buNone/>
            </a:pPr>
            <a:r>
              <a:rPr lang="en-US" sz="1000" b="1" i="1" dirty="0">
                <a:solidFill>
                  <a:srgbClr val="D97706"/>
                </a:solidFill>
                <a:latin typeface="Calibri" pitchFamily="34" charset="0"/>
                <a:ea typeface="Calibri" pitchFamily="34" charset="-122"/>
                <a:cs typeface="Calibri" pitchFamily="34" charset="-120"/>
              </a:rPr>
              <a:t>Confidence: 0.75–0.94 → Review Queue</a:t>
            </a:r>
            <a:endParaRPr lang="en-US" sz="1000" dirty="0"/>
          </a:p>
        </p:txBody>
      </p:sp>
      <p:sp>
        <p:nvSpPr>
          <p:cNvPr id="22" name="Text 20"/>
          <p:cNvSpPr/>
          <p:nvPr/>
        </p:nvSpPr>
        <p:spPr>
          <a:xfrm>
            <a:off x="4379976" y="2596896"/>
            <a:ext cx="3383280"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  Name + date of birth + postcode</a:t>
            </a:r>
            <a:endParaRPr lang="en-US" sz="1100" dirty="0"/>
          </a:p>
        </p:txBody>
      </p:sp>
      <p:sp>
        <p:nvSpPr>
          <p:cNvPr id="23" name="Text 21"/>
          <p:cNvSpPr/>
          <p:nvPr/>
        </p:nvSpPr>
        <p:spPr>
          <a:xfrm>
            <a:off x="4379976" y="3054096"/>
            <a:ext cx="3383280"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  Browser fingerprint match</a:t>
            </a:r>
            <a:endParaRPr lang="en-US" sz="1100" dirty="0"/>
          </a:p>
        </p:txBody>
      </p:sp>
      <p:sp>
        <p:nvSpPr>
          <p:cNvPr id="24" name="Text 22"/>
          <p:cNvSpPr/>
          <p:nvPr/>
        </p:nvSpPr>
        <p:spPr>
          <a:xfrm>
            <a:off x="4379976" y="3511296"/>
            <a:ext cx="3383280"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  Fuzzy name (Jaro-Winkler algorithm)</a:t>
            </a:r>
            <a:endParaRPr lang="en-US" sz="1100" dirty="0"/>
          </a:p>
        </p:txBody>
      </p:sp>
      <p:sp>
        <p:nvSpPr>
          <p:cNvPr id="25" name="Text 23"/>
          <p:cNvSpPr/>
          <p:nvPr/>
        </p:nvSpPr>
        <p:spPr>
          <a:xfrm>
            <a:off x="4379976" y="3968496"/>
            <a:ext cx="3383280"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  Multi-signal composite scoring</a:t>
            </a:r>
            <a:endParaRPr lang="en-US" sz="1100" dirty="0"/>
          </a:p>
        </p:txBody>
      </p:sp>
      <p:sp>
        <p:nvSpPr>
          <p:cNvPr id="26" name="Shape 24"/>
          <p:cNvSpPr/>
          <p:nvPr/>
        </p:nvSpPr>
        <p:spPr>
          <a:xfrm>
            <a:off x="8138160" y="1115568"/>
            <a:ext cx="3657600" cy="420624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7" name="Shape 25"/>
          <p:cNvSpPr/>
          <p:nvPr/>
        </p:nvSpPr>
        <p:spPr>
          <a:xfrm>
            <a:off x="8138160" y="1115568"/>
            <a:ext cx="54864" cy="4206240"/>
          </a:xfrm>
          <a:prstGeom prst="rect">
            <a:avLst/>
          </a:prstGeom>
          <a:solidFill>
            <a:srgbClr val="0063AB"/>
          </a:solidFill>
          <a:ln w="12700">
            <a:solidFill>
              <a:srgbClr val="0063AB"/>
            </a:solidFill>
            <a:prstDash val="solid"/>
          </a:ln>
        </p:spPr>
      </p:sp>
      <p:sp>
        <p:nvSpPr>
          <p:cNvPr id="28" name="Shape 26"/>
          <p:cNvSpPr/>
          <p:nvPr/>
        </p:nvSpPr>
        <p:spPr>
          <a:xfrm>
            <a:off x="8266176" y="1261872"/>
            <a:ext cx="3383280" cy="365760"/>
          </a:xfrm>
          <a:prstGeom prst="rect">
            <a:avLst/>
          </a:prstGeom>
          <a:solidFill>
            <a:srgbClr val="0063AB"/>
          </a:solidFill>
          <a:ln w="12700">
            <a:solidFill>
              <a:srgbClr val="0063AB"/>
            </a:solidFill>
            <a:prstDash val="solid"/>
          </a:ln>
        </p:spPr>
      </p:sp>
      <p:sp>
        <p:nvSpPr>
          <p:cNvPr id="29" name="Text 27"/>
          <p:cNvSpPr/>
          <p:nvPr/>
        </p:nvSpPr>
        <p:spPr>
          <a:xfrm>
            <a:off x="8266176" y="1261872"/>
            <a:ext cx="33832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TIER 3  —  ON LOGIN</a:t>
            </a:r>
            <a:endParaRPr lang="en-US" sz="900" dirty="0"/>
          </a:p>
        </p:txBody>
      </p:sp>
      <p:sp>
        <p:nvSpPr>
          <p:cNvPr id="30" name="Text 28"/>
          <p:cNvSpPr/>
          <p:nvPr/>
        </p:nvSpPr>
        <p:spPr>
          <a:xfrm>
            <a:off x="8266176" y="1719072"/>
            <a:ext cx="3383280" cy="411480"/>
          </a:xfrm>
          <a:prstGeom prst="rect">
            <a:avLst/>
          </a:prstGeom>
          <a:noFill/>
          <a:ln/>
        </p:spPr>
        <p:txBody>
          <a:bodyPr wrap="square" lIns="0" tIns="0" rIns="0" bIns="0" rtlCol="0" anchor="ctr"/>
          <a:lstStyle/>
          <a:p>
            <a:pPr indent="0" marL="0">
              <a:buNone/>
            </a:pPr>
            <a:r>
              <a:rPr lang="en-US" sz="1350" b="1" dirty="0">
                <a:solidFill>
                  <a:srgbClr val="003A61"/>
                </a:solidFill>
                <a:latin typeface="Calibri" pitchFamily="34" charset="0"/>
                <a:ea typeface="Calibri" pitchFamily="34" charset="-122"/>
                <a:cs typeface="Calibri" pitchFamily="34" charset="-120"/>
              </a:rPr>
              <a:t>Anonymous Stitching</a:t>
            </a:r>
            <a:endParaRPr lang="en-US" sz="1350" dirty="0"/>
          </a:p>
        </p:txBody>
      </p:sp>
      <p:sp>
        <p:nvSpPr>
          <p:cNvPr id="31" name="Text 29"/>
          <p:cNvSpPr/>
          <p:nvPr/>
        </p:nvSpPr>
        <p:spPr>
          <a:xfrm>
            <a:off x="8266176" y="2176272"/>
            <a:ext cx="3383280" cy="320040"/>
          </a:xfrm>
          <a:prstGeom prst="rect">
            <a:avLst/>
          </a:prstGeom>
          <a:noFill/>
          <a:ln/>
        </p:spPr>
        <p:txBody>
          <a:bodyPr wrap="square" lIns="0" tIns="0" rIns="0" bIns="0" rtlCol="0" anchor="ctr"/>
          <a:lstStyle/>
          <a:p>
            <a:pPr indent="0" marL="0">
              <a:buNone/>
            </a:pPr>
            <a:r>
              <a:rPr lang="en-US" sz="1000" b="1" i="1" dirty="0">
                <a:solidFill>
                  <a:srgbClr val="0063AB"/>
                </a:solidFill>
                <a:latin typeface="Calibri" pitchFamily="34" charset="0"/>
                <a:ea typeface="Calibri" pitchFamily="34" charset="-122"/>
                <a:cs typeface="Calibri" pitchFamily="34" charset="-120"/>
              </a:rPr>
              <a:t>Pre-login cookieId → Known customerId</a:t>
            </a:r>
            <a:endParaRPr lang="en-US" sz="1000" dirty="0"/>
          </a:p>
        </p:txBody>
      </p:sp>
      <p:sp>
        <p:nvSpPr>
          <p:cNvPr id="32" name="Text 30"/>
          <p:cNvSpPr/>
          <p:nvPr/>
        </p:nvSpPr>
        <p:spPr>
          <a:xfrm>
            <a:off x="8266176" y="2596896"/>
            <a:ext cx="3383280"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  Visitor browses with cookieId only</a:t>
            </a:r>
            <a:endParaRPr lang="en-US" sz="1100" dirty="0"/>
          </a:p>
        </p:txBody>
      </p:sp>
      <p:sp>
        <p:nvSpPr>
          <p:cNvPr id="33" name="Text 31"/>
          <p:cNvSpPr/>
          <p:nvPr/>
        </p:nvSpPr>
        <p:spPr>
          <a:xfrm>
            <a:off x="8266176" y="3054096"/>
            <a:ext cx="3383280"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  Login event carries both identifiers</a:t>
            </a:r>
            <a:endParaRPr lang="en-US" sz="1100" dirty="0"/>
          </a:p>
        </p:txBody>
      </p:sp>
      <p:sp>
        <p:nvSpPr>
          <p:cNvPr id="34" name="Text 32"/>
          <p:cNvSpPr/>
          <p:nvPr/>
        </p:nvSpPr>
        <p:spPr>
          <a:xfrm>
            <a:off x="8266176" y="3511296"/>
            <a:ext cx="3383280"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  All pre-login events merge to known profile</a:t>
            </a:r>
            <a:endParaRPr lang="en-US" sz="1100" dirty="0"/>
          </a:p>
        </p:txBody>
      </p:sp>
      <p:sp>
        <p:nvSpPr>
          <p:cNvPr id="35" name="Text 33"/>
          <p:cNvSpPr/>
          <p:nvPr/>
        </p:nvSpPr>
        <p:spPr>
          <a:xfrm>
            <a:off x="8266176" y="3968496"/>
            <a:ext cx="3383280"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  CDH gets full customer journey immediately</a:t>
            </a:r>
            <a:endParaRPr lang="en-US" sz="1100" dirty="0"/>
          </a:p>
        </p:txBody>
      </p:sp>
      <p:sp>
        <p:nvSpPr>
          <p:cNvPr id="36" name="Shape 34"/>
          <p:cNvSpPr/>
          <p:nvPr/>
        </p:nvSpPr>
        <p:spPr>
          <a:xfrm>
            <a:off x="365760" y="5486400"/>
            <a:ext cx="11457432" cy="777240"/>
          </a:xfrm>
          <a:prstGeom prst="rect">
            <a:avLst/>
          </a:prstGeom>
          <a:solidFill>
            <a:srgbClr val="003A61"/>
          </a:solidFill>
          <a:ln w="12700">
            <a:solidFill>
              <a:srgbClr val="003A61"/>
            </a:solidFill>
            <a:prstDash val="solid"/>
          </a:ln>
        </p:spPr>
      </p:sp>
      <p:sp>
        <p:nvSpPr>
          <p:cNvPr id="37" name="Text 35"/>
          <p:cNvSpPr/>
          <p:nvPr/>
        </p:nvSpPr>
        <p:spPr>
          <a:xfrm>
            <a:off x="548640" y="5577840"/>
            <a:ext cx="11091672" cy="5943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94.2% profile match rate  ·  47ms average stitch time  ·  821K merged profiles in reference deployment  ·  Full GDPR audit trail</a:t>
            </a:r>
            <a:endParaRPr lang="en-US" sz="1200" dirty="0"/>
          </a:p>
        </p:txBody>
      </p:sp>
      <p:sp>
        <p:nvSpPr>
          <p:cNvPr id="38" name="Shape 36"/>
          <p:cNvSpPr/>
          <p:nvPr/>
        </p:nvSpPr>
        <p:spPr>
          <a:xfrm>
            <a:off x="0" y="6565392"/>
            <a:ext cx="12188952" cy="292608"/>
          </a:xfrm>
          <a:prstGeom prst="rect">
            <a:avLst/>
          </a:prstGeom>
          <a:solidFill>
            <a:srgbClr val="003A61"/>
          </a:solidFill>
          <a:ln w="12700">
            <a:solidFill>
              <a:srgbClr val="003A61"/>
            </a:solidFill>
            <a:prstDash val="solid"/>
          </a:ln>
        </p:spPr>
      </p:sp>
      <p:sp>
        <p:nvSpPr>
          <p:cNvPr id="39" name="Text 37"/>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40" name="Text 38"/>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7 / 15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164592"/>
            <a:ext cx="11274552" cy="502920"/>
          </a:xfrm>
          <a:prstGeom prst="rect">
            <a:avLst/>
          </a:prstGeom>
          <a:noFill/>
          <a:ln/>
        </p:spPr>
        <p:txBody>
          <a:bodyPr wrap="square" lIns="0" tIns="0" rIns="0" bIns="0" rtlCol="0" anchor="ctr"/>
          <a:lstStyle/>
          <a:p>
            <a:pPr indent="0" marL="0">
              <a:buNone/>
            </a:pPr>
            <a:r>
              <a:rPr lang="en-US" sz="2800" b="1" dirty="0">
                <a:solidFill>
                  <a:srgbClr val="003A61"/>
                </a:solidFill>
                <a:latin typeface="Calibri" pitchFamily="34" charset="0"/>
                <a:ea typeface="Calibri" pitchFamily="34" charset="-122"/>
                <a:cs typeface="Calibri" pitchFamily="34" charset="-120"/>
              </a:rPr>
              <a:t>Measured Impact for Pega CDH Customers</a:t>
            </a:r>
            <a:endParaRPr lang="en-US" sz="2800" dirty="0"/>
          </a:p>
        </p:txBody>
      </p:sp>
      <p:sp>
        <p:nvSpPr>
          <p:cNvPr id="4" name="Text 2"/>
          <p:cNvSpPr/>
          <p:nvPr/>
        </p:nvSpPr>
        <p:spPr>
          <a:xfrm>
            <a:off x="457200" y="667512"/>
            <a:ext cx="11274552" cy="2743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Reference implementation: Citadele Banka Latvia — DCS deployment</a:t>
            </a:r>
            <a:endParaRPr lang="en-US" sz="1300" dirty="0"/>
          </a:p>
        </p:txBody>
      </p:sp>
      <p:sp>
        <p:nvSpPr>
          <p:cNvPr id="5" name="Shape 3"/>
          <p:cNvSpPr/>
          <p:nvPr/>
        </p:nvSpPr>
        <p:spPr>
          <a:xfrm>
            <a:off x="457200" y="914400"/>
            <a:ext cx="11274552" cy="27432"/>
          </a:xfrm>
          <a:prstGeom prst="rect">
            <a:avLst/>
          </a:prstGeom>
          <a:solidFill>
            <a:srgbClr val="E2E8F0"/>
          </a:solidFill>
          <a:ln w="12700">
            <a:solidFill>
              <a:srgbClr val="E2E8F0"/>
            </a:solidFill>
            <a:prstDash val="solid"/>
          </a:ln>
        </p:spPr>
      </p:sp>
      <p:sp>
        <p:nvSpPr>
          <p:cNvPr id="6" name="Shape 4"/>
          <p:cNvSpPr/>
          <p:nvPr/>
        </p:nvSpPr>
        <p:spPr>
          <a:xfrm>
            <a:off x="365760" y="1115568"/>
            <a:ext cx="2651760" cy="182880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7" name="Shape 5"/>
          <p:cNvSpPr/>
          <p:nvPr/>
        </p:nvSpPr>
        <p:spPr>
          <a:xfrm>
            <a:off x="365760" y="1115568"/>
            <a:ext cx="54864" cy="1828800"/>
          </a:xfrm>
          <a:prstGeom prst="rect">
            <a:avLst/>
          </a:prstGeom>
          <a:solidFill>
            <a:srgbClr val="16A34A"/>
          </a:solidFill>
          <a:ln w="12700">
            <a:solidFill>
              <a:srgbClr val="16A34A"/>
            </a:solidFill>
            <a:prstDash val="solid"/>
          </a:ln>
        </p:spPr>
      </p:sp>
      <p:sp>
        <p:nvSpPr>
          <p:cNvPr id="8" name="Text 6"/>
          <p:cNvSpPr/>
          <p:nvPr/>
        </p:nvSpPr>
        <p:spPr>
          <a:xfrm>
            <a:off x="493776" y="1243584"/>
            <a:ext cx="2468880" cy="640080"/>
          </a:xfrm>
          <a:prstGeom prst="rect">
            <a:avLst/>
          </a:prstGeom>
          <a:noFill/>
          <a:ln/>
        </p:spPr>
        <p:txBody>
          <a:bodyPr wrap="square" lIns="0" tIns="0" rIns="0" bIns="0" rtlCol="0" anchor="ctr"/>
          <a:lstStyle/>
          <a:p>
            <a:pPr indent="0" marL="0">
              <a:buNone/>
            </a:pPr>
            <a:r>
              <a:rPr lang="en-US" sz="3000" b="1" dirty="0">
                <a:solidFill>
                  <a:srgbClr val="003A61"/>
                </a:solidFill>
                <a:latin typeface="Calibri" pitchFamily="34" charset="0"/>
                <a:ea typeface="Calibri" pitchFamily="34" charset="-122"/>
                <a:cs typeface="Calibri" pitchFamily="34" charset="-120"/>
              </a:rPr>
              <a:t>12% → 35%</a:t>
            </a:r>
            <a:endParaRPr lang="en-US" sz="3000" dirty="0"/>
          </a:p>
        </p:txBody>
      </p:sp>
      <p:sp>
        <p:nvSpPr>
          <p:cNvPr id="9" name="Text 7"/>
          <p:cNvSpPr/>
          <p:nvPr/>
        </p:nvSpPr>
        <p:spPr>
          <a:xfrm>
            <a:off x="493776" y="1865376"/>
            <a:ext cx="2468880" cy="256032"/>
          </a:xfrm>
          <a:prstGeom prst="rect">
            <a:avLst/>
          </a:prstGeom>
          <a:noFill/>
          <a:ln/>
        </p:spPr>
        <p:txBody>
          <a:bodyPr wrap="square" lIns="0" tIns="0" rIns="0" bIns="0"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+192% lift</a:t>
            </a:r>
            <a:endParaRPr lang="en-US" sz="1100" dirty="0"/>
          </a:p>
        </p:txBody>
      </p:sp>
      <p:sp>
        <p:nvSpPr>
          <p:cNvPr id="10" name="Text 8"/>
          <p:cNvSpPr/>
          <p:nvPr/>
        </p:nvSpPr>
        <p:spPr>
          <a:xfrm>
            <a:off x="493776" y="2121408"/>
            <a:ext cx="2468880" cy="3657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NBA Acceptance Rate</a:t>
            </a:r>
            <a:endParaRPr lang="en-US" sz="1050" dirty="0"/>
          </a:p>
        </p:txBody>
      </p:sp>
      <p:sp>
        <p:nvSpPr>
          <p:cNvPr id="11" name="Shape 9"/>
          <p:cNvSpPr/>
          <p:nvPr/>
        </p:nvSpPr>
        <p:spPr>
          <a:xfrm>
            <a:off x="3200400" y="1115568"/>
            <a:ext cx="2651760" cy="182880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2" name="Shape 10"/>
          <p:cNvSpPr/>
          <p:nvPr/>
        </p:nvSpPr>
        <p:spPr>
          <a:xfrm>
            <a:off x="3200400" y="1115568"/>
            <a:ext cx="54864" cy="1828800"/>
          </a:xfrm>
          <a:prstGeom prst="rect">
            <a:avLst/>
          </a:prstGeom>
          <a:solidFill>
            <a:srgbClr val="0063AB"/>
          </a:solidFill>
          <a:ln w="12700">
            <a:solidFill>
              <a:srgbClr val="0063AB"/>
            </a:solidFill>
            <a:prstDash val="solid"/>
          </a:ln>
        </p:spPr>
      </p:sp>
      <p:sp>
        <p:nvSpPr>
          <p:cNvPr id="13" name="Text 11"/>
          <p:cNvSpPr/>
          <p:nvPr/>
        </p:nvSpPr>
        <p:spPr>
          <a:xfrm>
            <a:off x="3328416" y="1243584"/>
            <a:ext cx="2468880" cy="640080"/>
          </a:xfrm>
          <a:prstGeom prst="rect">
            <a:avLst/>
          </a:prstGeom>
          <a:noFill/>
          <a:ln/>
        </p:spPr>
        <p:txBody>
          <a:bodyPr wrap="square" lIns="0" tIns="0" rIns="0" bIns="0" rtlCol="0" anchor="ctr"/>
          <a:lstStyle/>
          <a:p>
            <a:pPr indent="0" marL="0">
              <a:buNone/>
            </a:pPr>
            <a:r>
              <a:rPr lang="en-US" sz="3000" b="1" dirty="0">
                <a:solidFill>
                  <a:srgbClr val="003A61"/>
                </a:solidFill>
                <a:latin typeface="Calibri" pitchFamily="34" charset="0"/>
                <a:ea typeface="Calibri" pitchFamily="34" charset="-122"/>
                <a:cs typeface="Calibri" pitchFamily="34" charset="-120"/>
              </a:rPr>
              <a:t>48h → 34ms</a:t>
            </a:r>
            <a:endParaRPr lang="en-US" sz="3000" dirty="0"/>
          </a:p>
        </p:txBody>
      </p:sp>
      <p:sp>
        <p:nvSpPr>
          <p:cNvPr id="14" name="Text 12"/>
          <p:cNvSpPr/>
          <p:nvPr/>
        </p:nvSpPr>
        <p:spPr>
          <a:xfrm>
            <a:off x="3328416" y="1865376"/>
            <a:ext cx="2468880" cy="256032"/>
          </a:xfrm>
          <a:prstGeom prst="rect">
            <a:avLst/>
          </a:prstGeom>
          <a:noFill/>
          <a:ln/>
        </p:spPr>
        <p:txBody>
          <a:bodyPr wrap="square" lIns="0" tIns="0" rIns="0" bIns="0" rtlCol="0" anchor="ctr"/>
          <a:lstStyle/>
          <a:p>
            <a:pPr indent="0" marL="0">
              <a:buNone/>
            </a:pPr>
            <a:r>
              <a:rPr lang="en-US" sz="1100" b="1" dirty="0">
                <a:solidFill>
                  <a:srgbClr val="0063AB"/>
                </a:solidFill>
                <a:latin typeface="Calibri" pitchFamily="34" charset="0"/>
                <a:ea typeface="Calibri" pitchFamily="34" charset="-122"/>
                <a:cs typeface="Calibri" pitchFamily="34" charset="-120"/>
              </a:rPr>
              <a:t>p99 in production</a:t>
            </a:r>
            <a:endParaRPr lang="en-US" sz="1100" dirty="0"/>
          </a:p>
        </p:txBody>
      </p:sp>
      <p:sp>
        <p:nvSpPr>
          <p:cNvPr id="15" name="Text 13"/>
          <p:cNvSpPr/>
          <p:nvPr/>
        </p:nvSpPr>
        <p:spPr>
          <a:xfrm>
            <a:off x="3328416" y="2121408"/>
            <a:ext cx="2468880" cy="3657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Profile Latency to CDH</a:t>
            </a:r>
            <a:endParaRPr lang="en-US" sz="1050" dirty="0"/>
          </a:p>
        </p:txBody>
      </p:sp>
      <p:sp>
        <p:nvSpPr>
          <p:cNvPr id="16" name="Shape 14"/>
          <p:cNvSpPr/>
          <p:nvPr/>
        </p:nvSpPr>
        <p:spPr>
          <a:xfrm>
            <a:off x="6035040" y="1115568"/>
            <a:ext cx="2651760" cy="182880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7" name="Shape 15"/>
          <p:cNvSpPr/>
          <p:nvPr/>
        </p:nvSpPr>
        <p:spPr>
          <a:xfrm>
            <a:off x="6035040" y="1115568"/>
            <a:ext cx="54864" cy="1828800"/>
          </a:xfrm>
          <a:prstGeom prst="rect">
            <a:avLst/>
          </a:prstGeom>
          <a:solidFill>
            <a:srgbClr val="003A61"/>
          </a:solidFill>
          <a:ln w="12700">
            <a:solidFill>
              <a:srgbClr val="003A61"/>
            </a:solidFill>
            <a:prstDash val="solid"/>
          </a:ln>
        </p:spPr>
      </p:sp>
      <p:sp>
        <p:nvSpPr>
          <p:cNvPr id="18" name="Text 16"/>
          <p:cNvSpPr/>
          <p:nvPr/>
        </p:nvSpPr>
        <p:spPr>
          <a:xfrm>
            <a:off x="6163056" y="1243584"/>
            <a:ext cx="2468880" cy="640080"/>
          </a:xfrm>
          <a:prstGeom prst="rect">
            <a:avLst/>
          </a:prstGeom>
          <a:noFill/>
          <a:ln/>
        </p:spPr>
        <p:txBody>
          <a:bodyPr wrap="square" lIns="0" tIns="0" rIns="0" bIns="0" rtlCol="0" anchor="ctr"/>
          <a:lstStyle/>
          <a:p>
            <a:pPr indent="0" marL="0">
              <a:buNone/>
            </a:pPr>
            <a:r>
              <a:rPr lang="en-US" sz="3000" b="1" dirty="0">
                <a:solidFill>
                  <a:srgbClr val="003A61"/>
                </a:solidFill>
                <a:latin typeface="Calibri" pitchFamily="34" charset="0"/>
                <a:ea typeface="Calibri" pitchFamily="34" charset="-122"/>
                <a:cs typeface="Calibri" pitchFamily="34" charset="-120"/>
              </a:rPr>
              <a:t>$35K/yr</a:t>
            </a:r>
            <a:endParaRPr lang="en-US" sz="3000" dirty="0"/>
          </a:p>
        </p:txBody>
      </p:sp>
      <p:sp>
        <p:nvSpPr>
          <p:cNvPr id="19" name="Text 17"/>
          <p:cNvSpPr/>
          <p:nvPr/>
        </p:nvSpPr>
        <p:spPr>
          <a:xfrm>
            <a:off x="6163056" y="1865376"/>
            <a:ext cx="2468880" cy="256032"/>
          </a:xfrm>
          <a:prstGeom prst="rect">
            <a:avLst/>
          </a:prstGeom>
          <a:noFill/>
          <a:ln/>
        </p:spPr>
        <p:txBody>
          <a:bodyPr wrap="square" lIns="0" tIns="0" rIns="0" bIns="0" rtlCol="0" anchor="ctr"/>
          <a:lstStyle/>
          <a:p>
            <a:pPr indent="0" marL="0">
              <a:buNone/>
            </a:pPr>
            <a:r>
              <a:rPr lang="en-US" sz="1100" b="1" dirty="0">
                <a:solidFill>
                  <a:srgbClr val="003A61"/>
                </a:solidFill>
                <a:latin typeface="Calibri" pitchFamily="34" charset="0"/>
                <a:ea typeface="Calibri" pitchFamily="34" charset="-122"/>
                <a:cs typeface="Calibri" pitchFamily="34" charset="-120"/>
              </a:rPr>
              <a:t>SaaS replacement cost</a:t>
            </a:r>
            <a:endParaRPr lang="en-US" sz="1100" dirty="0"/>
          </a:p>
        </p:txBody>
      </p:sp>
      <p:sp>
        <p:nvSpPr>
          <p:cNvPr id="20" name="Text 18"/>
          <p:cNvSpPr/>
          <p:nvPr/>
        </p:nvSpPr>
        <p:spPr>
          <a:xfrm>
            <a:off x="6163056" y="2121408"/>
            <a:ext cx="2468880" cy="3657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vs $2–5M SI build</a:t>
            </a:r>
            <a:endParaRPr lang="en-US" sz="1050" dirty="0"/>
          </a:p>
        </p:txBody>
      </p:sp>
      <p:sp>
        <p:nvSpPr>
          <p:cNvPr id="21" name="Shape 19"/>
          <p:cNvSpPr/>
          <p:nvPr/>
        </p:nvSpPr>
        <p:spPr>
          <a:xfrm>
            <a:off x="8869680" y="1115568"/>
            <a:ext cx="2651760" cy="182880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2" name="Shape 20"/>
          <p:cNvSpPr/>
          <p:nvPr/>
        </p:nvSpPr>
        <p:spPr>
          <a:xfrm>
            <a:off x="8869680" y="1115568"/>
            <a:ext cx="54864" cy="1828800"/>
          </a:xfrm>
          <a:prstGeom prst="rect">
            <a:avLst/>
          </a:prstGeom>
          <a:solidFill>
            <a:srgbClr val="D97706"/>
          </a:solidFill>
          <a:ln w="12700">
            <a:solidFill>
              <a:srgbClr val="D97706"/>
            </a:solidFill>
            <a:prstDash val="solid"/>
          </a:ln>
        </p:spPr>
      </p:sp>
      <p:sp>
        <p:nvSpPr>
          <p:cNvPr id="23" name="Text 21"/>
          <p:cNvSpPr/>
          <p:nvPr/>
        </p:nvSpPr>
        <p:spPr>
          <a:xfrm>
            <a:off x="8997696" y="1243584"/>
            <a:ext cx="2468880" cy="640080"/>
          </a:xfrm>
          <a:prstGeom prst="rect">
            <a:avLst/>
          </a:prstGeom>
          <a:noFill/>
          <a:ln/>
        </p:spPr>
        <p:txBody>
          <a:bodyPr wrap="square" lIns="0" tIns="0" rIns="0" bIns="0" rtlCol="0" anchor="ctr"/>
          <a:lstStyle/>
          <a:p>
            <a:pPr indent="0" marL="0">
              <a:buNone/>
            </a:pPr>
            <a:r>
              <a:rPr lang="en-US" sz="3000" b="1" dirty="0">
                <a:solidFill>
                  <a:srgbClr val="003A61"/>
                </a:solidFill>
                <a:latin typeface="Calibri" pitchFamily="34" charset="0"/>
                <a:ea typeface="Calibri" pitchFamily="34" charset="-122"/>
                <a:cs typeface="Calibri" pitchFamily="34" charset="-120"/>
              </a:rPr>
              <a:t>30 days</a:t>
            </a:r>
            <a:endParaRPr lang="en-US" sz="3000" dirty="0"/>
          </a:p>
        </p:txBody>
      </p:sp>
      <p:sp>
        <p:nvSpPr>
          <p:cNvPr id="24" name="Text 22"/>
          <p:cNvSpPr/>
          <p:nvPr/>
        </p:nvSpPr>
        <p:spPr>
          <a:xfrm>
            <a:off x="8997696" y="1865376"/>
            <a:ext cx="2468880" cy="256032"/>
          </a:xfrm>
          <a:prstGeom prst="rect">
            <a:avLst/>
          </a:prstGeom>
          <a:noFill/>
          <a:ln/>
        </p:spPr>
        <p:txBody>
          <a:bodyPr wrap="square" lIns="0" tIns="0" rIns="0" bIns="0"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vs 18-month SI project</a:t>
            </a:r>
            <a:endParaRPr lang="en-US" sz="1100" dirty="0"/>
          </a:p>
        </p:txBody>
      </p:sp>
      <p:sp>
        <p:nvSpPr>
          <p:cNvPr id="25" name="Text 23"/>
          <p:cNvSpPr/>
          <p:nvPr/>
        </p:nvSpPr>
        <p:spPr>
          <a:xfrm>
            <a:off x="8997696" y="2121408"/>
            <a:ext cx="2468880" cy="3657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Time to first NBA lift</a:t>
            </a:r>
            <a:endParaRPr lang="en-US" sz="1050" dirty="0"/>
          </a:p>
        </p:txBody>
      </p:sp>
      <p:sp>
        <p:nvSpPr>
          <p:cNvPr id="26" name="Shape 24"/>
          <p:cNvSpPr/>
          <p:nvPr/>
        </p:nvSpPr>
        <p:spPr>
          <a:xfrm>
            <a:off x="365760" y="3154680"/>
            <a:ext cx="11457432" cy="2468880"/>
          </a:xfrm>
          <a:prstGeom prst="rect">
            <a:avLst/>
          </a:prstGeom>
          <a:solidFill>
            <a:srgbClr val="001F3F"/>
          </a:solidFill>
          <a:ln w="12700">
            <a:solidFill>
              <a:srgbClr val="003A61"/>
            </a:solidFill>
            <a:prstDash val="solid"/>
          </a:ln>
        </p:spPr>
      </p:sp>
      <p:sp>
        <p:nvSpPr>
          <p:cNvPr id="27" name="Shape 25"/>
          <p:cNvSpPr/>
          <p:nvPr/>
        </p:nvSpPr>
        <p:spPr>
          <a:xfrm>
            <a:off x="365760" y="3154680"/>
            <a:ext cx="73152" cy="2468880"/>
          </a:xfrm>
          <a:prstGeom prst="rect">
            <a:avLst/>
          </a:prstGeom>
          <a:solidFill>
            <a:srgbClr val="16A34A"/>
          </a:solidFill>
          <a:ln w="12700">
            <a:solidFill>
              <a:srgbClr val="16A34A"/>
            </a:solidFill>
            <a:prstDash val="solid"/>
          </a:ln>
        </p:spPr>
      </p:sp>
      <p:sp>
        <p:nvSpPr>
          <p:cNvPr id="28" name="Text 26"/>
          <p:cNvSpPr/>
          <p:nvPr/>
        </p:nvSpPr>
        <p:spPr>
          <a:xfrm>
            <a:off x="594360" y="3273552"/>
            <a:ext cx="54864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Case Study: Citadele Banka Latvia</a:t>
            </a:r>
            <a:endParaRPr lang="en-US" sz="1500" dirty="0"/>
          </a:p>
        </p:txBody>
      </p:sp>
      <p:sp>
        <p:nvSpPr>
          <p:cNvPr id="29" name="Text 27"/>
          <p:cNvSpPr/>
          <p:nvPr/>
        </p:nvSpPr>
        <p:spPr>
          <a:xfrm>
            <a:off x="594360" y="3639312"/>
            <a:ext cx="5486400" cy="256032"/>
          </a:xfrm>
          <a:prstGeom prst="rect">
            <a:avLst/>
          </a:prstGeom>
          <a:noFill/>
          <a:ln/>
        </p:spPr>
        <p:txBody>
          <a:bodyPr wrap="square" lIns="0" tIns="0" rIns="0" bIns="0" rtlCol="0" anchor="ctr"/>
          <a:lstStyle/>
          <a:p>
            <a:pPr indent="0" marL="0">
              <a:buNone/>
            </a:pPr>
            <a:r>
              <a:rPr lang="en-US" sz="1000" dirty="0">
                <a:solidFill>
                  <a:srgbClr val="6E9DB5"/>
                </a:solidFill>
                <a:latin typeface="Calibri" pitchFamily="34" charset="0"/>
                <a:ea typeface="Calibri" pitchFamily="34" charset="-122"/>
                <a:cs typeface="Calibri" pitchFamily="34" charset="-120"/>
              </a:rPr>
              <a:t>DCS CDH Bridge Implementation  |  2025–2026</a:t>
            </a:r>
            <a:endParaRPr lang="en-US" sz="1000" dirty="0"/>
          </a:p>
        </p:txBody>
      </p:sp>
      <p:sp>
        <p:nvSpPr>
          <p:cNvPr id="30" name="Text 28"/>
          <p:cNvSpPr/>
          <p:nvPr/>
        </p:nvSpPr>
        <p:spPr>
          <a:xfrm>
            <a:off x="594360" y="3931920"/>
            <a:ext cx="6858000" cy="310896"/>
          </a:xfrm>
          <a:prstGeom prst="rect">
            <a:avLst/>
          </a:prstGeom>
          <a:noFill/>
          <a:ln/>
        </p:spPr>
        <p:txBody>
          <a:bodyPr wrap="square" lIns="0" tIns="0" rIns="0" bIns="0" rtlCol="0" anchor="ctr"/>
          <a:lstStyle/>
          <a:p>
            <a:pPr indent="0" marL="0">
              <a:buNone/>
            </a:pPr>
            <a:r>
              <a:rPr lang="en-US" sz="1050" dirty="0">
                <a:solidFill>
                  <a:srgbClr val="D8EEFA"/>
                </a:solidFill>
                <a:latin typeface="Calibri" pitchFamily="34" charset="0"/>
                <a:ea typeface="Calibri" pitchFamily="34" charset="-122"/>
                <a:cs typeface="Calibri" pitchFamily="34" charset="-120"/>
              </a:rPr>
              <a:t>✓  Citadele Banka (3rd largest bank in Latvia) running Pega CDH with low NBA utilisation</a:t>
            </a:r>
            <a:endParaRPr lang="en-US" sz="1050" dirty="0"/>
          </a:p>
        </p:txBody>
      </p:sp>
      <p:sp>
        <p:nvSpPr>
          <p:cNvPr id="31" name="Text 29"/>
          <p:cNvSpPr/>
          <p:nvPr/>
        </p:nvSpPr>
        <p:spPr>
          <a:xfrm>
            <a:off x="594360" y="4270248"/>
            <a:ext cx="6858000" cy="310896"/>
          </a:xfrm>
          <a:prstGeom prst="rect">
            <a:avLst/>
          </a:prstGeom>
          <a:noFill/>
          <a:ln/>
        </p:spPr>
        <p:txBody>
          <a:bodyPr wrap="square" lIns="0" tIns="0" rIns="0" bIns="0" rtlCol="0" anchor="ctr"/>
          <a:lstStyle/>
          <a:p>
            <a:pPr indent="0" marL="0">
              <a:buNone/>
            </a:pPr>
            <a:r>
              <a:rPr lang="en-US" sz="1050" dirty="0">
                <a:solidFill>
                  <a:srgbClr val="D8EEFA"/>
                </a:solidFill>
                <a:latin typeface="Calibri" pitchFamily="34" charset="0"/>
                <a:ea typeface="Calibri" pitchFamily="34" charset="-122"/>
                <a:cs typeface="Calibri" pitchFamily="34" charset="-120"/>
              </a:rPr>
              <a:t>✓  DCS embedded NexusJS SDK across web and mobile banking in 2 days</a:t>
            </a:r>
            <a:endParaRPr lang="en-US" sz="1050" dirty="0"/>
          </a:p>
        </p:txBody>
      </p:sp>
      <p:sp>
        <p:nvSpPr>
          <p:cNvPr id="32" name="Text 30"/>
          <p:cNvSpPr/>
          <p:nvPr/>
        </p:nvSpPr>
        <p:spPr>
          <a:xfrm>
            <a:off x="594360" y="4608576"/>
            <a:ext cx="6858000" cy="310896"/>
          </a:xfrm>
          <a:prstGeom prst="rect">
            <a:avLst/>
          </a:prstGeom>
          <a:noFill/>
          <a:ln/>
        </p:spPr>
        <p:txBody>
          <a:bodyPr wrap="square" lIns="0" tIns="0" rIns="0" bIns="0" rtlCol="0" anchor="ctr"/>
          <a:lstStyle/>
          <a:p>
            <a:pPr indent="0" marL="0">
              <a:buNone/>
            </a:pPr>
            <a:r>
              <a:rPr lang="en-US" sz="1050" dirty="0">
                <a:solidFill>
                  <a:srgbClr val="D8EEFA"/>
                </a:solidFill>
                <a:latin typeface="Calibri" pitchFamily="34" charset="0"/>
                <a:ea typeface="Calibri" pitchFamily="34" charset="-122"/>
                <a:cs typeface="Calibri" pitchFamily="34" charset="-120"/>
              </a:rPr>
              <a:t>✓  Salesforce + Snowflake + Genesys CCaaS connected within 14 days</a:t>
            </a:r>
            <a:endParaRPr lang="en-US" sz="1050" dirty="0"/>
          </a:p>
        </p:txBody>
      </p:sp>
      <p:sp>
        <p:nvSpPr>
          <p:cNvPr id="33" name="Text 31"/>
          <p:cNvSpPr/>
          <p:nvPr/>
        </p:nvSpPr>
        <p:spPr>
          <a:xfrm>
            <a:off x="594360" y="4946904"/>
            <a:ext cx="6858000" cy="310896"/>
          </a:xfrm>
          <a:prstGeom prst="rect">
            <a:avLst/>
          </a:prstGeom>
          <a:noFill/>
          <a:ln/>
        </p:spPr>
        <p:txBody>
          <a:bodyPr wrap="square" lIns="0" tIns="0" rIns="0" bIns="0" rtlCol="0" anchor="ctr"/>
          <a:lstStyle/>
          <a:p>
            <a:pPr indent="0" marL="0">
              <a:buNone/>
            </a:pPr>
            <a:r>
              <a:rPr lang="en-US" sz="1050" dirty="0">
                <a:solidFill>
                  <a:srgbClr val="D8EEFA"/>
                </a:solidFill>
                <a:latin typeface="Calibri" pitchFamily="34" charset="0"/>
                <a:ea typeface="Calibri" pitchFamily="34" charset="-122"/>
                <a:cs typeface="Calibri" pitchFamily="34" charset="-120"/>
              </a:rPr>
              <a:t>✓  NBA acceptance rate: 12% → 35% within 30 days of go-live</a:t>
            </a:r>
            <a:endParaRPr lang="en-US" sz="1050" dirty="0"/>
          </a:p>
        </p:txBody>
      </p:sp>
      <p:sp>
        <p:nvSpPr>
          <p:cNvPr id="34" name="Text 32"/>
          <p:cNvSpPr/>
          <p:nvPr/>
        </p:nvSpPr>
        <p:spPr>
          <a:xfrm>
            <a:off x="594360" y="5285232"/>
            <a:ext cx="6858000" cy="310896"/>
          </a:xfrm>
          <a:prstGeom prst="rect">
            <a:avLst/>
          </a:prstGeom>
          <a:noFill/>
          <a:ln/>
        </p:spPr>
        <p:txBody>
          <a:bodyPr wrap="square" lIns="0" tIns="0" rIns="0" bIns="0" rtlCol="0" anchor="ctr"/>
          <a:lstStyle/>
          <a:p>
            <a:pPr indent="0" marL="0">
              <a:buNone/>
            </a:pPr>
            <a:r>
              <a:rPr lang="en-US" sz="1050" dirty="0">
                <a:solidFill>
                  <a:srgbClr val="D8EEFA"/>
                </a:solidFill>
                <a:latin typeface="Calibri" pitchFamily="34" charset="0"/>
                <a:ea typeface="Calibri" pitchFamily="34" charset="-122"/>
                <a:cs typeface="Calibri" pitchFamily="34" charset="-120"/>
              </a:rPr>
              <a:t>✓  GDPR consent propagation live across 12 systems in week 1</a:t>
            </a:r>
            <a:endParaRPr lang="en-US" sz="1050" dirty="0"/>
          </a:p>
        </p:txBody>
      </p:sp>
      <p:sp>
        <p:nvSpPr>
          <p:cNvPr id="35" name="Text 33"/>
          <p:cNvSpPr/>
          <p:nvPr/>
        </p:nvSpPr>
        <p:spPr>
          <a:xfrm>
            <a:off x="7680960" y="3429000"/>
            <a:ext cx="4114800" cy="109728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"CDH Bridge solved in 30 days what we had been trying to build for 18 months."</a:t>
            </a:r>
            <a:endParaRPr lang="en-US" sz="1300" dirty="0"/>
          </a:p>
        </p:txBody>
      </p:sp>
      <p:sp>
        <p:nvSpPr>
          <p:cNvPr id="36" name="Text 34"/>
          <p:cNvSpPr/>
          <p:nvPr/>
        </p:nvSpPr>
        <p:spPr>
          <a:xfrm>
            <a:off x="7680960" y="4526280"/>
            <a:ext cx="4114800" cy="274320"/>
          </a:xfrm>
          <a:prstGeom prst="rect">
            <a:avLst/>
          </a:prstGeom>
          <a:noFill/>
          <a:ln/>
        </p:spPr>
        <p:txBody>
          <a:bodyPr wrap="square" lIns="0" tIns="0" rIns="0" bIns="0" rtlCol="0" anchor="ctr"/>
          <a:lstStyle/>
          <a:p>
            <a:pPr indent="0" marL="0">
              <a:buNone/>
            </a:pPr>
            <a:r>
              <a:rPr lang="en-US" sz="1000" dirty="0">
                <a:solidFill>
                  <a:srgbClr val="6E9DB5"/>
                </a:solidFill>
                <a:latin typeface="Calibri" pitchFamily="34" charset="0"/>
                <a:ea typeface="Calibri" pitchFamily="34" charset="-122"/>
                <a:cs typeface="Calibri" pitchFamily="34" charset="-120"/>
              </a:rPr>
              <a:t>— Chief Digital Officer, Citadele Banka</a:t>
            </a:r>
            <a:endParaRPr lang="en-US" sz="1000" dirty="0"/>
          </a:p>
        </p:txBody>
      </p:sp>
      <p:sp>
        <p:nvSpPr>
          <p:cNvPr id="37" name="Text 35"/>
          <p:cNvSpPr/>
          <p:nvPr/>
        </p:nvSpPr>
        <p:spPr>
          <a:xfrm>
            <a:off x="8686800" y="4846320"/>
            <a:ext cx="228600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DCS</a:t>
            </a:r>
            <a:endParaRPr lang="en-US" sz="2200" dirty="0"/>
          </a:p>
        </p:txBody>
      </p:sp>
      <p:sp>
        <p:nvSpPr>
          <p:cNvPr id="38" name="Text 36"/>
          <p:cNvSpPr/>
          <p:nvPr/>
        </p:nvSpPr>
        <p:spPr>
          <a:xfrm>
            <a:off x="8046720" y="5376672"/>
            <a:ext cx="3566160" cy="228600"/>
          </a:xfrm>
          <a:prstGeom prst="rect">
            <a:avLst/>
          </a:prstGeom>
          <a:noFill/>
          <a:ln/>
        </p:spPr>
        <p:txBody>
          <a:bodyPr wrap="square" lIns="0" tIns="0" rIns="0" bIns="0" rtlCol="0" anchor="ctr"/>
          <a:lstStyle/>
          <a:p>
            <a:pPr algn="ctr" indent="0" marL="0">
              <a:buNone/>
            </a:pPr>
            <a:r>
              <a:rPr lang="en-US" sz="900" dirty="0">
                <a:solidFill>
                  <a:srgbClr val="6E9DB5"/>
                </a:solidFill>
                <a:latin typeface="Calibri" pitchFamily="34" charset="0"/>
                <a:ea typeface="Calibri" pitchFamily="34" charset="-122"/>
                <a:cs typeface="Calibri" pitchFamily="34" charset="-120"/>
              </a:rPr>
              <a:t>Decision Consulting Solutions</a:t>
            </a:r>
            <a:endParaRPr lang="en-US" sz="900" dirty="0"/>
          </a:p>
        </p:txBody>
      </p:sp>
      <p:sp>
        <p:nvSpPr>
          <p:cNvPr id="39" name="Shape 37"/>
          <p:cNvSpPr/>
          <p:nvPr/>
        </p:nvSpPr>
        <p:spPr>
          <a:xfrm>
            <a:off x="0" y="6565392"/>
            <a:ext cx="12188952" cy="292608"/>
          </a:xfrm>
          <a:prstGeom prst="rect">
            <a:avLst/>
          </a:prstGeom>
          <a:solidFill>
            <a:srgbClr val="003A61"/>
          </a:solidFill>
          <a:ln w="12700">
            <a:solidFill>
              <a:srgbClr val="003A61"/>
            </a:solidFill>
            <a:prstDash val="solid"/>
          </a:ln>
        </p:spPr>
      </p:sp>
      <p:sp>
        <p:nvSpPr>
          <p:cNvPr id="40" name="Text 38"/>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41" name="Text 39"/>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8 / 15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1A30"/>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201168"/>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DCS: The Only Partner Who Built This for Pega</a:t>
            </a:r>
            <a:endParaRPr lang="en-US" sz="3000" dirty="0"/>
          </a:p>
        </p:txBody>
      </p:sp>
      <p:sp>
        <p:nvSpPr>
          <p:cNvPr id="4" name="Text 2"/>
          <p:cNvSpPr/>
          <p:nvPr/>
        </p:nvSpPr>
        <p:spPr>
          <a:xfrm>
            <a:off x="457200" y="868680"/>
            <a:ext cx="9144000" cy="320040"/>
          </a:xfrm>
          <a:prstGeom prst="rect">
            <a:avLst/>
          </a:prstGeom>
          <a:noFill/>
          <a:ln/>
        </p:spPr>
        <p:txBody>
          <a:bodyPr wrap="square" lIns="0" tIns="0" rIns="0" bIns="0" rtlCol="0" anchor="ctr"/>
          <a:lstStyle/>
          <a:p>
            <a:pPr indent="0" marL="0">
              <a:buNone/>
            </a:pPr>
            <a:r>
              <a:rPr lang="en-US" sz="1300" dirty="0">
                <a:solidFill>
                  <a:srgbClr val="6E9DB5"/>
                </a:solidFill>
                <a:latin typeface="Calibri" pitchFamily="34" charset="0"/>
                <a:ea typeface="Calibri" pitchFamily="34" charset="-122"/>
                <a:cs typeface="Calibri" pitchFamily="34" charset="-120"/>
              </a:rPr>
              <a:t>First-party product. Not a resold CDP. Built by DCS engineers who know Pega CDH inside out.</a:t>
            </a:r>
            <a:endParaRPr lang="en-US" sz="1300" dirty="0"/>
          </a:p>
        </p:txBody>
      </p:sp>
      <p:sp>
        <p:nvSpPr>
          <p:cNvPr id="5" name="Shape 3"/>
          <p:cNvSpPr/>
          <p:nvPr/>
        </p:nvSpPr>
        <p:spPr>
          <a:xfrm>
            <a:off x="457200" y="1170432"/>
            <a:ext cx="11274552" cy="27432"/>
          </a:xfrm>
          <a:prstGeom prst="rect">
            <a:avLst/>
          </a:prstGeom>
          <a:solidFill>
            <a:srgbClr val="0D4060"/>
          </a:solidFill>
          <a:ln w="12700">
            <a:solidFill>
              <a:srgbClr val="0D4060"/>
            </a:solidFill>
            <a:prstDash val="solid"/>
          </a:ln>
        </p:spPr>
      </p:sp>
      <p:sp>
        <p:nvSpPr>
          <p:cNvPr id="6" name="Shape 4"/>
          <p:cNvSpPr/>
          <p:nvPr/>
        </p:nvSpPr>
        <p:spPr>
          <a:xfrm>
            <a:off x="457200" y="1371600"/>
            <a:ext cx="3657600" cy="1920240"/>
          </a:xfrm>
          <a:prstGeom prst="rect">
            <a:avLst/>
          </a:prstGeom>
          <a:solidFill>
            <a:srgbClr val="0A2540"/>
          </a:solidFill>
          <a:ln w="12700">
            <a:solidFill>
              <a:srgbClr val="0D4060"/>
            </a:solidFill>
            <a:prstDash val="solid"/>
          </a:ln>
        </p:spPr>
      </p:sp>
      <p:sp>
        <p:nvSpPr>
          <p:cNvPr id="7" name="Shape 5"/>
          <p:cNvSpPr/>
          <p:nvPr/>
        </p:nvSpPr>
        <p:spPr>
          <a:xfrm>
            <a:off x="457200" y="1371600"/>
            <a:ext cx="3657600" cy="54864"/>
          </a:xfrm>
          <a:prstGeom prst="rect">
            <a:avLst/>
          </a:prstGeom>
          <a:solidFill>
            <a:srgbClr val="16A34A"/>
          </a:solidFill>
          <a:ln w="12700">
            <a:solidFill>
              <a:srgbClr val="16A34A"/>
            </a:solidFill>
            <a:prstDash val="solid"/>
          </a:ln>
        </p:spPr>
      </p:sp>
      <p:sp>
        <p:nvSpPr>
          <p:cNvPr id="8" name="Text 6"/>
          <p:cNvSpPr/>
          <p:nvPr/>
        </p:nvSpPr>
        <p:spPr>
          <a:xfrm>
            <a:off x="594360" y="1554480"/>
            <a:ext cx="338328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Deep Pega CDH Expertise</a:t>
            </a:r>
            <a:endParaRPr lang="en-US" sz="1250" dirty="0"/>
          </a:p>
        </p:txBody>
      </p:sp>
      <p:sp>
        <p:nvSpPr>
          <p:cNvPr id="9" name="Text 7"/>
          <p:cNvSpPr/>
          <p:nvPr/>
        </p:nvSpPr>
        <p:spPr>
          <a:xfrm>
            <a:off x="594360" y="2029968"/>
            <a:ext cx="3383280" cy="1143000"/>
          </a:xfrm>
          <a:prstGeom prst="rect">
            <a:avLst/>
          </a:prstGeom>
          <a:noFill/>
          <a:ln/>
        </p:spPr>
        <p:txBody>
          <a:bodyPr wrap="square" lIns="0" tIns="0" rIns="0" bIns="0" rtlCol="0" anchor="ctr"/>
          <a:lstStyle/>
          <a:p>
            <a:pPr indent="0" marL="0">
              <a:buNone/>
            </a:pPr>
            <a:r>
              <a:rPr lang="en-US" sz="1050" dirty="0">
                <a:solidFill>
                  <a:srgbClr val="8BAFC5"/>
                </a:solidFill>
                <a:latin typeface="Calibri" pitchFamily="34" charset="0"/>
                <a:ea typeface="Calibri" pitchFamily="34" charset="-122"/>
                <a:cs typeface="Calibri" pitchFamily="34" charset="-120"/>
              </a:rPr>
              <a:t>Certified Pega implementation partner. Our engineers have built CDH deployments across Financial Services, Telco, and Insurance globally.</a:t>
            </a:r>
            <a:endParaRPr lang="en-US" sz="1050" dirty="0"/>
          </a:p>
        </p:txBody>
      </p:sp>
      <p:sp>
        <p:nvSpPr>
          <p:cNvPr id="10" name="Shape 8"/>
          <p:cNvSpPr/>
          <p:nvPr/>
        </p:nvSpPr>
        <p:spPr>
          <a:xfrm>
            <a:off x="4343400" y="1371600"/>
            <a:ext cx="3657600" cy="1920240"/>
          </a:xfrm>
          <a:prstGeom prst="rect">
            <a:avLst/>
          </a:prstGeom>
          <a:solidFill>
            <a:srgbClr val="0A2540"/>
          </a:solidFill>
          <a:ln w="12700">
            <a:solidFill>
              <a:srgbClr val="0D4060"/>
            </a:solidFill>
            <a:prstDash val="solid"/>
          </a:ln>
        </p:spPr>
      </p:sp>
      <p:sp>
        <p:nvSpPr>
          <p:cNvPr id="11" name="Shape 9"/>
          <p:cNvSpPr/>
          <p:nvPr/>
        </p:nvSpPr>
        <p:spPr>
          <a:xfrm>
            <a:off x="4343400" y="1371600"/>
            <a:ext cx="3657600" cy="54864"/>
          </a:xfrm>
          <a:prstGeom prst="rect">
            <a:avLst/>
          </a:prstGeom>
          <a:solidFill>
            <a:srgbClr val="16A34A"/>
          </a:solidFill>
          <a:ln w="12700">
            <a:solidFill>
              <a:srgbClr val="16A34A"/>
            </a:solidFill>
            <a:prstDash val="solid"/>
          </a:ln>
        </p:spPr>
      </p:sp>
      <p:sp>
        <p:nvSpPr>
          <p:cNvPr id="12" name="Text 10"/>
          <p:cNvSpPr/>
          <p:nvPr/>
        </p:nvSpPr>
        <p:spPr>
          <a:xfrm>
            <a:off x="4480560" y="1554480"/>
            <a:ext cx="338328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Purpose-Built, Not Repurposed</a:t>
            </a:r>
            <a:endParaRPr lang="en-US" sz="1250" dirty="0"/>
          </a:p>
        </p:txBody>
      </p:sp>
      <p:sp>
        <p:nvSpPr>
          <p:cNvPr id="13" name="Text 11"/>
          <p:cNvSpPr/>
          <p:nvPr/>
        </p:nvSpPr>
        <p:spPr>
          <a:xfrm>
            <a:off x="4480560" y="2029968"/>
            <a:ext cx="3383280" cy="1143000"/>
          </a:xfrm>
          <a:prstGeom prst="rect">
            <a:avLst/>
          </a:prstGeom>
          <a:noFill/>
          <a:ln/>
        </p:spPr>
        <p:txBody>
          <a:bodyPr wrap="square" lIns="0" tIns="0" rIns="0" bIns="0" rtlCol="0" anchor="ctr"/>
          <a:lstStyle/>
          <a:p>
            <a:pPr indent="0" marL="0">
              <a:buNone/>
            </a:pPr>
            <a:r>
              <a:rPr lang="en-US" sz="1050" dirty="0">
                <a:solidFill>
                  <a:srgbClr val="8BAFC5"/>
                </a:solidFill>
                <a:latin typeface="Calibri" pitchFamily="34" charset="0"/>
                <a:ea typeface="Calibri" pitchFamily="34" charset="-122"/>
                <a:cs typeface="Calibri" pitchFamily="34" charset="-120"/>
              </a:rPr>
              <a:t>CDH Bridge was designed around Pega CDH's 4 documented integration points — not adapted from a generic CDP. Every feature maps to CDH's native architecture.</a:t>
            </a:r>
            <a:endParaRPr lang="en-US" sz="1050" dirty="0"/>
          </a:p>
        </p:txBody>
      </p:sp>
      <p:sp>
        <p:nvSpPr>
          <p:cNvPr id="14" name="Shape 12"/>
          <p:cNvSpPr/>
          <p:nvPr/>
        </p:nvSpPr>
        <p:spPr>
          <a:xfrm>
            <a:off x="8229600" y="1371600"/>
            <a:ext cx="3657600" cy="1920240"/>
          </a:xfrm>
          <a:prstGeom prst="rect">
            <a:avLst/>
          </a:prstGeom>
          <a:solidFill>
            <a:srgbClr val="0A2540"/>
          </a:solidFill>
          <a:ln w="12700">
            <a:solidFill>
              <a:srgbClr val="0D4060"/>
            </a:solidFill>
            <a:prstDash val="solid"/>
          </a:ln>
        </p:spPr>
      </p:sp>
      <p:sp>
        <p:nvSpPr>
          <p:cNvPr id="15" name="Shape 13"/>
          <p:cNvSpPr/>
          <p:nvPr/>
        </p:nvSpPr>
        <p:spPr>
          <a:xfrm>
            <a:off x="8229600" y="1371600"/>
            <a:ext cx="3657600" cy="54864"/>
          </a:xfrm>
          <a:prstGeom prst="rect">
            <a:avLst/>
          </a:prstGeom>
          <a:solidFill>
            <a:srgbClr val="16A34A"/>
          </a:solidFill>
          <a:ln w="12700">
            <a:solidFill>
              <a:srgbClr val="16A34A"/>
            </a:solidFill>
            <a:prstDash val="solid"/>
          </a:ln>
        </p:spPr>
      </p:sp>
      <p:sp>
        <p:nvSpPr>
          <p:cNvPr id="16" name="Text 14"/>
          <p:cNvSpPr/>
          <p:nvPr/>
        </p:nvSpPr>
        <p:spPr>
          <a:xfrm>
            <a:off x="8366760" y="1554480"/>
            <a:ext cx="338328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Productised IP, Not Bespoke</a:t>
            </a:r>
            <a:endParaRPr lang="en-US" sz="1250" dirty="0"/>
          </a:p>
        </p:txBody>
      </p:sp>
      <p:sp>
        <p:nvSpPr>
          <p:cNvPr id="17" name="Text 15"/>
          <p:cNvSpPr/>
          <p:nvPr/>
        </p:nvSpPr>
        <p:spPr>
          <a:xfrm>
            <a:off x="8366760" y="2029968"/>
            <a:ext cx="3383280" cy="1143000"/>
          </a:xfrm>
          <a:prstGeom prst="rect">
            <a:avLst/>
          </a:prstGeom>
          <a:noFill/>
          <a:ln/>
        </p:spPr>
        <p:txBody>
          <a:bodyPr wrap="square" lIns="0" tIns="0" rIns="0" bIns="0" rtlCol="0" anchor="ctr"/>
          <a:lstStyle/>
          <a:p>
            <a:pPr indent="0" marL="0">
              <a:buNone/>
            </a:pPr>
            <a:r>
              <a:rPr lang="en-US" sz="1050" dirty="0">
                <a:solidFill>
                  <a:srgbClr val="8BAFC5"/>
                </a:solidFill>
                <a:latin typeface="Calibri" pitchFamily="34" charset="0"/>
                <a:ea typeface="Calibri" pitchFamily="34" charset="-122"/>
                <a:cs typeface="Calibri" pitchFamily="34" charset="-120"/>
              </a:rPr>
              <a:t>Unlike SI deliverables, CDH Bridge is a SaaS product with version control, documented APIs, automated tests, and a 30-day SLA. Your client gets a product, not a project.</a:t>
            </a:r>
            <a:endParaRPr lang="en-US" sz="1050" dirty="0"/>
          </a:p>
        </p:txBody>
      </p:sp>
      <p:sp>
        <p:nvSpPr>
          <p:cNvPr id="18" name="Shape 16"/>
          <p:cNvSpPr/>
          <p:nvPr/>
        </p:nvSpPr>
        <p:spPr>
          <a:xfrm>
            <a:off x="457200" y="3520440"/>
            <a:ext cx="3657600" cy="1920240"/>
          </a:xfrm>
          <a:prstGeom prst="rect">
            <a:avLst/>
          </a:prstGeom>
          <a:solidFill>
            <a:srgbClr val="0A2540"/>
          </a:solidFill>
          <a:ln w="12700">
            <a:solidFill>
              <a:srgbClr val="0D4060"/>
            </a:solidFill>
            <a:prstDash val="solid"/>
          </a:ln>
        </p:spPr>
      </p:sp>
      <p:sp>
        <p:nvSpPr>
          <p:cNvPr id="19" name="Shape 17"/>
          <p:cNvSpPr/>
          <p:nvPr/>
        </p:nvSpPr>
        <p:spPr>
          <a:xfrm>
            <a:off x="457200" y="3520440"/>
            <a:ext cx="3657600" cy="54864"/>
          </a:xfrm>
          <a:prstGeom prst="rect">
            <a:avLst/>
          </a:prstGeom>
          <a:solidFill>
            <a:srgbClr val="16A34A"/>
          </a:solidFill>
          <a:ln w="12700">
            <a:solidFill>
              <a:srgbClr val="16A34A"/>
            </a:solidFill>
            <a:prstDash val="solid"/>
          </a:ln>
        </p:spPr>
      </p:sp>
      <p:sp>
        <p:nvSpPr>
          <p:cNvPr id="20" name="Text 18"/>
          <p:cNvSpPr/>
          <p:nvPr/>
        </p:nvSpPr>
        <p:spPr>
          <a:xfrm>
            <a:off x="594360" y="3703320"/>
            <a:ext cx="338328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Reference Implementation Live</a:t>
            </a:r>
            <a:endParaRPr lang="en-US" sz="1250" dirty="0"/>
          </a:p>
        </p:txBody>
      </p:sp>
      <p:sp>
        <p:nvSpPr>
          <p:cNvPr id="21" name="Text 19"/>
          <p:cNvSpPr/>
          <p:nvPr/>
        </p:nvSpPr>
        <p:spPr>
          <a:xfrm>
            <a:off x="594360" y="4178808"/>
            <a:ext cx="3383280" cy="1143000"/>
          </a:xfrm>
          <a:prstGeom prst="rect">
            <a:avLst/>
          </a:prstGeom>
          <a:noFill/>
          <a:ln/>
        </p:spPr>
        <p:txBody>
          <a:bodyPr wrap="square" lIns="0" tIns="0" rIns="0" bIns="0" rtlCol="0" anchor="ctr"/>
          <a:lstStyle/>
          <a:p>
            <a:pPr indent="0" marL="0">
              <a:buNone/>
            </a:pPr>
            <a:r>
              <a:rPr lang="en-US" sz="1050" dirty="0">
                <a:solidFill>
                  <a:srgbClr val="8BAFC5"/>
                </a:solidFill>
                <a:latin typeface="Calibri" pitchFamily="34" charset="0"/>
                <a:ea typeface="Calibri" pitchFamily="34" charset="-122"/>
                <a:cs typeface="Calibri" pitchFamily="34" charset="-120"/>
              </a:rPr>
              <a:t>Citadele Banka Latvia is running CDH Bridge in production today. We have a real reference customer, real metrics, and a real case study to share with your prospects.</a:t>
            </a:r>
            <a:endParaRPr lang="en-US" sz="1050" dirty="0"/>
          </a:p>
        </p:txBody>
      </p:sp>
      <p:sp>
        <p:nvSpPr>
          <p:cNvPr id="22" name="Shape 20"/>
          <p:cNvSpPr/>
          <p:nvPr/>
        </p:nvSpPr>
        <p:spPr>
          <a:xfrm>
            <a:off x="4343400" y="3520440"/>
            <a:ext cx="3657600" cy="1920240"/>
          </a:xfrm>
          <a:prstGeom prst="rect">
            <a:avLst/>
          </a:prstGeom>
          <a:solidFill>
            <a:srgbClr val="0A2540"/>
          </a:solidFill>
          <a:ln w="12700">
            <a:solidFill>
              <a:srgbClr val="0D4060"/>
            </a:solidFill>
            <a:prstDash val="solid"/>
          </a:ln>
        </p:spPr>
      </p:sp>
      <p:sp>
        <p:nvSpPr>
          <p:cNvPr id="23" name="Shape 21"/>
          <p:cNvSpPr/>
          <p:nvPr/>
        </p:nvSpPr>
        <p:spPr>
          <a:xfrm>
            <a:off x="4343400" y="3520440"/>
            <a:ext cx="3657600" cy="54864"/>
          </a:xfrm>
          <a:prstGeom prst="rect">
            <a:avLst/>
          </a:prstGeom>
          <a:solidFill>
            <a:srgbClr val="16A34A"/>
          </a:solidFill>
          <a:ln w="12700">
            <a:solidFill>
              <a:srgbClr val="16A34A"/>
            </a:solidFill>
            <a:prstDash val="solid"/>
          </a:ln>
        </p:spPr>
      </p:sp>
      <p:sp>
        <p:nvSpPr>
          <p:cNvPr id="24" name="Text 22"/>
          <p:cNvSpPr/>
          <p:nvPr/>
        </p:nvSpPr>
        <p:spPr>
          <a:xfrm>
            <a:off x="4480560" y="3703320"/>
            <a:ext cx="338328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30-Day Implementation Guarantee</a:t>
            </a:r>
            <a:endParaRPr lang="en-US" sz="1250" dirty="0"/>
          </a:p>
        </p:txBody>
      </p:sp>
      <p:sp>
        <p:nvSpPr>
          <p:cNvPr id="25" name="Text 23"/>
          <p:cNvSpPr/>
          <p:nvPr/>
        </p:nvSpPr>
        <p:spPr>
          <a:xfrm>
            <a:off x="4480560" y="4178808"/>
            <a:ext cx="3383280" cy="1143000"/>
          </a:xfrm>
          <a:prstGeom prst="rect">
            <a:avLst/>
          </a:prstGeom>
          <a:noFill/>
          <a:ln/>
        </p:spPr>
        <p:txBody>
          <a:bodyPr wrap="square" lIns="0" tIns="0" rIns="0" bIns="0" rtlCol="0" anchor="ctr"/>
          <a:lstStyle/>
          <a:p>
            <a:pPr indent="0" marL="0">
              <a:buNone/>
            </a:pPr>
            <a:r>
              <a:rPr lang="en-US" sz="1050" dirty="0">
                <a:solidFill>
                  <a:srgbClr val="8BAFC5"/>
                </a:solidFill>
                <a:latin typeface="Calibri" pitchFamily="34" charset="0"/>
                <a:ea typeface="Calibri" pitchFamily="34" charset="-122"/>
                <a:cs typeface="Calibri" pitchFamily="34" charset="-120"/>
              </a:rPr>
              <a:t>We guarantee the first CDH Bridge event flowing to Pega CDH within 30 days, or DCS refunds the first month. We back our speed claim commercially.</a:t>
            </a:r>
            <a:endParaRPr lang="en-US" sz="1050" dirty="0"/>
          </a:p>
        </p:txBody>
      </p:sp>
      <p:sp>
        <p:nvSpPr>
          <p:cNvPr id="26" name="Shape 24"/>
          <p:cNvSpPr/>
          <p:nvPr/>
        </p:nvSpPr>
        <p:spPr>
          <a:xfrm>
            <a:off x="8229600" y="3520440"/>
            <a:ext cx="3657600" cy="1920240"/>
          </a:xfrm>
          <a:prstGeom prst="rect">
            <a:avLst/>
          </a:prstGeom>
          <a:solidFill>
            <a:srgbClr val="0A2540"/>
          </a:solidFill>
          <a:ln w="12700">
            <a:solidFill>
              <a:srgbClr val="0D4060"/>
            </a:solidFill>
            <a:prstDash val="solid"/>
          </a:ln>
        </p:spPr>
      </p:sp>
      <p:sp>
        <p:nvSpPr>
          <p:cNvPr id="27" name="Shape 25"/>
          <p:cNvSpPr/>
          <p:nvPr/>
        </p:nvSpPr>
        <p:spPr>
          <a:xfrm>
            <a:off x="8229600" y="3520440"/>
            <a:ext cx="3657600" cy="54864"/>
          </a:xfrm>
          <a:prstGeom prst="rect">
            <a:avLst/>
          </a:prstGeom>
          <a:solidFill>
            <a:srgbClr val="16A34A"/>
          </a:solidFill>
          <a:ln w="12700">
            <a:solidFill>
              <a:srgbClr val="16A34A"/>
            </a:solidFill>
            <a:prstDash val="solid"/>
          </a:ln>
        </p:spPr>
      </p:sp>
      <p:sp>
        <p:nvSpPr>
          <p:cNvPr id="28" name="Text 26"/>
          <p:cNvSpPr/>
          <p:nvPr/>
        </p:nvSpPr>
        <p:spPr>
          <a:xfrm>
            <a:off x="8366760" y="3703320"/>
            <a:ext cx="338328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Pega Partner Advantage</a:t>
            </a:r>
            <a:endParaRPr lang="en-US" sz="1250" dirty="0"/>
          </a:p>
        </p:txBody>
      </p:sp>
      <p:sp>
        <p:nvSpPr>
          <p:cNvPr id="29" name="Text 27"/>
          <p:cNvSpPr/>
          <p:nvPr/>
        </p:nvSpPr>
        <p:spPr>
          <a:xfrm>
            <a:off x="8366760" y="4178808"/>
            <a:ext cx="3383280" cy="1143000"/>
          </a:xfrm>
          <a:prstGeom prst="rect">
            <a:avLst/>
          </a:prstGeom>
          <a:noFill/>
          <a:ln/>
        </p:spPr>
        <p:txBody>
          <a:bodyPr wrap="square" lIns="0" tIns="0" rIns="0" bIns="0" rtlCol="0" anchor="ctr"/>
          <a:lstStyle/>
          <a:p>
            <a:pPr indent="0" marL="0">
              <a:buNone/>
            </a:pPr>
            <a:r>
              <a:rPr lang="en-US" sz="1050" dirty="0">
                <a:solidFill>
                  <a:srgbClr val="8BAFC5"/>
                </a:solidFill>
                <a:latin typeface="Calibri" pitchFamily="34" charset="0"/>
                <a:ea typeface="Calibri" pitchFamily="34" charset="-122"/>
                <a:cs typeface="Calibri" pitchFamily="34" charset="-120"/>
              </a:rPr>
              <a:t>CDH Bridge is on the path to Pega Technology Partner certification. Co-selling with the Pega field team means your CDH Bridge conversation becomes a Pega-endorsed solution.</a:t>
            </a:r>
            <a:endParaRPr lang="en-US" sz="1050" dirty="0"/>
          </a:p>
        </p:txBody>
      </p:sp>
      <p:sp>
        <p:nvSpPr>
          <p:cNvPr id="30" name="Shape 28"/>
          <p:cNvSpPr/>
          <p:nvPr/>
        </p:nvSpPr>
        <p:spPr>
          <a:xfrm>
            <a:off x="0" y="6565392"/>
            <a:ext cx="12188952" cy="292608"/>
          </a:xfrm>
          <a:prstGeom prst="rect">
            <a:avLst/>
          </a:prstGeom>
          <a:solidFill>
            <a:srgbClr val="003A61"/>
          </a:solidFill>
          <a:ln w="12700">
            <a:solidFill>
              <a:srgbClr val="003A61"/>
            </a:solidFill>
            <a:prstDash val="solid"/>
          </a:ln>
        </p:spPr>
      </p:sp>
      <p:sp>
        <p:nvSpPr>
          <p:cNvPr id="31" name="Text 29"/>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32" name="Text 30"/>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9 / 15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164592"/>
            <a:ext cx="11274552" cy="502920"/>
          </a:xfrm>
          <a:prstGeom prst="rect">
            <a:avLst/>
          </a:prstGeom>
          <a:noFill/>
          <a:ln/>
        </p:spPr>
        <p:txBody>
          <a:bodyPr wrap="square" lIns="0" tIns="0" rIns="0" bIns="0" rtlCol="0" anchor="ctr"/>
          <a:lstStyle/>
          <a:p>
            <a:pPr indent="0" marL="0">
              <a:buNone/>
            </a:pPr>
            <a:r>
              <a:rPr lang="en-US" sz="2800" b="1" dirty="0">
                <a:solidFill>
                  <a:srgbClr val="003A61"/>
                </a:solidFill>
                <a:latin typeface="Calibri" pitchFamily="34" charset="0"/>
                <a:ea typeface="Calibri" pitchFamily="34" charset="-122"/>
                <a:cs typeface="Calibri" pitchFamily="34" charset="-120"/>
              </a:rPr>
              <a:t>Why Not Adobe AEP or Salesforce Data Cloud?</a:t>
            </a:r>
            <a:endParaRPr lang="en-US" sz="2800" dirty="0"/>
          </a:p>
        </p:txBody>
      </p:sp>
      <p:sp>
        <p:nvSpPr>
          <p:cNvPr id="4" name="Text 2"/>
          <p:cNvSpPr/>
          <p:nvPr/>
        </p:nvSpPr>
        <p:spPr>
          <a:xfrm>
            <a:off x="457200" y="667512"/>
            <a:ext cx="11274552" cy="2743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CDH Bridge is the only CDP purpose-built for Pega CDH customers</a:t>
            </a:r>
            <a:endParaRPr lang="en-US" sz="1300" dirty="0"/>
          </a:p>
        </p:txBody>
      </p:sp>
      <p:sp>
        <p:nvSpPr>
          <p:cNvPr id="5" name="Shape 3"/>
          <p:cNvSpPr/>
          <p:nvPr/>
        </p:nvSpPr>
        <p:spPr>
          <a:xfrm>
            <a:off x="457200" y="914400"/>
            <a:ext cx="11274552" cy="27432"/>
          </a:xfrm>
          <a:prstGeom prst="rect">
            <a:avLst/>
          </a:prstGeom>
          <a:solidFill>
            <a:srgbClr val="E2E8F0"/>
          </a:solidFill>
          <a:ln w="12700">
            <a:solidFill>
              <a:srgbClr val="E2E8F0"/>
            </a:solidFill>
            <a:prstDash val="solid"/>
          </a:ln>
        </p:spPr>
      </p:sp>
      <p:sp>
        <p:nvSpPr>
          <p:cNvPr id="6" name="Shape 4"/>
          <p:cNvSpPr/>
          <p:nvPr/>
        </p:nvSpPr>
        <p:spPr>
          <a:xfrm>
            <a:off x="365760" y="1115568"/>
            <a:ext cx="3566160" cy="365760"/>
          </a:xfrm>
          <a:prstGeom prst="rect">
            <a:avLst/>
          </a:prstGeom>
          <a:solidFill>
            <a:srgbClr val="F1F5F9"/>
          </a:solidFill>
          <a:ln w="12700">
            <a:solidFill>
              <a:srgbClr val="E2E8F0"/>
            </a:solidFill>
            <a:prstDash val="solid"/>
          </a:ln>
        </p:spPr>
      </p:sp>
      <p:sp>
        <p:nvSpPr>
          <p:cNvPr id="7" name="Text 5"/>
          <p:cNvSpPr/>
          <p:nvPr/>
        </p:nvSpPr>
        <p:spPr>
          <a:xfrm>
            <a:off x="475488" y="1115568"/>
            <a:ext cx="3383280" cy="365760"/>
          </a:xfrm>
          <a:prstGeom prst="rect">
            <a:avLst/>
          </a:prstGeom>
          <a:noFill/>
          <a:ln/>
        </p:spPr>
        <p:txBody>
          <a:bodyPr wrap="square" lIns="0" tIns="0" rIns="0" bIns="0" rtlCol="0" anchor="ctr"/>
          <a:lstStyle/>
          <a:p>
            <a:pPr indent="0" marL="0">
              <a:buNone/>
            </a:pPr>
            <a:r>
              <a:rPr lang="en-US" sz="1050" b="1" dirty="0">
                <a:solidFill>
                  <a:srgbClr val="003A61"/>
                </a:solidFill>
                <a:latin typeface="Calibri" pitchFamily="34" charset="0"/>
                <a:ea typeface="Calibri" pitchFamily="34" charset="-122"/>
                <a:cs typeface="Calibri" pitchFamily="34" charset="-120"/>
              </a:rPr>
              <a:t>Capability</a:t>
            </a:r>
            <a:endParaRPr lang="en-US" sz="1050" dirty="0"/>
          </a:p>
        </p:txBody>
      </p:sp>
      <p:sp>
        <p:nvSpPr>
          <p:cNvPr id="8" name="Shape 6"/>
          <p:cNvSpPr/>
          <p:nvPr/>
        </p:nvSpPr>
        <p:spPr>
          <a:xfrm>
            <a:off x="4114800" y="1115568"/>
            <a:ext cx="2423160" cy="365760"/>
          </a:xfrm>
          <a:prstGeom prst="rect">
            <a:avLst/>
          </a:prstGeom>
          <a:solidFill>
            <a:srgbClr val="003A61"/>
          </a:solidFill>
          <a:ln w="12700">
            <a:solidFill>
              <a:srgbClr val="E2E8F0"/>
            </a:solidFill>
            <a:prstDash val="solid"/>
          </a:ln>
        </p:spPr>
      </p:sp>
      <p:sp>
        <p:nvSpPr>
          <p:cNvPr id="9" name="Text 7"/>
          <p:cNvSpPr/>
          <p:nvPr/>
        </p:nvSpPr>
        <p:spPr>
          <a:xfrm>
            <a:off x="4224528" y="1115568"/>
            <a:ext cx="224028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CDH Bridge (DCS)</a:t>
            </a:r>
            <a:endParaRPr lang="en-US" sz="1050" dirty="0"/>
          </a:p>
        </p:txBody>
      </p:sp>
      <p:sp>
        <p:nvSpPr>
          <p:cNvPr id="10" name="Shape 8"/>
          <p:cNvSpPr/>
          <p:nvPr/>
        </p:nvSpPr>
        <p:spPr>
          <a:xfrm>
            <a:off x="7452360" y="1115568"/>
            <a:ext cx="2423160" cy="365760"/>
          </a:xfrm>
          <a:prstGeom prst="rect">
            <a:avLst/>
          </a:prstGeom>
          <a:solidFill>
            <a:srgbClr val="F1F5F9"/>
          </a:solidFill>
          <a:ln w="12700">
            <a:solidFill>
              <a:srgbClr val="E2E8F0"/>
            </a:solidFill>
            <a:prstDash val="solid"/>
          </a:ln>
        </p:spPr>
      </p:sp>
      <p:sp>
        <p:nvSpPr>
          <p:cNvPr id="11" name="Text 9"/>
          <p:cNvSpPr/>
          <p:nvPr/>
        </p:nvSpPr>
        <p:spPr>
          <a:xfrm>
            <a:off x="7562088" y="1115568"/>
            <a:ext cx="2240280" cy="365760"/>
          </a:xfrm>
          <a:prstGeom prst="rect">
            <a:avLst/>
          </a:prstGeom>
          <a:noFill/>
          <a:ln/>
        </p:spPr>
        <p:txBody>
          <a:bodyPr wrap="square" lIns="0" tIns="0" rIns="0" bIns="0" rtlCol="0" anchor="ctr"/>
          <a:lstStyle/>
          <a:p>
            <a:pPr indent="0" marL="0">
              <a:buNone/>
            </a:pPr>
            <a:r>
              <a:rPr lang="en-US" sz="1050" b="1" dirty="0">
                <a:solidFill>
                  <a:srgbClr val="475569"/>
                </a:solidFill>
                <a:latin typeface="Calibri" pitchFamily="34" charset="0"/>
                <a:ea typeface="Calibri" pitchFamily="34" charset="-122"/>
                <a:cs typeface="Calibri" pitchFamily="34" charset="-120"/>
              </a:rPr>
              <a:t>Adobe AEP</a:t>
            </a:r>
            <a:endParaRPr lang="en-US" sz="1050" dirty="0"/>
          </a:p>
        </p:txBody>
      </p:sp>
      <p:sp>
        <p:nvSpPr>
          <p:cNvPr id="12" name="Shape 10"/>
          <p:cNvSpPr/>
          <p:nvPr/>
        </p:nvSpPr>
        <p:spPr>
          <a:xfrm>
            <a:off x="10058400" y="1115568"/>
            <a:ext cx="2423160" cy="365760"/>
          </a:xfrm>
          <a:prstGeom prst="rect">
            <a:avLst/>
          </a:prstGeom>
          <a:solidFill>
            <a:srgbClr val="F1F5F9"/>
          </a:solidFill>
          <a:ln w="12700">
            <a:solidFill>
              <a:srgbClr val="E2E8F0"/>
            </a:solidFill>
            <a:prstDash val="solid"/>
          </a:ln>
        </p:spPr>
      </p:sp>
      <p:sp>
        <p:nvSpPr>
          <p:cNvPr id="13" name="Text 11"/>
          <p:cNvSpPr/>
          <p:nvPr/>
        </p:nvSpPr>
        <p:spPr>
          <a:xfrm>
            <a:off x="10168128" y="1115568"/>
            <a:ext cx="2240280" cy="365760"/>
          </a:xfrm>
          <a:prstGeom prst="rect">
            <a:avLst/>
          </a:prstGeom>
          <a:noFill/>
          <a:ln/>
        </p:spPr>
        <p:txBody>
          <a:bodyPr wrap="square" lIns="0" tIns="0" rIns="0" bIns="0" rtlCol="0" anchor="ctr"/>
          <a:lstStyle/>
          <a:p>
            <a:pPr indent="0" marL="0">
              <a:buNone/>
            </a:pPr>
            <a:r>
              <a:rPr lang="en-US" sz="1050" b="1" dirty="0">
                <a:solidFill>
                  <a:srgbClr val="475569"/>
                </a:solidFill>
                <a:latin typeface="Calibri" pitchFamily="34" charset="0"/>
                <a:ea typeface="Calibri" pitchFamily="34" charset="-122"/>
                <a:cs typeface="Calibri" pitchFamily="34" charset="-120"/>
              </a:rPr>
              <a:t>Salesforce Data Cloud</a:t>
            </a:r>
            <a:endParaRPr lang="en-US" sz="1050" dirty="0"/>
          </a:p>
        </p:txBody>
      </p:sp>
      <p:sp>
        <p:nvSpPr>
          <p:cNvPr id="14" name="Shape 12"/>
          <p:cNvSpPr/>
          <p:nvPr/>
        </p:nvSpPr>
        <p:spPr>
          <a:xfrm>
            <a:off x="365760" y="1499616"/>
            <a:ext cx="3566160" cy="384048"/>
          </a:xfrm>
          <a:prstGeom prst="rect">
            <a:avLst/>
          </a:prstGeom>
          <a:solidFill>
            <a:srgbClr val="FFFFFF"/>
          </a:solidFill>
          <a:ln w="12700">
            <a:solidFill>
              <a:srgbClr val="E2E8F0"/>
            </a:solidFill>
            <a:prstDash val="solid"/>
          </a:ln>
        </p:spPr>
      </p:sp>
      <p:sp>
        <p:nvSpPr>
          <p:cNvPr id="15" name="Shape 13"/>
          <p:cNvSpPr/>
          <p:nvPr/>
        </p:nvSpPr>
        <p:spPr>
          <a:xfrm>
            <a:off x="4114800" y="1499616"/>
            <a:ext cx="2423160" cy="384048"/>
          </a:xfrm>
          <a:prstGeom prst="rect">
            <a:avLst/>
          </a:prstGeom>
          <a:solidFill>
            <a:srgbClr val="F0FAF4"/>
          </a:solidFill>
          <a:ln w="12700">
            <a:solidFill>
              <a:srgbClr val="E2E8F0"/>
            </a:solidFill>
            <a:prstDash val="solid"/>
          </a:ln>
        </p:spPr>
      </p:sp>
      <p:sp>
        <p:nvSpPr>
          <p:cNvPr id="16" name="Shape 14"/>
          <p:cNvSpPr/>
          <p:nvPr/>
        </p:nvSpPr>
        <p:spPr>
          <a:xfrm>
            <a:off x="7452360" y="1499616"/>
            <a:ext cx="2423160" cy="384048"/>
          </a:xfrm>
          <a:prstGeom prst="rect">
            <a:avLst/>
          </a:prstGeom>
          <a:solidFill>
            <a:srgbClr val="FFFFFF"/>
          </a:solidFill>
          <a:ln w="12700">
            <a:solidFill>
              <a:srgbClr val="E2E8F0"/>
            </a:solidFill>
            <a:prstDash val="solid"/>
          </a:ln>
        </p:spPr>
      </p:sp>
      <p:sp>
        <p:nvSpPr>
          <p:cNvPr id="17" name="Shape 15"/>
          <p:cNvSpPr/>
          <p:nvPr/>
        </p:nvSpPr>
        <p:spPr>
          <a:xfrm>
            <a:off x="10058400" y="1499616"/>
            <a:ext cx="1965960" cy="384048"/>
          </a:xfrm>
          <a:prstGeom prst="rect">
            <a:avLst/>
          </a:prstGeom>
          <a:solidFill>
            <a:srgbClr val="FFFFFF"/>
          </a:solidFill>
          <a:ln w="12700">
            <a:solidFill>
              <a:srgbClr val="E2E8F0"/>
            </a:solidFill>
            <a:prstDash val="solid"/>
          </a:ln>
        </p:spPr>
      </p:sp>
      <p:sp>
        <p:nvSpPr>
          <p:cNvPr id="18" name="Text 16"/>
          <p:cNvSpPr/>
          <p:nvPr/>
        </p:nvSpPr>
        <p:spPr>
          <a:xfrm>
            <a:off x="475488" y="1499616"/>
            <a:ext cx="338328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Built for Pega CDH</a:t>
            </a:r>
            <a:endParaRPr lang="en-US" sz="1000" dirty="0"/>
          </a:p>
        </p:txBody>
      </p:sp>
      <p:sp>
        <p:nvSpPr>
          <p:cNvPr id="19" name="Text 17"/>
          <p:cNvSpPr/>
          <p:nvPr/>
        </p:nvSpPr>
        <p:spPr>
          <a:xfrm>
            <a:off x="4224528" y="1499616"/>
            <a:ext cx="2240280" cy="384048"/>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Native — 4 integration points</a:t>
            </a:r>
            <a:endParaRPr lang="en-US" sz="1000" dirty="0"/>
          </a:p>
        </p:txBody>
      </p:sp>
      <p:sp>
        <p:nvSpPr>
          <p:cNvPr id="20" name="Text 18"/>
          <p:cNvSpPr/>
          <p:nvPr/>
        </p:nvSpPr>
        <p:spPr>
          <a:xfrm>
            <a:off x="7562088" y="1499616"/>
            <a:ext cx="224028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 Requires custom integration</a:t>
            </a:r>
            <a:endParaRPr lang="en-US" sz="1000" dirty="0"/>
          </a:p>
        </p:txBody>
      </p:sp>
      <p:sp>
        <p:nvSpPr>
          <p:cNvPr id="21" name="Text 19"/>
          <p:cNvSpPr/>
          <p:nvPr/>
        </p:nvSpPr>
        <p:spPr>
          <a:xfrm>
            <a:off x="10168128" y="1499616"/>
            <a:ext cx="182880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 Designed to replace CDH</a:t>
            </a:r>
            <a:endParaRPr lang="en-US" sz="1000" dirty="0"/>
          </a:p>
        </p:txBody>
      </p:sp>
      <p:sp>
        <p:nvSpPr>
          <p:cNvPr id="22" name="Shape 20"/>
          <p:cNvSpPr/>
          <p:nvPr/>
        </p:nvSpPr>
        <p:spPr>
          <a:xfrm>
            <a:off x="365760" y="1901952"/>
            <a:ext cx="3566160" cy="384048"/>
          </a:xfrm>
          <a:prstGeom prst="rect">
            <a:avLst/>
          </a:prstGeom>
          <a:solidFill>
            <a:srgbClr val="F1F5F9"/>
          </a:solidFill>
          <a:ln w="12700">
            <a:solidFill>
              <a:srgbClr val="E2E8F0"/>
            </a:solidFill>
            <a:prstDash val="solid"/>
          </a:ln>
        </p:spPr>
      </p:sp>
      <p:sp>
        <p:nvSpPr>
          <p:cNvPr id="23" name="Shape 21"/>
          <p:cNvSpPr/>
          <p:nvPr/>
        </p:nvSpPr>
        <p:spPr>
          <a:xfrm>
            <a:off x="4114800" y="1901952"/>
            <a:ext cx="2423160" cy="384048"/>
          </a:xfrm>
          <a:prstGeom prst="rect">
            <a:avLst/>
          </a:prstGeom>
          <a:solidFill>
            <a:srgbClr val="E8F5EE"/>
          </a:solidFill>
          <a:ln w="12700">
            <a:solidFill>
              <a:srgbClr val="E2E8F0"/>
            </a:solidFill>
            <a:prstDash val="solid"/>
          </a:ln>
        </p:spPr>
      </p:sp>
      <p:sp>
        <p:nvSpPr>
          <p:cNvPr id="24" name="Shape 22"/>
          <p:cNvSpPr/>
          <p:nvPr/>
        </p:nvSpPr>
        <p:spPr>
          <a:xfrm>
            <a:off x="7452360" y="1901952"/>
            <a:ext cx="2423160" cy="384048"/>
          </a:xfrm>
          <a:prstGeom prst="rect">
            <a:avLst/>
          </a:prstGeom>
          <a:solidFill>
            <a:srgbClr val="F1F5F9"/>
          </a:solidFill>
          <a:ln w="12700">
            <a:solidFill>
              <a:srgbClr val="E2E8F0"/>
            </a:solidFill>
            <a:prstDash val="solid"/>
          </a:ln>
        </p:spPr>
      </p:sp>
      <p:sp>
        <p:nvSpPr>
          <p:cNvPr id="25" name="Shape 23"/>
          <p:cNvSpPr/>
          <p:nvPr/>
        </p:nvSpPr>
        <p:spPr>
          <a:xfrm>
            <a:off x="10058400" y="1901952"/>
            <a:ext cx="1965960" cy="384048"/>
          </a:xfrm>
          <a:prstGeom prst="rect">
            <a:avLst/>
          </a:prstGeom>
          <a:solidFill>
            <a:srgbClr val="F1F5F9"/>
          </a:solidFill>
          <a:ln w="12700">
            <a:solidFill>
              <a:srgbClr val="E2E8F0"/>
            </a:solidFill>
            <a:prstDash val="solid"/>
          </a:ln>
        </p:spPr>
      </p:sp>
      <p:sp>
        <p:nvSpPr>
          <p:cNvPr id="26" name="Text 24"/>
          <p:cNvSpPr/>
          <p:nvPr/>
        </p:nvSpPr>
        <p:spPr>
          <a:xfrm>
            <a:off x="475488" y="1901952"/>
            <a:ext cx="338328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Time to first NBA lift</a:t>
            </a:r>
            <a:endParaRPr lang="en-US" sz="1000" dirty="0"/>
          </a:p>
        </p:txBody>
      </p:sp>
      <p:sp>
        <p:nvSpPr>
          <p:cNvPr id="27" name="Text 25"/>
          <p:cNvSpPr/>
          <p:nvPr/>
        </p:nvSpPr>
        <p:spPr>
          <a:xfrm>
            <a:off x="4224528" y="1901952"/>
            <a:ext cx="2240280" cy="384048"/>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30 days</a:t>
            </a:r>
            <a:endParaRPr lang="en-US" sz="1000" dirty="0"/>
          </a:p>
        </p:txBody>
      </p:sp>
      <p:sp>
        <p:nvSpPr>
          <p:cNvPr id="28" name="Text 26"/>
          <p:cNvSpPr/>
          <p:nvPr/>
        </p:nvSpPr>
        <p:spPr>
          <a:xfrm>
            <a:off x="7562088" y="1901952"/>
            <a:ext cx="224028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12–18 months</a:t>
            </a:r>
            <a:endParaRPr lang="en-US" sz="1000" dirty="0"/>
          </a:p>
        </p:txBody>
      </p:sp>
      <p:sp>
        <p:nvSpPr>
          <p:cNvPr id="29" name="Text 27"/>
          <p:cNvSpPr/>
          <p:nvPr/>
        </p:nvSpPr>
        <p:spPr>
          <a:xfrm>
            <a:off x="10168128" y="1901952"/>
            <a:ext cx="182880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12–18 months</a:t>
            </a:r>
            <a:endParaRPr lang="en-US" sz="1000" dirty="0"/>
          </a:p>
        </p:txBody>
      </p:sp>
      <p:sp>
        <p:nvSpPr>
          <p:cNvPr id="30" name="Shape 28"/>
          <p:cNvSpPr/>
          <p:nvPr/>
        </p:nvSpPr>
        <p:spPr>
          <a:xfrm>
            <a:off x="365760" y="2304288"/>
            <a:ext cx="3566160" cy="384048"/>
          </a:xfrm>
          <a:prstGeom prst="rect">
            <a:avLst/>
          </a:prstGeom>
          <a:solidFill>
            <a:srgbClr val="FFFFFF"/>
          </a:solidFill>
          <a:ln w="12700">
            <a:solidFill>
              <a:srgbClr val="E2E8F0"/>
            </a:solidFill>
            <a:prstDash val="solid"/>
          </a:ln>
        </p:spPr>
      </p:sp>
      <p:sp>
        <p:nvSpPr>
          <p:cNvPr id="31" name="Shape 29"/>
          <p:cNvSpPr/>
          <p:nvPr/>
        </p:nvSpPr>
        <p:spPr>
          <a:xfrm>
            <a:off x="4114800" y="2304288"/>
            <a:ext cx="2423160" cy="384048"/>
          </a:xfrm>
          <a:prstGeom prst="rect">
            <a:avLst/>
          </a:prstGeom>
          <a:solidFill>
            <a:srgbClr val="F0FAF4"/>
          </a:solidFill>
          <a:ln w="12700">
            <a:solidFill>
              <a:srgbClr val="E2E8F0"/>
            </a:solidFill>
            <a:prstDash val="solid"/>
          </a:ln>
        </p:spPr>
      </p:sp>
      <p:sp>
        <p:nvSpPr>
          <p:cNvPr id="32" name="Shape 30"/>
          <p:cNvSpPr/>
          <p:nvPr/>
        </p:nvSpPr>
        <p:spPr>
          <a:xfrm>
            <a:off x="7452360" y="2304288"/>
            <a:ext cx="2423160" cy="384048"/>
          </a:xfrm>
          <a:prstGeom prst="rect">
            <a:avLst/>
          </a:prstGeom>
          <a:solidFill>
            <a:srgbClr val="FFFFFF"/>
          </a:solidFill>
          <a:ln w="12700">
            <a:solidFill>
              <a:srgbClr val="E2E8F0"/>
            </a:solidFill>
            <a:prstDash val="solid"/>
          </a:ln>
        </p:spPr>
      </p:sp>
      <p:sp>
        <p:nvSpPr>
          <p:cNvPr id="33" name="Shape 31"/>
          <p:cNvSpPr/>
          <p:nvPr/>
        </p:nvSpPr>
        <p:spPr>
          <a:xfrm>
            <a:off x="10058400" y="2304288"/>
            <a:ext cx="1965960" cy="384048"/>
          </a:xfrm>
          <a:prstGeom prst="rect">
            <a:avLst/>
          </a:prstGeom>
          <a:solidFill>
            <a:srgbClr val="FFFFFF"/>
          </a:solidFill>
          <a:ln w="12700">
            <a:solidFill>
              <a:srgbClr val="E2E8F0"/>
            </a:solidFill>
            <a:prstDash val="solid"/>
          </a:ln>
        </p:spPr>
      </p:sp>
      <p:sp>
        <p:nvSpPr>
          <p:cNvPr id="34" name="Text 32"/>
          <p:cNvSpPr/>
          <p:nvPr/>
        </p:nvSpPr>
        <p:spPr>
          <a:xfrm>
            <a:off x="475488" y="2304288"/>
            <a:ext cx="338328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Annual cost</a:t>
            </a:r>
            <a:endParaRPr lang="en-US" sz="1000" dirty="0"/>
          </a:p>
        </p:txBody>
      </p:sp>
      <p:sp>
        <p:nvSpPr>
          <p:cNvPr id="35" name="Text 33"/>
          <p:cNvSpPr/>
          <p:nvPr/>
        </p:nvSpPr>
        <p:spPr>
          <a:xfrm>
            <a:off x="4224528" y="2304288"/>
            <a:ext cx="2240280" cy="384048"/>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$35K – $200K SaaS</a:t>
            </a:r>
            <a:endParaRPr lang="en-US" sz="1000" dirty="0"/>
          </a:p>
        </p:txBody>
      </p:sp>
      <p:sp>
        <p:nvSpPr>
          <p:cNvPr id="36" name="Text 34"/>
          <p:cNvSpPr/>
          <p:nvPr/>
        </p:nvSpPr>
        <p:spPr>
          <a:xfrm>
            <a:off x="7562088" y="2304288"/>
            <a:ext cx="224028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$500K+</a:t>
            </a:r>
            <a:endParaRPr lang="en-US" sz="1000" dirty="0"/>
          </a:p>
        </p:txBody>
      </p:sp>
      <p:sp>
        <p:nvSpPr>
          <p:cNvPr id="37" name="Text 35"/>
          <p:cNvSpPr/>
          <p:nvPr/>
        </p:nvSpPr>
        <p:spPr>
          <a:xfrm>
            <a:off x="10168128" y="2304288"/>
            <a:ext cx="182880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$500K+</a:t>
            </a:r>
            <a:endParaRPr lang="en-US" sz="1000" dirty="0"/>
          </a:p>
        </p:txBody>
      </p:sp>
      <p:sp>
        <p:nvSpPr>
          <p:cNvPr id="38" name="Shape 36"/>
          <p:cNvSpPr/>
          <p:nvPr/>
        </p:nvSpPr>
        <p:spPr>
          <a:xfrm>
            <a:off x="365760" y="2706624"/>
            <a:ext cx="3566160" cy="384048"/>
          </a:xfrm>
          <a:prstGeom prst="rect">
            <a:avLst/>
          </a:prstGeom>
          <a:solidFill>
            <a:srgbClr val="F1F5F9"/>
          </a:solidFill>
          <a:ln w="12700">
            <a:solidFill>
              <a:srgbClr val="E2E8F0"/>
            </a:solidFill>
            <a:prstDash val="solid"/>
          </a:ln>
        </p:spPr>
      </p:sp>
      <p:sp>
        <p:nvSpPr>
          <p:cNvPr id="39" name="Shape 37"/>
          <p:cNvSpPr/>
          <p:nvPr/>
        </p:nvSpPr>
        <p:spPr>
          <a:xfrm>
            <a:off x="4114800" y="2706624"/>
            <a:ext cx="2423160" cy="384048"/>
          </a:xfrm>
          <a:prstGeom prst="rect">
            <a:avLst/>
          </a:prstGeom>
          <a:solidFill>
            <a:srgbClr val="E8F5EE"/>
          </a:solidFill>
          <a:ln w="12700">
            <a:solidFill>
              <a:srgbClr val="E2E8F0"/>
            </a:solidFill>
            <a:prstDash val="solid"/>
          </a:ln>
        </p:spPr>
      </p:sp>
      <p:sp>
        <p:nvSpPr>
          <p:cNvPr id="40" name="Shape 38"/>
          <p:cNvSpPr/>
          <p:nvPr/>
        </p:nvSpPr>
        <p:spPr>
          <a:xfrm>
            <a:off x="7452360" y="2706624"/>
            <a:ext cx="2423160" cy="384048"/>
          </a:xfrm>
          <a:prstGeom prst="rect">
            <a:avLst/>
          </a:prstGeom>
          <a:solidFill>
            <a:srgbClr val="F1F5F9"/>
          </a:solidFill>
          <a:ln w="12700">
            <a:solidFill>
              <a:srgbClr val="E2E8F0"/>
            </a:solidFill>
            <a:prstDash val="solid"/>
          </a:ln>
        </p:spPr>
      </p:sp>
      <p:sp>
        <p:nvSpPr>
          <p:cNvPr id="41" name="Shape 39"/>
          <p:cNvSpPr/>
          <p:nvPr/>
        </p:nvSpPr>
        <p:spPr>
          <a:xfrm>
            <a:off x="10058400" y="2706624"/>
            <a:ext cx="1965960" cy="384048"/>
          </a:xfrm>
          <a:prstGeom prst="rect">
            <a:avLst/>
          </a:prstGeom>
          <a:solidFill>
            <a:srgbClr val="F1F5F9"/>
          </a:solidFill>
          <a:ln w="12700">
            <a:solidFill>
              <a:srgbClr val="E2E8F0"/>
            </a:solidFill>
            <a:prstDash val="solid"/>
          </a:ln>
        </p:spPr>
      </p:sp>
      <p:sp>
        <p:nvSpPr>
          <p:cNvPr id="42" name="Text 40"/>
          <p:cNvSpPr/>
          <p:nvPr/>
        </p:nvSpPr>
        <p:spPr>
          <a:xfrm>
            <a:off x="475488" y="2706624"/>
            <a:ext cx="338328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Requires full stack</a:t>
            </a:r>
            <a:endParaRPr lang="en-US" sz="1000" dirty="0"/>
          </a:p>
        </p:txBody>
      </p:sp>
      <p:sp>
        <p:nvSpPr>
          <p:cNvPr id="43" name="Text 41"/>
          <p:cNvSpPr/>
          <p:nvPr/>
        </p:nvSpPr>
        <p:spPr>
          <a:xfrm>
            <a:off x="4224528" y="2706624"/>
            <a:ext cx="2240280" cy="384048"/>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No — works alongside CDH</a:t>
            </a:r>
            <a:endParaRPr lang="en-US" sz="1000" dirty="0"/>
          </a:p>
        </p:txBody>
      </p:sp>
      <p:sp>
        <p:nvSpPr>
          <p:cNvPr id="44" name="Text 42"/>
          <p:cNvSpPr/>
          <p:nvPr/>
        </p:nvSpPr>
        <p:spPr>
          <a:xfrm>
            <a:off x="7562088" y="2706624"/>
            <a:ext cx="224028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Needs Adobe stack</a:t>
            </a:r>
            <a:endParaRPr lang="en-US" sz="1000" dirty="0"/>
          </a:p>
        </p:txBody>
      </p:sp>
      <p:sp>
        <p:nvSpPr>
          <p:cNvPr id="45" name="Text 43"/>
          <p:cNvSpPr/>
          <p:nvPr/>
        </p:nvSpPr>
        <p:spPr>
          <a:xfrm>
            <a:off x="10168128" y="2706624"/>
            <a:ext cx="182880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Needs Salesforce stack</a:t>
            </a:r>
            <a:endParaRPr lang="en-US" sz="1000" dirty="0"/>
          </a:p>
        </p:txBody>
      </p:sp>
      <p:sp>
        <p:nvSpPr>
          <p:cNvPr id="46" name="Shape 44"/>
          <p:cNvSpPr/>
          <p:nvPr/>
        </p:nvSpPr>
        <p:spPr>
          <a:xfrm>
            <a:off x="365760" y="3108960"/>
            <a:ext cx="3566160" cy="384048"/>
          </a:xfrm>
          <a:prstGeom prst="rect">
            <a:avLst/>
          </a:prstGeom>
          <a:solidFill>
            <a:srgbClr val="FFFFFF"/>
          </a:solidFill>
          <a:ln w="12700">
            <a:solidFill>
              <a:srgbClr val="E2E8F0"/>
            </a:solidFill>
            <a:prstDash val="solid"/>
          </a:ln>
        </p:spPr>
      </p:sp>
      <p:sp>
        <p:nvSpPr>
          <p:cNvPr id="47" name="Shape 45"/>
          <p:cNvSpPr/>
          <p:nvPr/>
        </p:nvSpPr>
        <p:spPr>
          <a:xfrm>
            <a:off x="4114800" y="3108960"/>
            <a:ext cx="2423160" cy="384048"/>
          </a:xfrm>
          <a:prstGeom prst="rect">
            <a:avLst/>
          </a:prstGeom>
          <a:solidFill>
            <a:srgbClr val="F0FAF4"/>
          </a:solidFill>
          <a:ln w="12700">
            <a:solidFill>
              <a:srgbClr val="E2E8F0"/>
            </a:solidFill>
            <a:prstDash val="solid"/>
          </a:ln>
        </p:spPr>
      </p:sp>
      <p:sp>
        <p:nvSpPr>
          <p:cNvPr id="48" name="Shape 46"/>
          <p:cNvSpPr/>
          <p:nvPr/>
        </p:nvSpPr>
        <p:spPr>
          <a:xfrm>
            <a:off x="7452360" y="3108960"/>
            <a:ext cx="2423160" cy="384048"/>
          </a:xfrm>
          <a:prstGeom prst="rect">
            <a:avLst/>
          </a:prstGeom>
          <a:solidFill>
            <a:srgbClr val="FFFFFF"/>
          </a:solidFill>
          <a:ln w="12700">
            <a:solidFill>
              <a:srgbClr val="E2E8F0"/>
            </a:solidFill>
            <a:prstDash val="solid"/>
          </a:ln>
        </p:spPr>
      </p:sp>
      <p:sp>
        <p:nvSpPr>
          <p:cNvPr id="49" name="Shape 47"/>
          <p:cNvSpPr/>
          <p:nvPr/>
        </p:nvSpPr>
        <p:spPr>
          <a:xfrm>
            <a:off x="10058400" y="3108960"/>
            <a:ext cx="1965960" cy="384048"/>
          </a:xfrm>
          <a:prstGeom prst="rect">
            <a:avLst/>
          </a:prstGeom>
          <a:solidFill>
            <a:srgbClr val="FFFFFF"/>
          </a:solidFill>
          <a:ln w="12700">
            <a:solidFill>
              <a:srgbClr val="E2E8F0"/>
            </a:solidFill>
            <a:prstDash val="solid"/>
          </a:ln>
        </p:spPr>
      </p:sp>
      <p:sp>
        <p:nvSpPr>
          <p:cNvPr id="50" name="Text 48"/>
          <p:cNvSpPr/>
          <p:nvPr/>
        </p:nvSpPr>
        <p:spPr>
          <a:xfrm>
            <a:off x="475488" y="3108960"/>
            <a:ext cx="338328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CDH IH schema mapping</a:t>
            </a:r>
            <a:endParaRPr lang="en-US" sz="1000" dirty="0"/>
          </a:p>
        </p:txBody>
      </p:sp>
      <p:sp>
        <p:nvSpPr>
          <p:cNvPr id="51" name="Text 49"/>
          <p:cNvSpPr/>
          <p:nvPr/>
        </p:nvSpPr>
        <p:spPr>
          <a:xfrm>
            <a:off x="4224528" y="3108960"/>
            <a:ext cx="2240280" cy="384048"/>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Automatic, zero config</a:t>
            </a:r>
            <a:endParaRPr lang="en-US" sz="1000" dirty="0"/>
          </a:p>
        </p:txBody>
      </p:sp>
      <p:sp>
        <p:nvSpPr>
          <p:cNvPr id="52" name="Text 50"/>
          <p:cNvSpPr/>
          <p:nvPr/>
        </p:nvSpPr>
        <p:spPr>
          <a:xfrm>
            <a:off x="7562088" y="3108960"/>
            <a:ext cx="224028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Manual field mapping</a:t>
            </a:r>
            <a:endParaRPr lang="en-US" sz="1000" dirty="0"/>
          </a:p>
        </p:txBody>
      </p:sp>
      <p:sp>
        <p:nvSpPr>
          <p:cNvPr id="53" name="Text 51"/>
          <p:cNvSpPr/>
          <p:nvPr/>
        </p:nvSpPr>
        <p:spPr>
          <a:xfrm>
            <a:off x="10168128" y="3108960"/>
            <a:ext cx="182880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Manual field mapping</a:t>
            </a:r>
            <a:endParaRPr lang="en-US" sz="1000" dirty="0"/>
          </a:p>
        </p:txBody>
      </p:sp>
      <p:sp>
        <p:nvSpPr>
          <p:cNvPr id="54" name="Shape 52"/>
          <p:cNvSpPr/>
          <p:nvPr/>
        </p:nvSpPr>
        <p:spPr>
          <a:xfrm>
            <a:off x="365760" y="3511296"/>
            <a:ext cx="3566160" cy="384048"/>
          </a:xfrm>
          <a:prstGeom prst="rect">
            <a:avLst/>
          </a:prstGeom>
          <a:solidFill>
            <a:srgbClr val="F1F5F9"/>
          </a:solidFill>
          <a:ln w="12700">
            <a:solidFill>
              <a:srgbClr val="E2E8F0"/>
            </a:solidFill>
            <a:prstDash val="solid"/>
          </a:ln>
        </p:spPr>
      </p:sp>
      <p:sp>
        <p:nvSpPr>
          <p:cNvPr id="55" name="Shape 53"/>
          <p:cNvSpPr/>
          <p:nvPr/>
        </p:nvSpPr>
        <p:spPr>
          <a:xfrm>
            <a:off x="4114800" y="3511296"/>
            <a:ext cx="2423160" cy="384048"/>
          </a:xfrm>
          <a:prstGeom prst="rect">
            <a:avLst/>
          </a:prstGeom>
          <a:solidFill>
            <a:srgbClr val="E8F5EE"/>
          </a:solidFill>
          <a:ln w="12700">
            <a:solidFill>
              <a:srgbClr val="E2E8F0"/>
            </a:solidFill>
            <a:prstDash val="solid"/>
          </a:ln>
        </p:spPr>
      </p:sp>
      <p:sp>
        <p:nvSpPr>
          <p:cNvPr id="56" name="Shape 54"/>
          <p:cNvSpPr/>
          <p:nvPr/>
        </p:nvSpPr>
        <p:spPr>
          <a:xfrm>
            <a:off x="7452360" y="3511296"/>
            <a:ext cx="2423160" cy="384048"/>
          </a:xfrm>
          <a:prstGeom prst="rect">
            <a:avLst/>
          </a:prstGeom>
          <a:solidFill>
            <a:srgbClr val="F1F5F9"/>
          </a:solidFill>
          <a:ln w="12700">
            <a:solidFill>
              <a:srgbClr val="E2E8F0"/>
            </a:solidFill>
            <a:prstDash val="solid"/>
          </a:ln>
        </p:spPr>
      </p:sp>
      <p:sp>
        <p:nvSpPr>
          <p:cNvPr id="57" name="Shape 55"/>
          <p:cNvSpPr/>
          <p:nvPr/>
        </p:nvSpPr>
        <p:spPr>
          <a:xfrm>
            <a:off x="10058400" y="3511296"/>
            <a:ext cx="1965960" cy="384048"/>
          </a:xfrm>
          <a:prstGeom prst="rect">
            <a:avLst/>
          </a:prstGeom>
          <a:solidFill>
            <a:srgbClr val="F1F5F9"/>
          </a:solidFill>
          <a:ln w="12700">
            <a:solidFill>
              <a:srgbClr val="E2E8F0"/>
            </a:solidFill>
            <a:prstDash val="solid"/>
          </a:ln>
        </p:spPr>
      </p:sp>
      <p:sp>
        <p:nvSpPr>
          <p:cNvPr id="58" name="Text 56"/>
          <p:cNvSpPr/>
          <p:nvPr/>
        </p:nvSpPr>
        <p:spPr>
          <a:xfrm>
            <a:off x="475488" y="3511296"/>
            <a:ext cx="338328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NBA feedback loop</a:t>
            </a:r>
            <a:endParaRPr lang="en-US" sz="1000" dirty="0"/>
          </a:p>
        </p:txBody>
      </p:sp>
      <p:sp>
        <p:nvSpPr>
          <p:cNvPr id="59" name="Text 57"/>
          <p:cNvSpPr/>
          <p:nvPr/>
        </p:nvSpPr>
        <p:spPr>
          <a:xfrm>
            <a:off x="4224528" y="3511296"/>
            <a:ext cx="2240280" cy="384048"/>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Built-in</a:t>
            </a:r>
            <a:endParaRPr lang="en-US" sz="1000" dirty="0"/>
          </a:p>
        </p:txBody>
      </p:sp>
      <p:sp>
        <p:nvSpPr>
          <p:cNvPr id="60" name="Text 58"/>
          <p:cNvSpPr/>
          <p:nvPr/>
        </p:nvSpPr>
        <p:spPr>
          <a:xfrm>
            <a:off x="7562088" y="3511296"/>
            <a:ext cx="224028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Manual integration required</a:t>
            </a:r>
            <a:endParaRPr lang="en-US" sz="1000" dirty="0"/>
          </a:p>
        </p:txBody>
      </p:sp>
      <p:sp>
        <p:nvSpPr>
          <p:cNvPr id="61" name="Text 59"/>
          <p:cNvSpPr/>
          <p:nvPr/>
        </p:nvSpPr>
        <p:spPr>
          <a:xfrm>
            <a:off x="10168128" y="3511296"/>
            <a:ext cx="182880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Not available</a:t>
            </a:r>
            <a:endParaRPr lang="en-US" sz="1000" dirty="0"/>
          </a:p>
        </p:txBody>
      </p:sp>
      <p:sp>
        <p:nvSpPr>
          <p:cNvPr id="62" name="Shape 60"/>
          <p:cNvSpPr/>
          <p:nvPr/>
        </p:nvSpPr>
        <p:spPr>
          <a:xfrm>
            <a:off x="365760" y="3913632"/>
            <a:ext cx="3566160" cy="384048"/>
          </a:xfrm>
          <a:prstGeom prst="rect">
            <a:avLst/>
          </a:prstGeom>
          <a:solidFill>
            <a:srgbClr val="FFFFFF"/>
          </a:solidFill>
          <a:ln w="12700">
            <a:solidFill>
              <a:srgbClr val="E2E8F0"/>
            </a:solidFill>
            <a:prstDash val="solid"/>
          </a:ln>
        </p:spPr>
      </p:sp>
      <p:sp>
        <p:nvSpPr>
          <p:cNvPr id="63" name="Shape 61"/>
          <p:cNvSpPr/>
          <p:nvPr/>
        </p:nvSpPr>
        <p:spPr>
          <a:xfrm>
            <a:off x="4114800" y="3913632"/>
            <a:ext cx="2423160" cy="384048"/>
          </a:xfrm>
          <a:prstGeom prst="rect">
            <a:avLst/>
          </a:prstGeom>
          <a:solidFill>
            <a:srgbClr val="F0FAF4"/>
          </a:solidFill>
          <a:ln w="12700">
            <a:solidFill>
              <a:srgbClr val="E2E8F0"/>
            </a:solidFill>
            <a:prstDash val="solid"/>
          </a:ln>
        </p:spPr>
      </p:sp>
      <p:sp>
        <p:nvSpPr>
          <p:cNvPr id="64" name="Shape 62"/>
          <p:cNvSpPr/>
          <p:nvPr/>
        </p:nvSpPr>
        <p:spPr>
          <a:xfrm>
            <a:off x="7452360" y="3913632"/>
            <a:ext cx="2423160" cy="384048"/>
          </a:xfrm>
          <a:prstGeom prst="rect">
            <a:avLst/>
          </a:prstGeom>
          <a:solidFill>
            <a:srgbClr val="FFFFFF"/>
          </a:solidFill>
          <a:ln w="12700">
            <a:solidFill>
              <a:srgbClr val="E2E8F0"/>
            </a:solidFill>
            <a:prstDash val="solid"/>
          </a:ln>
        </p:spPr>
      </p:sp>
      <p:sp>
        <p:nvSpPr>
          <p:cNvPr id="65" name="Shape 63"/>
          <p:cNvSpPr/>
          <p:nvPr/>
        </p:nvSpPr>
        <p:spPr>
          <a:xfrm>
            <a:off x="10058400" y="3913632"/>
            <a:ext cx="1965960" cy="384048"/>
          </a:xfrm>
          <a:prstGeom prst="rect">
            <a:avLst/>
          </a:prstGeom>
          <a:solidFill>
            <a:srgbClr val="FFFFFF"/>
          </a:solidFill>
          <a:ln w="12700">
            <a:solidFill>
              <a:srgbClr val="E2E8F0"/>
            </a:solidFill>
            <a:prstDash val="solid"/>
          </a:ln>
        </p:spPr>
      </p:sp>
      <p:sp>
        <p:nvSpPr>
          <p:cNvPr id="66" name="Text 64"/>
          <p:cNvSpPr/>
          <p:nvPr/>
        </p:nvSpPr>
        <p:spPr>
          <a:xfrm>
            <a:off x="475488" y="3913632"/>
            <a:ext cx="338328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Identity resolution (3-tier)</a:t>
            </a:r>
            <a:endParaRPr lang="en-US" sz="1000" dirty="0"/>
          </a:p>
        </p:txBody>
      </p:sp>
      <p:sp>
        <p:nvSpPr>
          <p:cNvPr id="67" name="Text 65"/>
          <p:cNvSpPr/>
          <p:nvPr/>
        </p:nvSpPr>
        <p:spPr>
          <a:xfrm>
            <a:off x="4224528" y="3913632"/>
            <a:ext cx="2240280" cy="384048"/>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Deterministic + probabilistic</a:t>
            </a:r>
            <a:endParaRPr lang="en-US" sz="1000" dirty="0"/>
          </a:p>
        </p:txBody>
      </p:sp>
      <p:sp>
        <p:nvSpPr>
          <p:cNvPr id="68" name="Text 66"/>
          <p:cNvSpPr/>
          <p:nvPr/>
        </p:nvSpPr>
        <p:spPr>
          <a:xfrm>
            <a:off x="7562088" y="3913632"/>
            <a:ext cx="224028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Deterministic only</a:t>
            </a:r>
            <a:endParaRPr lang="en-US" sz="1000" dirty="0"/>
          </a:p>
        </p:txBody>
      </p:sp>
      <p:sp>
        <p:nvSpPr>
          <p:cNvPr id="69" name="Text 67"/>
          <p:cNvSpPr/>
          <p:nvPr/>
        </p:nvSpPr>
        <p:spPr>
          <a:xfrm>
            <a:off x="10168128" y="3913632"/>
            <a:ext cx="182880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Deterministic only</a:t>
            </a:r>
            <a:endParaRPr lang="en-US" sz="1000" dirty="0"/>
          </a:p>
        </p:txBody>
      </p:sp>
      <p:sp>
        <p:nvSpPr>
          <p:cNvPr id="70" name="Shape 68"/>
          <p:cNvSpPr/>
          <p:nvPr/>
        </p:nvSpPr>
        <p:spPr>
          <a:xfrm>
            <a:off x="365760" y="4315968"/>
            <a:ext cx="3566160" cy="384048"/>
          </a:xfrm>
          <a:prstGeom prst="rect">
            <a:avLst/>
          </a:prstGeom>
          <a:solidFill>
            <a:srgbClr val="F1F5F9"/>
          </a:solidFill>
          <a:ln w="12700">
            <a:solidFill>
              <a:srgbClr val="E2E8F0"/>
            </a:solidFill>
            <a:prstDash val="solid"/>
          </a:ln>
        </p:spPr>
      </p:sp>
      <p:sp>
        <p:nvSpPr>
          <p:cNvPr id="71" name="Shape 69"/>
          <p:cNvSpPr/>
          <p:nvPr/>
        </p:nvSpPr>
        <p:spPr>
          <a:xfrm>
            <a:off x="4114800" y="4315968"/>
            <a:ext cx="2423160" cy="384048"/>
          </a:xfrm>
          <a:prstGeom prst="rect">
            <a:avLst/>
          </a:prstGeom>
          <a:solidFill>
            <a:srgbClr val="E8F5EE"/>
          </a:solidFill>
          <a:ln w="12700">
            <a:solidFill>
              <a:srgbClr val="E2E8F0"/>
            </a:solidFill>
            <a:prstDash val="solid"/>
          </a:ln>
        </p:spPr>
      </p:sp>
      <p:sp>
        <p:nvSpPr>
          <p:cNvPr id="72" name="Shape 70"/>
          <p:cNvSpPr/>
          <p:nvPr/>
        </p:nvSpPr>
        <p:spPr>
          <a:xfrm>
            <a:off x="7452360" y="4315968"/>
            <a:ext cx="2423160" cy="384048"/>
          </a:xfrm>
          <a:prstGeom prst="rect">
            <a:avLst/>
          </a:prstGeom>
          <a:solidFill>
            <a:srgbClr val="F1F5F9"/>
          </a:solidFill>
          <a:ln w="12700">
            <a:solidFill>
              <a:srgbClr val="E2E8F0"/>
            </a:solidFill>
            <a:prstDash val="solid"/>
          </a:ln>
        </p:spPr>
      </p:sp>
      <p:sp>
        <p:nvSpPr>
          <p:cNvPr id="73" name="Shape 71"/>
          <p:cNvSpPr/>
          <p:nvPr/>
        </p:nvSpPr>
        <p:spPr>
          <a:xfrm>
            <a:off x="10058400" y="4315968"/>
            <a:ext cx="1965960" cy="384048"/>
          </a:xfrm>
          <a:prstGeom prst="rect">
            <a:avLst/>
          </a:prstGeom>
          <a:solidFill>
            <a:srgbClr val="F1F5F9"/>
          </a:solidFill>
          <a:ln w="12700">
            <a:solidFill>
              <a:srgbClr val="E2E8F0"/>
            </a:solidFill>
            <a:prstDash val="solid"/>
          </a:ln>
        </p:spPr>
      </p:sp>
      <p:sp>
        <p:nvSpPr>
          <p:cNvPr id="74" name="Text 72"/>
          <p:cNvSpPr/>
          <p:nvPr/>
        </p:nvSpPr>
        <p:spPr>
          <a:xfrm>
            <a:off x="475488" y="4315968"/>
            <a:ext cx="338328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Consent propagation &lt;500ms</a:t>
            </a:r>
            <a:endParaRPr lang="en-US" sz="1000" dirty="0"/>
          </a:p>
        </p:txBody>
      </p:sp>
      <p:sp>
        <p:nvSpPr>
          <p:cNvPr id="75" name="Text 73"/>
          <p:cNvSpPr/>
          <p:nvPr/>
        </p:nvSpPr>
        <p:spPr>
          <a:xfrm>
            <a:off x="4224528" y="4315968"/>
            <a:ext cx="2240280" cy="384048"/>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Native, GDPR/CCPA/PDPA</a:t>
            </a:r>
            <a:endParaRPr lang="en-US" sz="1000" dirty="0"/>
          </a:p>
        </p:txBody>
      </p:sp>
      <p:sp>
        <p:nvSpPr>
          <p:cNvPr id="76" name="Text 74"/>
          <p:cNvSpPr/>
          <p:nvPr/>
        </p:nvSpPr>
        <p:spPr>
          <a:xfrm>
            <a:off x="7562088" y="4315968"/>
            <a:ext cx="224028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Configurable, slower</a:t>
            </a:r>
            <a:endParaRPr lang="en-US" sz="1000" dirty="0"/>
          </a:p>
        </p:txBody>
      </p:sp>
      <p:sp>
        <p:nvSpPr>
          <p:cNvPr id="77" name="Text 75"/>
          <p:cNvSpPr/>
          <p:nvPr/>
        </p:nvSpPr>
        <p:spPr>
          <a:xfrm>
            <a:off x="10168128" y="4315968"/>
            <a:ext cx="182880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Configurable, slower</a:t>
            </a:r>
            <a:endParaRPr lang="en-US" sz="1000" dirty="0"/>
          </a:p>
        </p:txBody>
      </p:sp>
      <p:sp>
        <p:nvSpPr>
          <p:cNvPr id="78" name="Shape 76"/>
          <p:cNvSpPr/>
          <p:nvPr/>
        </p:nvSpPr>
        <p:spPr>
          <a:xfrm>
            <a:off x="365760" y="4718304"/>
            <a:ext cx="3566160" cy="384048"/>
          </a:xfrm>
          <a:prstGeom prst="rect">
            <a:avLst/>
          </a:prstGeom>
          <a:solidFill>
            <a:srgbClr val="FFFFFF"/>
          </a:solidFill>
          <a:ln w="12700">
            <a:solidFill>
              <a:srgbClr val="E2E8F0"/>
            </a:solidFill>
            <a:prstDash val="solid"/>
          </a:ln>
        </p:spPr>
      </p:sp>
      <p:sp>
        <p:nvSpPr>
          <p:cNvPr id="79" name="Shape 77"/>
          <p:cNvSpPr/>
          <p:nvPr/>
        </p:nvSpPr>
        <p:spPr>
          <a:xfrm>
            <a:off x="4114800" y="4718304"/>
            <a:ext cx="2423160" cy="384048"/>
          </a:xfrm>
          <a:prstGeom prst="rect">
            <a:avLst/>
          </a:prstGeom>
          <a:solidFill>
            <a:srgbClr val="F0FAF4"/>
          </a:solidFill>
          <a:ln w="12700">
            <a:solidFill>
              <a:srgbClr val="E2E8F0"/>
            </a:solidFill>
            <a:prstDash val="solid"/>
          </a:ln>
        </p:spPr>
      </p:sp>
      <p:sp>
        <p:nvSpPr>
          <p:cNvPr id="80" name="Shape 78"/>
          <p:cNvSpPr/>
          <p:nvPr/>
        </p:nvSpPr>
        <p:spPr>
          <a:xfrm>
            <a:off x="7452360" y="4718304"/>
            <a:ext cx="2423160" cy="384048"/>
          </a:xfrm>
          <a:prstGeom prst="rect">
            <a:avLst/>
          </a:prstGeom>
          <a:solidFill>
            <a:srgbClr val="FFFFFF"/>
          </a:solidFill>
          <a:ln w="12700">
            <a:solidFill>
              <a:srgbClr val="E2E8F0"/>
            </a:solidFill>
            <a:prstDash val="solid"/>
          </a:ln>
        </p:spPr>
      </p:sp>
      <p:sp>
        <p:nvSpPr>
          <p:cNvPr id="81" name="Shape 79"/>
          <p:cNvSpPr/>
          <p:nvPr/>
        </p:nvSpPr>
        <p:spPr>
          <a:xfrm>
            <a:off x="10058400" y="4718304"/>
            <a:ext cx="1965960" cy="384048"/>
          </a:xfrm>
          <a:prstGeom prst="rect">
            <a:avLst/>
          </a:prstGeom>
          <a:solidFill>
            <a:srgbClr val="FFFFFF"/>
          </a:solidFill>
          <a:ln w="12700">
            <a:solidFill>
              <a:srgbClr val="E2E8F0"/>
            </a:solidFill>
            <a:prstDash val="solid"/>
          </a:ln>
        </p:spPr>
      </p:sp>
      <p:sp>
        <p:nvSpPr>
          <p:cNvPr id="82" name="Text 80"/>
          <p:cNvSpPr/>
          <p:nvPr/>
        </p:nvSpPr>
        <p:spPr>
          <a:xfrm>
            <a:off x="475488" y="4718304"/>
            <a:ext cx="338328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Anonymous stitching</a:t>
            </a:r>
            <a:endParaRPr lang="en-US" sz="1000" dirty="0"/>
          </a:p>
        </p:txBody>
      </p:sp>
      <p:sp>
        <p:nvSpPr>
          <p:cNvPr id="83" name="Text 81"/>
          <p:cNvSpPr/>
          <p:nvPr/>
        </p:nvSpPr>
        <p:spPr>
          <a:xfrm>
            <a:off x="4224528" y="4718304"/>
            <a:ext cx="2240280" cy="384048"/>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On login event</a:t>
            </a:r>
            <a:endParaRPr lang="en-US" sz="1000" dirty="0"/>
          </a:p>
        </p:txBody>
      </p:sp>
      <p:sp>
        <p:nvSpPr>
          <p:cNvPr id="84" name="Text 82"/>
          <p:cNvSpPr/>
          <p:nvPr/>
        </p:nvSpPr>
        <p:spPr>
          <a:xfrm>
            <a:off x="7562088" y="4718304"/>
            <a:ext cx="224028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Manual setup</a:t>
            </a:r>
            <a:endParaRPr lang="en-US" sz="1000" dirty="0"/>
          </a:p>
        </p:txBody>
      </p:sp>
      <p:sp>
        <p:nvSpPr>
          <p:cNvPr id="85" name="Text 83"/>
          <p:cNvSpPr/>
          <p:nvPr/>
        </p:nvSpPr>
        <p:spPr>
          <a:xfrm>
            <a:off x="10168128" y="4718304"/>
            <a:ext cx="182880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Manual setup</a:t>
            </a:r>
            <a:endParaRPr lang="en-US" sz="1000" dirty="0"/>
          </a:p>
        </p:txBody>
      </p:sp>
      <p:sp>
        <p:nvSpPr>
          <p:cNvPr id="86" name="Shape 84"/>
          <p:cNvSpPr/>
          <p:nvPr/>
        </p:nvSpPr>
        <p:spPr>
          <a:xfrm>
            <a:off x="365760" y="5120640"/>
            <a:ext cx="3566160" cy="384048"/>
          </a:xfrm>
          <a:prstGeom prst="rect">
            <a:avLst/>
          </a:prstGeom>
          <a:solidFill>
            <a:srgbClr val="F1F5F9"/>
          </a:solidFill>
          <a:ln w="12700">
            <a:solidFill>
              <a:srgbClr val="E2E8F0"/>
            </a:solidFill>
            <a:prstDash val="solid"/>
          </a:ln>
        </p:spPr>
      </p:sp>
      <p:sp>
        <p:nvSpPr>
          <p:cNvPr id="87" name="Shape 85"/>
          <p:cNvSpPr/>
          <p:nvPr/>
        </p:nvSpPr>
        <p:spPr>
          <a:xfrm>
            <a:off x="4114800" y="5120640"/>
            <a:ext cx="2423160" cy="384048"/>
          </a:xfrm>
          <a:prstGeom prst="rect">
            <a:avLst/>
          </a:prstGeom>
          <a:solidFill>
            <a:srgbClr val="E8F5EE"/>
          </a:solidFill>
          <a:ln w="12700">
            <a:solidFill>
              <a:srgbClr val="E2E8F0"/>
            </a:solidFill>
            <a:prstDash val="solid"/>
          </a:ln>
        </p:spPr>
      </p:sp>
      <p:sp>
        <p:nvSpPr>
          <p:cNvPr id="88" name="Shape 86"/>
          <p:cNvSpPr/>
          <p:nvPr/>
        </p:nvSpPr>
        <p:spPr>
          <a:xfrm>
            <a:off x="7452360" y="5120640"/>
            <a:ext cx="2423160" cy="384048"/>
          </a:xfrm>
          <a:prstGeom prst="rect">
            <a:avLst/>
          </a:prstGeom>
          <a:solidFill>
            <a:srgbClr val="F1F5F9"/>
          </a:solidFill>
          <a:ln w="12700">
            <a:solidFill>
              <a:srgbClr val="E2E8F0"/>
            </a:solidFill>
            <a:prstDash val="solid"/>
          </a:ln>
        </p:spPr>
      </p:sp>
      <p:sp>
        <p:nvSpPr>
          <p:cNvPr id="89" name="Shape 87"/>
          <p:cNvSpPr/>
          <p:nvPr/>
        </p:nvSpPr>
        <p:spPr>
          <a:xfrm>
            <a:off x="10058400" y="5120640"/>
            <a:ext cx="1965960" cy="384048"/>
          </a:xfrm>
          <a:prstGeom prst="rect">
            <a:avLst/>
          </a:prstGeom>
          <a:solidFill>
            <a:srgbClr val="F1F5F9"/>
          </a:solidFill>
          <a:ln w="12700">
            <a:solidFill>
              <a:srgbClr val="E2E8F0"/>
            </a:solidFill>
            <a:prstDash val="solid"/>
          </a:ln>
        </p:spPr>
      </p:sp>
      <p:sp>
        <p:nvSpPr>
          <p:cNvPr id="90" name="Text 88"/>
          <p:cNvSpPr/>
          <p:nvPr/>
        </p:nvSpPr>
        <p:spPr>
          <a:xfrm>
            <a:off x="475488" y="5120640"/>
            <a:ext cx="338328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30-day go-live guarantee</a:t>
            </a:r>
            <a:endParaRPr lang="en-US" sz="1000" dirty="0"/>
          </a:p>
        </p:txBody>
      </p:sp>
      <p:sp>
        <p:nvSpPr>
          <p:cNvPr id="91" name="Text 89"/>
          <p:cNvSpPr/>
          <p:nvPr/>
        </p:nvSpPr>
        <p:spPr>
          <a:xfrm>
            <a:off x="4224528" y="5120640"/>
            <a:ext cx="2240280" cy="384048"/>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Commercial guarantee</a:t>
            </a:r>
            <a:endParaRPr lang="en-US" sz="1000" dirty="0"/>
          </a:p>
        </p:txBody>
      </p:sp>
      <p:sp>
        <p:nvSpPr>
          <p:cNvPr id="92" name="Text 90"/>
          <p:cNvSpPr/>
          <p:nvPr/>
        </p:nvSpPr>
        <p:spPr>
          <a:xfrm>
            <a:off x="7562088" y="5120640"/>
            <a:ext cx="224028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Typical 6+ month POC</a:t>
            </a:r>
            <a:endParaRPr lang="en-US" sz="1000" dirty="0"/>
          </a:p>
        </p:txBody>
      </p:sp>
      <p:sp>
        <p:nvSpPr>
          <p:cNvPr id="93" name="Text 91"/>
          <p:cNvSpPr/>
          <p:nvPr/>
        </p:nvSpPr>
        <p:spPr>
          <a:xfrm>
            <a:off x="10168128" y="5120640"/>
            <a:ext cx="1828800" cy="38404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Typical 6+ month POC</a:t>
            </a:r>
            <a:endParaRPr lang="en-US" sz="1000" dirty="0"/>
          </a:p>
        </p:txBody>
      </p:sp>
      <p:sp>
        <p:nvSpPr>
          <p:cNvPr id="94" name="Shape 92"/>
          <p:cNvSpPr/>
          <p:nvPr/>
        </p:nvSpPr>
        <p:spPr>
          <a:xfrm>
            <a:off x="0" y="6565392"/>
            <a:ext cx="12188952" cy="292608"/>
          </a:xfrm>
          <a:prstGeom prst="rect">
            <a:avLst/>
          </a:prstGeom>
          <a:solidFill>
            <a:srgbClr val="003A61"/>
          </a:solidFill>
          <a:ln w="12700">
            <a:solidFill>
              <a:srgbClr val="003A61"/>
            </a:solidFill>
            <a:prstDash val="solid"/>
          </a:ln>
        </p:spPr>
      </p:sp>
      <p:sp>
        <p:nvSpPr>
          <p:cNvPr id="95" name="Text 93"/>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96" name="Text 94"/>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10 / 15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164592"/>
            <a:ext cx="11274552" cy="502920"/>
          </a:xfrm>
          <a:prstGeom prst="rect">
            <a:avLst/>
          </a:prstGeom>
          <a:noFill/>
          <a:ln/>
        </p:spPr>
        <p:txBody>
          <a:bodyPr wrap="square" lIns="0" tIns="0" rIns="0" bIns="0" rtlCol="0" anchor="ctr"/>
          <a:lstStyle/>
          <a:p>
            <a:pPr indent="0" marL="0">
              <a:buNone/>
            </a:pPr>
            <a:r>
              <a:rPr lang="en-US" sz="2800" b="1" dirty="0">
                <a:solidFill>
                  <a:srgbClr val="003A61"/>
                </a:solidFill>
                <a:latin typeface="Calibri" pitchFamily="34" charset="0"/>
                <a:ea typeface="Calibri" pitchFamily="34" charset="-122"/>
                <a:cs typeface="Calibri" pitchFamily="34" charset="-120"/>
              </a:rPr>
              <a:t>Who to Sell CDH Bridge To</a:t>
            </a:r>
            <a:endParaRPr lang="en-US" sz="2800" dirty="0"/>
          </a:p>
        </p:txBody>
      </p:sp>
      <p:sp>
        <p:nvSpPr>
          <p:cNvPr id="4" name="Text 2"/>
          <p:cNvSpPr/>
          <p:nvPr/>
        </p:nvSpPr>
        <p:spPr>
          <a:xfrm>
            <a:off x="457200" y="667512"/>
            <a:ext cx="11274552" cy="2743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Three distinct buyer profiles — each with a different entry point and message</a:t>
            </a:r>
            <a:endParaRPr lang="en-US" sz="1300" dirty="0"/>
          </a:p>
        </p:txBody>
      </p:sp>
      <p:sp>
        <p:nvSpPr>
          <p:cNvPr id="5" name="Shape 3"/>
          <p:cNvSpPr/>
          <p:nvPr/>
        </p:nvSpPr>
        <p:spPr>
          <a:xfrm>
            <a:off x="457200" y="914400"/>
            <a:ext cx="11274552" cy="27432"/>
          </a:xfrm>
          <a:prstGeom prst="rect">
            <a:avLst/>
          </a:prstGeom>
          <a:solidFill>
            <a:srgbClr val="E2E8F0"/>
          </a:solidFill>
          <a:ln w="12700">
            <a:solidFill>
              <a:srgbClr val="E2E8F0"/>
            </a:solidFill>
            <a:prstDash val="solid"/>
          </a:ln>
        </p:spPr>
      </p:sp>
      <p:sp>
        <p:nvSpPr>
          <p:cNvPr id="6" name="Shape 4"/>
          <p:cNvSpPr/>
          <p:nvPr/>
        </p:nvSpPr>
        <p:spPr>
          <a:xfrm>
            <a:off x="365760" y="1115568"/>
            <a:ext cx="3657600" cy="484632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7" name="Shape 5"/>
          <p:cNvSpPr/>
          <p:nvPr/>
        </p:nvSpPr>
        <p:spPr>
          <a:xfrm>
            <a:off x="365760" y="1115568"/>
            <a:ext cx="54864" cy="4846320"/>
          </a:xfrm>
          <a:prstGeom prst="rect">
            <a:avLst/>
          </a:prstGeom>
          <a:solidFill>
            <a:srgbClr val="DC2626"/>
          </a:solidFill>
          <a:ln w="12700">
            <a:solidFill>
              <a:srgbClr val="DC2626"/>
            </a:solidFill>
            <a:prstDash val="solid"/>
          </a:ln>
        </p:spPr>
      </p:sp>
      <p:sp>
        <p:nvSpPr>
          <p:cNvPr id="8" name="Shape 6"/>
          <p:cNvSpPr/>
          <p:nvPr/>
        </p:nvSpPr>
        <p:spPr>
          <a:xfrm>
            <a:off x="420624" y="1115568"/>
            <a:ext cx="3602736" cy="329184"/>
          </a:xfrm>
          <a:prstGeom prst="rect">
            <a:avLst/>
          </a:prstGeom>
          <a:solidFill>
            <a:srgbClr val="DC2626"/>
          </a:solidFill>
          <a:ln w="12700">
            <a:solidFill>
              <a:srgbClr val="DC2626"/>
            </a:solidFill>
            <a:prstDash val="solid"/>
          </a:ln>
        </p:spPr>
      </p:sp>
      <p:sp>
        <p:nvSpPr>
          <p:cNvPr id="9" name="Text 7"/>
          <p:cNvSpPr/>
          <p:nvPr/>
        </p:nvSpPr>
        <p:spPr>
          <a:xfrm>
            <a:off x="420624" y="1115568"/>
            <a:ext cx="3602736"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HOTTEST PROSPECT</a:t>
            </a:r>
            <a:endParaRPr lang="en-US" sz="900" dirty="0"/>
          </a:p>
        </p:txBody>
      </p:sp>
      <p:sp>
        <p:nvSpPr>
          <p:cNvPr id="10" name="Text 8"/>
          <p:cNvSpPr/>
          <p:nvPr/>
        </p:nvSpPr>
        <p:spPr>
          <a:xfrm>
            <a:off x="548640" y="1536192"/>
            <a:ext cx="548640" cy="50292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1" name="Text 9"/>
          <p:cNvSpPr/>
          <p:nvPr/>
        </p:nvSpPr>
        <p:spPr>
          <a:xfrm>
            <a:off x="1188720" y="1554480"/>
            <a:ext cx="2651760" cy="502920"/>
          </a:xfrm>
          <a:prstGeom prst="rect">
            <a:avLst/>
          </a:prstGeom>
          <a:noFill/>
          <a:ln/>
        </p:spPr>
        <p:txBody>
          <a:bodyPr wrap="square" lIns="0" tIns="0" rIns="0" bIns="0" rtlCol="0" anchor="ctr"/>
          <a:lstStyle/>
          <a:p>
            <a:pPr indent="0" marL="0">
              <a:buNone/>
            </a:pPr>
            <a:r>
              <a:rPr lang="en-US" sz="1400" b="1" dirty="0">
                <a:solidFill>
                  <a:srgbClr val="003A61"/>
                </a:solidFill>
                <a:latin typeface="Calibri" pitchFamily="34" charset="0"/>
                <a:ea typeface="Calibri" pitchFamily="34" charset="-122"/>
                <a:cs typeface="Calibri" pitchFamily="34" charset="-120"/>
              </a:rPr>
              <a:t>The Frustrated</a:t>
            </a:r>
            <a:endParaRPr lang="en-US" sz="1400" dirty="0"/>
          </a:p>
          <a:p>
            <a:pPr indent="0" marL="0">
              <a:buNone/>
            </a:pPr>
            <a:r>
              <a:rPr lang="en-US" sz="1400" b="1" dirty="0">
                <a:solidFill>
                  <a:srgbClr val="003A61"/>
                </a:solidFill>
                <a:latin typeface="Calibri" pitchFamily="34" charset="0"/>
                <a:ea typeface="Calibri" pitchFamily="34" charset="-122"/>
                <a:cs typeface="Calibri" pitchFamily="34" charset="-120"/>
              </a:rPr>
              <a:t>Pega Customer</a:t>
            </a:r>
            <a:endParaRPr lang="en-US" sz="1400" dirty="0"/>
          </a:p>
        </p:txBody>
      </p:sp>
      <p:sp>
        <p:nvSpPr>
          <p:cNvPr id="12" name="Text 10"/>
          <p:cNvSpPr/>
          <p:nvPr/>
        </p:nvSpPr>
        <p:spPr>
          <a:xfrm>
            <a:off x="493776" y="2103120"/>
            <a:ext cx="3401568" cy="685800"/>
          </a:xfrm>
          <a:prstGeom prst="rect">
            <a:avLst/>
          </a:prstGeom>
          <a:noFill/>
          <a:ln/>
        </p:spPr>
        <p:txBody>
          <a:bodyPr wrap="square" lIns="0" tIns="0" rIns="0" bIns="0" rtlCol="0" anchor="ctr"/>
          <a:lstStyle/>
          <a:p>
            <a:pPr indent="0" marL="0">
              <a:buNone/>
            </a:pPr>
            <a:r>
              <a:rPr lang="en-US" sz="1050" i="1" dirty="0">
                <a:solidFill>
                  <a:srgbClr val="475569"/>
                </a:solidFill>
                <a:latin typeface="Calibri" pitchFamily="34" charset="0"/>
                <a:ea typeface="Calibri" pitchFamily="34" charset="-122"/>
                <a:cs typeface="Calibri" pitchFamily="34" charset="-120"/>
              </a:rPr>
              <a:t>"Has Pega CDH. NBA accuracy below expectations. Blaming the AI — not the data."</a:t>
            </a:r>
            <a:endParaRPr lang="en-US" sz="1050" dirty="0"/>
          </a:p>
        </p:txBody>
      </p:sp>
      <p:sp>
        <p:nvSpPr>
          <p:cNvPr id="13" name="Text 11"/>
          <p:cNvSpPr/>
          <p:nvPr/>
        </p:nvSpPr>
        <p:spPr>
          <a:xfrm>
            <a:off x="493776" y="2880360"/>
            <a:ext cx="3401568"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12% or lower NBA acceptance rate</a:t>
            </a:r>
            <a:endParaRPr lang="en-US" sz="1050" dirty="0"/>
          </a:p>
        </p:txBody>
      </p:sp>
      <p:sp>
        <p:nvSpPr>
          <p:cNvPr id="14" name="Text 12"/>
          <p:cNvSpPr/>
          <p:nvPr/>
        </p:nvSpPr>
        <p:spPr>
          <a:xfrm>
            <a:off x="493776" y="3264408"/>
            <a:ext cx="3401568"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Invested in Pega AI, disappointed in results</a:t>
            </a:r>
            <a:endParaRPr lang="en-US" sz="1050" dirty="0"/>
          </a:p>
        </p:txBody>
      </p:sp>
      <p:sp>
        <p:nvSpPr>
          <p:cNvPr id="15" name="Text 13"/>
          <p:cNvSpPr/>
          <p:nvPr/>
        </p:nvSpPr>
        <p:spPr>
          <a:xfrm>
            <a:off x="493776" y="3648456"/>
            <a:ext cx="3401568"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Currently evaluating competitor CDPs</a:t>
            </a:r>
            <a:endParaRPr lang="en-US" sz="1050" dirty="0"/>
          </a:p>
        </p:txBody>
      </p:sp>
      <p:sp>
        <p:nvSpPr>
          <p:cNvPr id="16" name="Text 14"/>
          <p:cNvSpPr/>
          <p:nvPr/>
        </p:nvSpPr>
        <p:spPr>
          <a:xfrm>
            <a:off x="493776" y="4032504"/>
            <a:ext cx="3401568"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CDH went live 6+ months ago, still "not delivering"</a:t>
            </a:r>
            <a:endParaRPr lang="en-US" sz="1050" dirty="0"/>
          </a:p>
        </p:txBody>
      </p:sp>
      <p:sp>
        <p:nvSpPr>
          <p:cNvPr id="17" name="Shape 15"/>
          <p:cNvSpPr/>
          <p:nvPr/>
        </p:nvSpPr>
        <p:spPr>
          <a:xfrm>
            <a:off x="493776" y="4462272"/>
            <a:ext cx="3401568" cy="27432"/>
          </a:xfrm>
          <a:prstGeom prst="rect">
            <a:avLst/>
          </a:prstGeom>
          <a:solidFill>
            <a:srgbClr val="DC2626"/>
          </a:solidFill>
          <a:ln w="12700">
            <a:solidFill>
              <a:srgbClr val="DC2626"/>
            </a:solidFill>
            <a:prstDash val="solid"/>
          </a:ln>
        </p:spPr>
      </p:sp>
      <p:sp>
        <p:nvSpPr>
          <p:cNvPr id="18" name="Text 16"/>
          <p:cNvSpPr/>
          <p:nvPr/>
        </p:nvSpPr>
        <p:spPr>
          <a:xfrm>
            <a:off x="493776" y="4535424"/>
            <a:ext cx="3401568"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Industries: Financial Services  ·  Telco  ·  Insurance</a:t>
            </a:r>
            <a:endParaRPr lang="en-US" sz="900" dirty="0"/>
          </a:p>
        </p:txBody>
      </p:sp>
      <p:sp>
        <p:nvSpPr>
          <p:cNvPr id="19" name="Text 17"/>
          <p:cNvSpPr/>
          <p:nvPr/>
        </p:nvSpPr>
        <p:spPr>
          <a:xfrm>
            <a:off x="493776" y="4846320"/>
            <a:ext cx="3401568" cy="274320"/>
          </a:xfrm>
          <a:prstGeom prst="rect">
            <a:avLst/>
          </a:prstGeom>
          <a:noFill/>
          <a:ln/>
        </p:spPr>
        <p:txBody>
          <a:bodyPr wrap="square" lIns="0" tIns="0" rIns="0" bIns="0"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Entry: CDH Admin, VP Customer Experience, Chief Digital Officer</a:t>
            </a:r>
            <a:endParaRPr lang="en-US" sz="900" dirty="0"/>
          </a:p>
        </p:txBody>
      </p:sp>
      <p:sp>
        <p:nvSpPr>
          <p:cNvPr id="20" name="Shape 18"/>
          <p:cNvSpPr/>
          <p:nvPr/>
        </p:nvSpPr>
        <p:spPr>
          <a:xfrm>
            <a:off x="4251960" y="1115568"/>
            <a:ext cx="3657600" cy="484632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1" name="Shape 19"/>
          <p:cNvSpPr/>
          <p:nvPr/>
        </p:nvSpPr>
        <p:spPr>
          <a:xfrm>
            <a:off x="4251960" y="1115568"/>
            <a:ext cx="54864" cy="4846320"/>
          </a:xfrm>
          <a:prstGeom prst="rect">
            <a:avLst/>
          </a:prstGeom>
          <a:solidFill>
            <a:srgbClr val="0063AB"/>
          </a:solidFill>
          <a:ln w="12700">
            <a:solidFill>
              <a:srgbClr val="0063AB"/>
            </a:solidFill>
            <a:prstDash val="solid"/>
          </a:ln>
        </p:spPr>
      </p:sp>
      <p:sp>
        <p:nvSpPr>
          <p:cNvPr id="22" name="Shape 20"/>
          <p:cNvSpPr/>
          <p:nvPr/>
        </p:nvSpPr>
        <p:spPr>
          <a:xfrm>
            <a:off x="4306824" y="1115568"/>
            <a:ext cx="3602736" cy="329184"/>
          </a:xfrm>
          <a:prstGeom prst="rect">
            <a:avLst/>
          </a:prstGeom>
          <a:solidFill>
            <a:srgbClr val="0063AB"/>
          </a:solidFill>
          <a:ln w="12700">
            <a:solidFill>
              <a:srgbClr val="0063AB"/>
            </a:solidFill>
            <a:prstDash val="solid"/>
          </a:ln>
        </p:spPr>
      </p:sp>
      <p:sp>
        <p:nvSpPr>
          <p:cNvPr id="23" name="Text 21"/>
          <p:cNvSpPr/>
          <p:nvPr/>
        </p:nvSpPr>
        <p:spPr>
          <a:xfrm>
            <a:off x="4306824" y="1115568"/>
            <a:ext cx="3602736"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 LEVERAGE</a:t>
            </a:r>
            <a:endParaRPr lang="en-US" sz="900" dirty="0"/>
          </a:p>
        </p:txBody>
      </p:sp>
      <p:sp>
        <p:nvSpPr>
          <p:cNvPr id="24" name="Text 22"/>
          <p:cNvSpPr/>
          <p:nvPr/>
        </p:nvSpPr>
        <p:spPr>
          <a:xfrm>
            <a:off x="4434840" y="1536192"/>
            <a:ext cx="548640" cy="50292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25" name="Text 23"/>
          <p:cNvSpPr/>
          <p:nvPr/>
        </p:nvSpPr>
        <p:spPr>
          <a:xfrm>
            <a:off x="5074920" y="1554480"/>
            <a:ext cx="2651760" cy="502920"/>
          </a:xfrm>
          <a:prstGeom prst="rect">
            <a:avLst/>
          </a:prstGeom>
          <a:noFill/>
          <a:ln/>
        </p:spPr>
        <p:txBody>
          <a:bodyPr wrap="square" lIns="0" tIns="0" rIns="0" bIns="0" rtlCol="0" anchor="ctr"/>
          <a:lstStyle/>
          <a:p>
            <a:pPr indent="0" marL="0">
              <a:buNone/>
            </a:pPr>
            <a:r>
              <a:rPr lang="en-US" sz="1400" b="1" dirty="0">
                <a:solidFill>
                  <a:srgbClr val="003A61"/>
                </a:solidFill>
                <a:latin typeface="Calibri" pitchFamily="34" charset="0"/>
                <a:ea typeface="Calibri" pitchFamily="34" charset="-122"/>
                <a:cs typeface="Calibri" pitchFamily="34" charset="-120"/>
              </a:rPr>
              <a:t>The Pega</a:t>
            </a:r>
            <a:endParaRPr lang="en-US" sz="1400" dirty="0"/>
          </a:p>
          <a:p>
            <a:pPr indent="0" marL="0">
              <a:buNone/>
            </a:pPr>
            <a:r>
              <a:rPr lang="en-US" sz="1400" b="1" dirty="0">
                <a:solidFill>
                  <a:srgbClr val="003A61"/>
                </a:solidFill>
                <a:latin typeface="Calibri" pitchFamily="34" charset="0"/>
                <a:ea typeface="Calibri" pitchFamily="34" charset="-122"/>
                <a:cs typeface="Calibri" pitchFamily="34" charset="-120"/>
              </a:rPr>
              <a:t>Evaluator</a:t>
            </a:r>
            <a:endParaRPr lang="en-US" sz="1400" dirty="0"/>
          </a:p>
        </p:txBody>
      </p:sp>
      <p:sp>
        <p:nvSpPr>
          <p:cNvPr id="26" name="Text 24"/>
          <p:cNvSpPr/>
          <p:nvPr/>
        </p:nvSpPr>
        <p:spPr>
          <a:xfrm>
            <a:off x="4379976" y="2103120"/>
            <a:ext cx="3401568" cy="685800"/>
          </a:xfrm>
          <a:prstGeom prst="rect">
            <a:avLst/>
          </a:prstGeom>
          <a:noFill/>
          <a:ln/>
        </p:spPr>
        <p:txBody>
          <a:bodyPr wrap="square" lIns="0" tIns="0" rIns="0" bIns="0" rtlCol="0" anchor="ctr"/>
          <a:lstStyle/>
          <a:p>
            <a:pPr indent="0" marL="0">
              <a:buNone/>
            </a:pPr>
            <a:r>
              <a:rPr lang="en-US" sz="1050" i="1" dirty="0">
                <a:solidFill>
                  <a:srgbClr val="475569"/>
                </a:solidFill>
                <a:latin typeface="Calibri" pitchFamily="34" charset="0"/>
                <a:ea typeface="Calibri" pitchFamily="34" charset="-122"/>
                <a:cs typeface="Calibri" pitchFamily="34" charset="-120"/>
              </a:rPr>
              <a:t>"Evaluating Pega CDH. Concerned about data integration complexity and SI cost."</a:t>
            </a:r>
            <a:endParaRPr lang="en-US" sz="1050" dirty="0"/>
          </a:p>
        </p:txBody>
      </p:sp>
      <p:sp>
        <p:nvSpPr>
          <p:cNvPr id="27" name="Text 25"/>
          <p:cNvSpPr/>
          <p:nvPr/>
        </p:nvSpPr>
        <p:spPr>
          <a:xfrm>
            <a:off x="4379976" y="2880360"/>
            <a:ext cx="3401568"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In CDH proof-of-concept or evaluation stage</a:t>
            </a:r>
            <a:endParaRPr lang="en-US" sz="1050" dirty="0"/>
          </a:p>
        </p:txBody>
      </p:sp>
      <p:sp>
        <p:nvSpPr>
          <p:cNvPr id="28" name="Text 26"/>
          <p:cNvSpPr/>
          <p:nvPr/>
        </p:nvSpPr>
        <p:spPr>
          <a:xfrm>
            <a:off x="4379976" y="3264408"/>
            <a:ext cx="3401568"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Worried: "How do we feed it with real data?"</a:t>
            </a:r>
            <a:endParaRPr lang="en-US" sz="1050" dirty="0"/>
          </a:p>
        </p:txBody>
      </p:sp>
      <p:sp>
        <p:nvSpPr>
          <p:cNvPr id="29" name="Text 27"/>
          <p:cNvSpPr/>
          <p:nvPr/>
        </p:nvSpPr>
        <p:spPr>
          <a:xfrm>
            <a:off x="4379976" y="3648456"/>
            <a:ext cx="3401568"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Has existing Salesforce / Snowflake / SAP stack</a:t>
            </a:r>
            <a:endParaRPr lang="en-US" sz="1050" dirty="0"/>
          </a:p>
        </p:txBody>
      </p:sp>
      <p:sp>
        <p:nvSpPr>
          <p:cNvPr id="30" name="Text 28"/>
          <p:cNvSpPr/>
          <p:nvPr/>
        </p:nvSpPr>
        <p:spPr>
          <a:xfrm>
            <a:off x="4379976" y="4032504"/>
            <a:ext cx="3401568"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Budget for CDH + data platform combined</a:t>
            </a:r>
            <a:endParaRPr lang="en-US" sz="1050" dirty="0"/>
          </a:p>
        </p:txBody>
      </p:sp>
      <p:sp>
        <p:nvSpPr>
          <p:cNvPr id="31" name="Shape 29"/>
          <p:cNvSpPr/>
          <p:nvPr/>
        </p:nvSpPr>
        <p:spPr>
          <a:xfrm>
            <a:off x="4379976" y="4462272"/>
            <a:ext cx="3401568" cy="27432"/>
          </a:xfrm>
          <a:prstGeom prst="rect">
            <a:avLst/>
          </a:prstGeom>
          <a:solidFill>
            <a:srgbClr val="0063AB"/>
          </a:solidFill>
          <a:ln w="12700">
            <a:solidFill>
              <a:srgbClr val="0063AB"/>
            </a:solidFill>
            <a:prstDash val="solid"/>
          </a:ln>
        </p:spPr>
      </p:sp>
      <p:sp>
        <p:nvSpPr>
          <p:cNvPr id="32" name="Text 30"/>
          <p:cNvSpPr/>
          <p:nvPr/>
        </p:nvSpPr>
        <p:spPr>
          <a:xfrm>
            <a:off x="4379976" y="4535424"/>
            <a:ext cx="3401568"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Industries: Retail Banking  ·  Utilities  ·  Retail</a:t>
            </a:r>
            <a:endParaRPr lang="en-US" sz="900" dirty="0"/>
          </a:p>
        </p:txBody>
      </p:sp>
      <p:sp>
        <p:nvSpPr>
          <p:cNvPr id="33" name="Text 31"/>
          <p:cNvSpPr/>
          <p:nvPr/>
        </p:nvSpPr>
        <p:spPr>
          <a:xfrm>
            <a:off x="4379976" y="4846320"/>
            <a:ext cx="3401568" cy="274320"/>
          </a:xfrm>
          <a:prstGeom prst="rect">
            <a:avLst/>
          </a:prstGeom>
          <a:noFill/>
          <a:ln/>
        </p:spPr>
        <p:txBody>
          <a:bodyPr wrap="square" lIns="0" tIns="0" rIns="0" bIns="0" rtlCol="0" anchor="ctr"/>
          <a:lstStyle/>
          <a:p>
            <a:pPr indent="0" marL="0">
              <a:buNone/>
            </a:pPr>
            <a:r>
              <a:rPr lang="en-US" sz="900" b="1" dirty="0">
                <a:solidFill>
                  <a:srgbClr val="0063AB"/>
                </a:solidFill>
                <a:latin typeface="Calibri" pitchFamily="34" charset="0"/>
                <a:ea typeface="Calibri" pitchFamily="34" charset="-122"/>
                <a:cs typeface="Calibri" pitchFamily="34" charset="-120"/>
              </a:rPr>
              <a:t>Entry: CTO, Chief Digital Officer, Head of CRM</a:t>
            </a:r>
            <a:endParaRPr lang="en-US" sz="900" dirty="0"/>
          </a:p>
        </p:txBody>
      </p:sp>
      <p:sp>
        <p:nvSpPr>
          <p:cNvPr id="34" name="Shape 32"/>
          <p:cNvSpPr/>
          <p:nvPr/>
        </p:nvSpPr>
        <p:spPr>
          <a:xfrm>
            <a:off x="8138160" y="1115568"/>
            <a:ext cx="3657600" cy="484632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35" name="Shape 33"/>
          <p:cNvSpPr/>
          <p:nvPr/>
        </p:nvSpPr>
        <p:spPr>
          <a:xfrm>
            <a:off x="8138160" y="1115568"/>
            <a:ext cx="54864" cy="4846320"/>
          </a:xfrm>
          <a:prstGeom prst="rect">
            <a:avLst/>
          </a:prstGeom>
          <a:solidFill>
            <a:srgbClr val="16A34A"/>
          </a:solidFill>
          <a:ln w="12700">
            <a:solidFill>
              <a:srgbClr val="16A34A"/>
            </a:solidFill>
            <a:prstDash val="solid"/>
          </a:ln>
        </p:spPr>
      </p:sp>
      <p:sp>
        <p:nvSpPr>
          <p:cNvPr id="36" name="Shape 34"/>
          <p:cNvSpPr/>
          <p:nvPr/>
        </p:nvSpPr>
        <p:spPr>
          <a:xfrm>
            <a:off x="8193024" y="1115568"/>
            <a:ext cx="3602736" cy="329184"/>
          </a:xfrm>
          <a:prstGeom prst="rect">
            <a:avLst/>
          </a:prstGeom>
          <a:solidFill>
            <a:srgbClr val="16A34A"/>
          </a:solidFill>
          <a:ln w="12700">
            <a:solidFill>
              <a:srgbClr val="16A34A"/>
            </a:solidFill>
            <a:prstDash val="solid"/>
          </a:ln>
        </p:spPr>
      </p:sp>
      <p:sp>
        <p:nvSpPr>
          <p:cNvPr id="37" name="Text 35"/>
          <p:cNvSpPr/>
          <p:nvPr/>
        </p:nvSpPr>
        <p:spPr>
          <a:xfrm>
            <a:off x="8193024" y="1115568"/>
            <a:ext cx="3602736"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EASIEST WIN</a:t>
            </a:r>
            <a:endParaRPr lang="en-US" sz="900" dirty="0"/>
          </a:p>
        </p:txBody>
      </p:sp>
      <p:sp>
        <p:nvSpPr>
          <p:cNvPr id="38" name="Text 36"/>
          <p:cNvSpPr/>
          <p:nvPr/>
        </p:nvSpPr>
        <p:spPr>
          <a:xfrm>
            <a:off x="8321040" y="1536192"/>
            <a:ext cx="548640" cy="50292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39" name="Text 37"/>
          <p:cNvSpPr/>
          <p:nvPr/>
        </p:nvSpPr>
        <p:spPr>
          <a:xfrm>
            <a:off x="8961120" y="1554480"/>
            <a:ext cx="2651760" cy="502920"/>
          </a:xfrm>
          <a:prstGeom prst="rect">
            <a:avLst/>
          </a:prstGeom>
          <a:noFill/>
          <a:ln/>
        </p:spPr>
        <p:txBody>
          <a:bodyPr wrap="square" lIns="0" tIns="0" rIns="0" bIns="0" rtlCol="0" anchor="ctr"/>
          <a:lstStyle/>
          <a:p>
            <a:pPr indent="0" marL="0">
              <a:buNone/>
            </a:pPr>
            <a:r>
              <a:rPr lang="en-US" sz="1400" b="1" dirty="0">
                <a:solidFill>
                  <a:srgbClr val="003A61"/>
                </a:solidFill>
                <a:latin typeface="Calibri" pitchFamily="34" charset="0"/>
                <a:ea typeface="Calibri" pitchFamily="34" charset="-122"/>
                <a:cs typeface="Calibri" pitchFamily="34" charset="-120"/>
              </a:rPr>
              <a:t>The Existing</a:t>
            </a:r>
            <a:endParaRPr lang="en-US" sz="1400" dirty="0"/>
          </a:p>
          <a:p>
            <a:pPr indent="0" marL="0">
              <a:buNone/>
            </a:pPr>
            <a:r>
              <a:rPr lang="en-US" sz="1400" b="1" dirty="0">
                <a:solidFill>
                  <a:srgbClr val="003A61"/>
                </a:solidFill>
                <a:latin typeface="Calibri" pitchFamily="34" charset="0"/>
                <a:ea typeface="Calibri" pitchFamily="34" charset="-122"/>
                <a:cs typeface="Calibri" pitchFamily="34" charset="-120"/>
              </a:rPr>
              <a:t>DCS Client</a:t>
            </a:r>
            <a:endParaRPr lang="en-US" sz="1400" dirty="0"/>
          </a:p>
        </p:txBody>
      </p:sp>
      <p:sp>
        <p:nvSpPr>
          <p:cNvPr id="40" name="Text 38"/>
          <p:cNvSpPr/>
          <p:nvPr/>
        </p:nvSpPr>
        <p:spPr>
          <a:xfrm>
            <a:off x="8266176" y="2103120"/>
            <a:ext cx="3401568" cy="685800"/>
          </a:xfrm>
          <a:prstGeom prst="rect">
            <a:avLst/>
          </a:prstGeom>
          <a:noFill/>
          <a:ln/>
        </p:spPr>
        <p:txBody>
          <a:bodyPr wrap="square" lIns="0" tIns="0" rIns="0" bIns="0" rtlCol="0" anchor="ctr"/>
          <a:lstStyle/>
          <a:p>
            <a:pPr indent="0" marL="0">
              <a:buNone/>
            </a:pPr>
            <a:r>
              <a:rPr lang="en-US" sz="1050" i="1" dirty="0">
                <a:solidFill>
                  <a:srgbClr val="475569"/>
                </a:solidFill>
                <a:latin typeface="Calibri" pitchFamily="34" charset="0"/>
                <a:ea typeface="Calibri" pitchFamily="34" charset="-122"/>
                <a:cs typeface="Calibri" pitchFamily="34" charset="-120"/>
              </a:rPr>
              <a:t>"Already has DCS running their Pega CDH implementation. CDH Bridge is the natural next step."</a:t>
            </a:r>
            <a:endParaRPr lang="en-US" sz="1050" dirty="0"/>
          </a:p>
        </p:txBody>
      </p:sp>
      <p:sp>
        <p:nvSpPr>
          <p:cNvPr id="41" name="Text 39"/>
          <p:cNvSpPr/>
          <p:nvPr/>
        </p:nvSpPr>
        <p:spPr>
          <a:xfrm>
            <a:off x="8266176" y="2880360"/>
            <a:ext cx="3401568"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DCS already has trust and access</a:t>
            </a:r>
            <a:endParaRPr lang="en-US" sz="1050" dirty="0"/>
          </a:p>
        </p:txBody>
      </p:sp>
      <p:sp>
        <p:nvSpPr>
          <p:cNvPr id="42" name="Text 40"/>
          <p:cNvSpPr/>
          <p:nvPr/>
        </p:nvSpPr>
        <p:spPr>
          <a:xfrm>
            <a:off x="8266176" y="3264408"/>
            <a:ext cx="3401568"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We know their CDH architecture and data sources</a:t>
            </a:r>
            <a:endParaRPr lang="en-US" sz="1050" dirty="0"/>
          </a:p>
        </p:txBody>
      </p:sp>
      <p:sp>
        <p:nvSpPr>
          <p:cNvPr id="43" name="Text 41"/>
          <p:cNvSpPr/>
          <p:nvPr/>
        </p:nvSpPr>
        <p:spPr>
          <a:xfrm>
            <a:off x="8266176" y="3648456"/>
            <a:ext cx="3401568"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Can propose CDH Bridge as part of delivery scope</a:t>
            </a:r>
            <a:endParaRPr lang="en-US" sz="1050" dirty="0"/>
          </a:p>
        </p:txBody>
      </p:sp>
      <p:sp>
        <p:nvSpPr>
          <p:cNvPr id="44" name="Text 42"/>
          <p:cNvSpPr/>
          <p:nvPr/>
        </p:nvSpPr>
        <p:spPr>
          <a:xfrm>
            <a:off x="8266176" y="4032504"/>
            <a:ext cx="3401568"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Upsell from SI engagement to recurring SaaS ARR</a:t>
            </a:r>
            <a:endParaRPr lang="en-US" sz="1050" dirty="0"/>
          </a:p>
        </p:txBody>
      </p:sp>
      <p:sp>
        <p:nvSpPr>
          <p:cNvPr id="45" name="Shape 43"/>
          <p:cNvSpPr/>
          <p:nvPr/>
        </p:nvSpPr>
        <p:spPr>
          <a:xfrm>
            <a:off x="8266176" y="4462272"/>
            <a:ext cx="3401568" cy="27432"/>
          </a:xfrm>
          <a:prstGeom prst="rect">
            <a:avLst/>
          </a:prstGeom>
          <a:solidFill>
            <a:srgbClr val="16A34A"/>
          </a:solidFill>
          <a:ln w="12700">
            <a:solidFill>
              <a:srgbClr val="16A34A"/>
            </a:solidFill>
            <a:prstDash val="solid"/>
          </a:ln>
        </p:spPr>
      </p:sp>
      <p:sp>
        <p:nvSpPr>
          <p:cNvPr id="46" name="Text 44"/>
          <p:cNvSpPr/>
          <p:nvPr/>
        </p:nvSpPr>
        <p:spPr>
          <a:xfrm>
            <a:off x="8266176" y="4535424"/>
            <a:ext cx="3401568"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Industries: Any — wherever DCS has active Pega engagements</a:t>
            </a:r>
            <a:endParaRPr lang="en-US" sz="900" dirty="0"/>
          </a:p>
        </p:txBody>
      </p:sp>
      <p:sp>
        <p:nvSpPr>
          <p:cNvPr id="47" name="Text 45"/>
          <p:cNvSpPr/>
          <p:nvPr/>
        </p:nvSpPr>
        <p:spPr>
          <a:xfrm>
            <a:off x="8266176" y="4846320"/>
            <a:ext cx="3401568" cy="274320"/>
          </a:xfrm>
          <a:prstGeom prst="rect">
            <a:avLst/>
          </a:prstGeom>
          <a:noFill/>
          <a:ln/>
        </p:spPr>
        <p:txBody>
          <a:bodyPr wrap="square" lIns="0" tIns="0" rIns="0" bIns="0" rtlCol="0" anchor="ctr"/>
          <a:lstStyle/>
          <a:p>
            <a:pPr indent="0" marL="0">
              <a:buNone/>
            </a:pPr>
            <a:r>
              <a:rPr lang="en-US" sz="900" b="1" dirty="0">
                <a:solidFill>
                  <a:srgbClr val="16A34A"/>
                </a:solidFill>
                <a:latin typeface="Calibri" pitchFamily="34" charset="0"/>
                <a:ea typeface="Calibri" pitchFamily="34" charset="-122"/>
                <a:cs typeface="Calibri" pitchFamily="34" charset="-120"/>
              </a:rPr>
              <a:t>Entry: Existing sponsor / DCS programme manager</a:t>
            </a:r>
            <a:endParaRPr lang="en-US" sz="900" dirty="0"/>
          </a:p>
        </p:txBody>
      </p:sp>
      <p:sp>
        <p:nvSpPr>
          <p:cNvPr id="48" name="Shape 46"/>
          <p:cNvSpPr/>
          <p:nvPr/>
        </p:nvSpPr>
        <p:spPr>
          <a:xfrm>
            <a:off x="0" y="6565392"/>
            <a:ext cx="12188952" cy="292608"/>
          </a:xfrm>
          <a:prstGeom prst="rect">
            <a:avLst/>
          </a:prstGeom>
          <a:solidFill>
            <a:srgbClr val="003A61"/>
          </a:solidFill>
          <a:ln w="12700">
            <a:solidFill>
              <a:srgbClr val="003A61"/>
            </a:solidFill>
            <a:prstDash val="solid"/>
          </a:ln>
        </p:spPr>
      </p:sp>
      <p:sp>
        <p:nvSpPr>
          <p:cNvPr id="49" name="Text 47"/>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50" name="Text 48"/>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11 / 15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164592"/>
            <a:ext cx="11274552" cy="502920"/>
          </a:xfrm>
          <a:prstGeom prst="rect">
            <a:avLst/>
          </a:prstGeom>
          <a:noFill/>
          <a:ln/>
        </p:spPr>
        <p:txBody>
          <a:bodyPr wrap="square" lIns="0" tIns="0" rIns="0" bIns="0" rtlCol="0" anchor="ctr"/>
          <a:lstStyle/>
          <a:p>
            <a:pPr indent="0" marL="0">
              <a:buNone/>
            </a:pPr>
            <a:r>
              <a:rPr lang="en-US" sz="2800" b="1" dirty="0">
                <a:solidFill>
                  <a:srgbClr val="003A61"/>
                </a:solidFill>
                <a:latin typeface="Calibri" pitchFamily="34" charset="0"/>
                <a:ea typeface="Calibri" pitchFamily="34" charset="-122"/>
                <a:cs typeface="Calibri" pitchFamily="34" charset="-120"/>
              </a:rPr>
              <a:t>Go-To-Market: Land with CDH, Expand with Bridge</a:t>
            </a:r>
            <a:endParaRPr lang="en-US" sz="2800" dirty="0"/>
          </a:p>
        </p:txBody>
      </p:sp>
      <p:sp>
        <p:nvSpPr>
          <p:cNvPr id="4" name="Text 2"/>
          <p:cNvSpPr/>
          <p:nvPr/>
        </p:nvSpPr>
        <p:spPr>
          <a:xfrm>
            <a:off x="457200" y="667512"/>
            <a:ext cx="11274552" cy="2743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12-month path from first client to Pega OEM conversation</a:t>
            </a:r>
            <a:endParaRPr lang="en-US" sz="1300" dirty="0"/>
          </a:p>
        </p:txBody>
      </p:sp>
      <p:sp>
        <p:nvSpPr>
          <p:cNvPr id="5" name="Shape 3"/>
          <p:cNvSpPr/>
          <p:nvPr/>
        </p:nvSpPr>
        <p:spPr>
          <a:xfrm>
            <a:off x="457200" y="914400"/>
            <a:ext cx="11274552" cy="27432"/>
          </a:xfrm>
          <a:prstGeom prst="rect">
            <a:avLst/>
          </a:prstGeom>
          <a:solidFill>
            <a:srgbClr val="E2E8F0"/>
          </a:solidFill>
          <a:ln w="12700">
            <a:solidFill>
              <a:srgbClr val="E2E8F0"/>
            </a:solidFill>
            <a:prstDash val="solid"/>
          </a:ln>
        </p:spPr>
      </p:sp>
      <p:sp>
        <p:nvSpPr>
          <p:cNvPr id="6" name="Shape 4"/>
          <p:cNvSpPr/>
          <p:nvPr/>
        </p:nvSpPr>
        <p:spPr>
          <a:xfrm>
            <a:off x="365760" y="1115568"/>
            <a:ext cx="3657600" cy="402336"/>
          </a:xfrm>
          <a:prstGeom prst="rect">
            <a:avLst/>
          </a:prstGeom>
          <a:solidFill>
            <a:srgbClr val="0063AB"/>
          </a:solidFill>
          <a:ln w="12700">
            <a:solidFill>
              <a:srgbClr val="0063AB"/>
            </a:solidFill>
            <a:prstDash val="solid"/>
          </a:ln>
        </p:spPr>
      </p:sp>
      <p:sp>
        <p:nvSpPr>
          <p:cNvPr id="7" name="Text 5"/>
          <p:cNvSpPr/>
          <p:nvPr/>
        </p:nvSpPr>
        <p:spPr>
          <a:xfrm>
            <a:off x="475488" y="1115568"/>
            <a:ext cx="3438144" cy="40233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1  ·  Months 1–6</a:t>
            </a:r>
            <a:endParaRPr lang="en-US" sz="1000" dirty="0"/>
          </a:p>
        </p:txBody>
      </p:sp>
      <p:sp>
        <p:nvSpPr>
          <p:cNvPr id="8" name="Text 6"/>
          <p:cNvSpPr/>
          <p:nvPr/>
        </p:nvSpPr>
        <p:spPr>
          <a:xfrm>
            <a:off x="475488" y="1572768"/>
            <a:ext cx="1828800" cy="548640"/>
          </a:xfrm>
          <a:prstGeom prst="rect">
            <a:avLst/>
          </a:prstGeom>
          <a:noFill/>
          <a:ln/>
        </p:spPr>
        <p:txBody>
          <a:bodyPr wrap="square" lIns="0" tIns="0" rIns="0" bIns="0" rtlCol="0" anchor="ctr"/>
          <a:lstStyle/>
          <a:p>
            <a:pPr indent="0" marL="0">
              <a:buNone/>
            </a:pPr>
            <a:r>
              <a:rPr lang="en-US" sz="2200" b="1" dirty="0">
                <a:solidFill>
                  <a:srgbClr val="0063AB"/>
                </a:solidFill>
                <a:latin typeface="Calibri" pitchFamily="34" charset="0"/>
                <a:ea typeface="Calibri" pitchFamily="34" charset="-122"/>
                <a:cs typeface="Calibri" pitchFamily="34" charset="-120"/>
              </a:rPr>
              <a:t>LAND</a:t>
            </a:r>
            <a:endParaRPr lang="en-US" sz="2200" dirty="0"/>
          </a:p>
        </p:txBody>
      </p:sp>
      <p:sp>
        <p:nvSpPr>
          <p:cNvPr id="9" name="Text 7"/>
          <p:cNvSpPr/>
          <p:nvPr/>
        </p:nvSpPr>
        <p:spPr>
          <a:xfrm>
            <a:off x="3017520" y="1572768"/>
            <a:ext cx="640080" cy="50292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0" name="Text 8"/>
          <p:cNvSpPr/>
          <p:nvPr/>
        </p:nvSpPr>
        <p:spPr>
          <a:xfrm>
            <a:off x="475488" y="2148840"/>
            <a:ext cx="3438144" cy="310896"/>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Goal: $75K/mo ARR · 3 design partners</a:t>
            </a:r>
            <a:endParaRPr lang="en-US" sz="1000" dirty="0"/>
          </a:p>
        </p:txBody>
      </p:sp>
      <p:sp>
        <p:nvSpPr>
          <p:cNvPr id="11" name="Shape 9"/>
          <p:cNvSpPr/>
          <p:nvPr/>
        </p:nvSpPr>
        <p:spPr>
          <a:xfrm>
            <a:off x="365760" y="2542032"/>
            <a:ext cx="3657600" cy="2240280"/>
          </a:xfrm>
          <a:prstGeom prst="rect">
            <a:avLst/>
          </a:prstGeom>
          <a:solidFill>
            <a:srgbClr val="F1F5F9"/>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2" name="Shape 10"/>
          <p:cNvSpPr/>
          <p:nvPr/>
        </p:nvSpPr>
        <p:spPr>
          <a:xfrm>
            <a:off x="365760" y="2542032"/>
            <a:ext cx="54864" cy="2240280"/>
          </a:xfrm>
          <a:prstGeom prst="rect">
            <a:avLst/>
          </a:prstGeom>
          <a:solidFill>
            <a:srgbClr val="0063AB"/>
          </a:solidFill>
          <a:ln w="12700">
            <a:solidFill>
              <a:srgbClr val="0063AB"/>
            </a:solidFill>
            <a:prstDash val="solid"/>
          </a:ln>
        </p:spPr>
      </p:sp>
      <p:sp>
        <p:nvSpPr>
          <p:cNvPr id="13" name="Text 11"/>
          <p:cNvSpPr/>
          <p:nvPr/>
        </p:nvSpPr>
        <p:spPr>
          <a:xfrm>
            <a:off x="566928" y="2670048"/>
            <a:ext cx="329184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Target top 20 Pega CDH accounts (frustrated + evaluators)</a:t>
            </a:r>
            <a:endParaRPr lang="en-US" sz="1050" dirty="0"/>
          </a:p>
        </p:txBody>
      </p:sp>
      <p:sp>
        <p:nvSpPr>
          <p:cNvPr id="14" name="Text 12"/>
          <p:cNvSpPr/>
          <p:nvPr/>
        </p:nvSpPr>
        <p:spPr>
          <a:xfrm>
            <a:off x="566928" y="3172968"/>
            <a:ext cx="329184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3 design partners at $25K/month — prove the lift</a:t>
            </a:r>
            <a:endParaRPr lang="en-US" sz="1050" dirty="0"/>
          </a:p>
        </p:txBody>
      </p:sp>
      <p:sp>
        <p:nvSpPr>
          <p:cNvPr id="15" name="Text 13"/>
          <p:cNvSpPr/>
          <p:nvPr/>
        </p:nvSpPr>
        <p:spPr>
          <a:xfrm>
            <a:off x="566928" y="3675888"/>
            <a:ext cx="329184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POC: one channel, 30 days, measurable NBA improvement</a:t>
            </a:r>
            <a:endParaRPr lang="en-US" sz="1050" dirty="0"/>
          </a:p>
        </p:txBody>
      </p:sp>
      <p:sp>
        <p:nvSpPr>
          <p:cNvPr id="16" name="Text 14"/>
          <p:cNvSpPr/>
          <p:nvPr/>
        </p:nvSpPr>
        <p:spPr>
          <a:xfrm>
            <a:off x="566928" y="4178808"/>
            <a:ext cx="329184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Build case study with Citadele reference</a:t>
            </a:r>
            <a:endParaRPr lang="en-US" sz="1050" dirty="0"/>
          </a:p>
        </p:txBody>
      </p:sp>
      <p:sp>
        <p:nvSpPr>
          <p:cNvPr id="17" name="Shape 15"/>
          <p:cNvSpPr/>
          <p:nvPr/>
        </p:nvSpPr>
        <p:spPr>
          <a:xfrm>
            <a:off x="4251960" y="1115568"/>
            <a:ext cx="3657600" cy="402336"/>
          </a:xfrm>
          <a:prstGeom prst="rect">
            <a:avLst/>
          </a:prstGeom>
          <a:solidFill>
            <a:srgbClr val="003A61"/>
          </a:solidFill>
          <a:ln w="12700">
            <a:solidFill>
              <a:srgbClr val="003A61"/>
            </a:solidFill>
            <a:prstDash val="solid"/>
          </a:ln>
        </p:spPr>
      </p:sp>
      <p:sp>
        <p:nvSpPr>
          <p:cNvPr id="18" name="Text 16"/>
          <p:cNvSpPr/>
          <p:nvPr/>
        </p:nvSpPr>
        <p:spPr>
          <a:xfrm>
            <a:off x="4361688" y="1115568"/>
            <a:ext cx="3438144" cy="40233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2  ·  Months 6–12</a:t>
            </a:r>
            <a:endParaRPr lang="en-US" sz="1000" dirty="0"/>
          </a:p>
        </p:txBody>
      </p:sp>
      <p:sp>
        <p:nvSpPr>
          <p:cNvPr id="19" name="Text 17"/>
          <p:cNvSpPr/>
          <p:nvPr/>
        </p:nvSpPr>
        <p:spPr>
          <a:xfrm>
            <a:off x="4361688" y="1572768"/>
            <a:ext cx="1828800" cy="548640"/>
          </a:xfrm>
          <a:prstGeom prst="rect">
            <a:avLst/>
          </a:prstGeom>
          <a:noFill/>
          <a:ln/>
        </p:spPr>
        <p:txBody>
          <a:bodyPr wrap="square" lIns="0" tIns="0" rIns="0" bIns="0" rtlCol="0" anchor="ctr"/>
          <a:lstStyle/>
          <a:p>
            <a:pPr indent="0" marL="0">
              <a:buNone/>
            </a:pPr>
            <a:r>
              <a:rPr lang="en-US" sz="2200" b="1" dirty="0">
                <a:solidFill>
                  <a:srgbClr val="003A61"/>
                </a:solidFill>
                <a:latin typeface="Calibri" pitchFamily="34" charset="0"/>
                <a:ea typeface="Calibri" pitchFamily="34" charset="-122"/>
                <a:cs typeface="Calibri" pitchFamily="34" charset="-120"/>
              </a:rPr>
              <a:t>EXPAND</a:t>
            </a:r>
            <a:endParaRPr lang="en-US" sz="2200" dirty="0"/>
          </a:p>
        </p:txBody>
      </p:sp>
      <p:sp>
        <p:nvSpPr>
          <p:cNvPr id="20" name="Text 18"/>
          <p:cNvSpPr/>
          <p:nvPr/>
        </p:nvSpPr>
        <p:spPr>
          <a:xfrm>
            <a:off x="6903720" y="1572768"/>
            <a:ext cx="640080" cy="50292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21" name="Text 19"/>
          <p:cNvSpPr/>
          <p:nvPr/>
        </p:nvSpPr>
        <p:spPr>
          <a:xfrm>
            <a:off x="4361688" y="2148840"/>
            <a:ext cx="3438144" cy="310896"/>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Goal: $500K ARR · Pega co-sell active</a:t>
            </a:r>
            <a:endParaRPr lang="en-US" sz="1000" dirty="0"/>
          </a:p>
        </p:txBody>
      </p:sp>
      <p:sp>
        <p:nvSpPr>
          <p:cNvPr id="22" name="Shape 20"/>
          <p:cNvSpPr/>
          <p:nvPr/>
        </p:nvSpPr>
        <p:spPr>
          <a:xfrm>
            <a:off x="4251960" y="2542032"/>
            <a:ext cx="3657600" cy="2240280"/>
          </a:xfrm>
          <a:prstGeom prst="rect">
            <a:avLst/>
          </a:prstGeom>
          <a:solidFill>
            <a:srgbClr val="F1F5F9"/>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3" name="Shape 21"/>
          <p:cNvSpPr/>
          <p:nvPr/>
        </p:nvSpPr>
        <p:spPr>
          <a:xfrm>
            <a:off x="4251960" y="2542032"/>
            <a:ext cx="54864" cy="2240280"/>
          </a:xfrm>
          <a:prstGeom prst="rect">
            <a:avLst/>
          </a:prstGeom>
          <a:solidFill>
            <a:srgbClr val="003A61"/>
          </a:solidFill>
          <a:ln w="12700">
            <a:solidFill>
              <a:srgbClr val="003A61"/>
            </a:solidFill>
            <a:prstDash val="solid"/>
          </a:ln>
        </p:spPr>
      </p:sp>
      <p:sp>
        <p:nvSpPr>
          <p:cNvPr id="24" name="Text 22"/>
          <p:cNvSpPr/>
          <p:nvPr/>
        </p:nvSpPr>
        <p:spPr>
          <a:xfrm>
            <a:off x="4453128" y="2670048"/>
            <a:ext cx="329184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Pega Technology Partner certification (listing on Pega Marketplace)</a:t>
            </a:r>
            <a:endParaRPr lang="en-US" sz="1050" dirty="0"/>
          </a:p>
        </p:txBody>
      </p:sp>
      <p:sp>
        <p:nvSpPr>
          <p:cNvPr id="25" name="Text 23"/>
          <p:cNvSpPr/>
          <p:nvPr/>
        </p:nvSpPr>
        <p:spPr>
          <a:xfrm>
            <a:off x="4453128" y="3172968"/>
            <a:ext cx="329184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Co-sell motion with Pega field sales team</a:t>
            </a:r>
            <a:endParaRPr lang="en-US" sz="1050" dirty="0"/>
          </a:p>
        </p:txBody>
      </p:sp>
      <p:sp>
        <p:nvSpPr>
          <p:cNvPr id="26" name="Text 24"/>
          <p:cNvSpPr/>
          <p:nvPr/>
        </p:nvSpPr>
        <p:spPr>
          <a:xfrm>
            <a:off x="4453128" y="3675888"/>
            <a:ext cx="329184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GSI partner onboarding (Accenture, Deloitte Pega practices)</a:t>
            </a:r>
            <a:endParaRPr lang="en-US" sz="1050" dirty="0"/>
          </a:p>
        </p:txBody>
      </p:sp>
      <p:sp>
        <p:nvSpPr>
          <p:cNvPr id="27" name="Text 25"/>
          <p:cNvSpPr/>
          <p:nvPr/>
        </p:nvSpPr>
        <p:spPr>
          <a:xfrm>
            <a:off x="4453128" y="4178808"/>
            <a:ext cx="329184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Add 5 more clients from SI referrals</a:t>
            </a:r>
            <a:endParaRPr lang="en-US" sz="1050" dirty="0"/>
          </a:p>
        </p:txBody>
      </p:sp>
      <p:sp>
        <p:nvSpPr>
          <p:cNvPr id="28" name="Shape 26"/>
          <p:cNvSpPr/>
          <p:nvPr/>
        </p:nvSpPr>
        <p:spPr>
          <a:xfrm>
            <a:off x="8138160" y="1115568"/>
            <a:ext cx="3657600" cy="402336"/>
          </a:xfrm>
          <a:prstGeom prst="rect">
            <a:avLst/>
          </a:prstGeom>
          <a:solidFill>
            <a:srgbClr val="16A34A"/>
          </a:solidFill>
          <a:ln w="12700">
            <a:solidFill>
              <a:srgbClr val="16A34A"/>
            </a:solidFill>
            <a:prstDash val="solid"/>
          </a:ln>
        </p:spPr>
      </p:sp>
      <p:sp>
        <p:nvSpPr>
          <p:cNvPr id="29" name="Text 27"/>
          <p:cNvSpPr/>
          <p:nvPr/>
        </p:nvSpPr>
        <p:spPr>
          <a:xfrm>
            <a:off x="8247888" y="1115568"/>
            <a:ext cx="3438144" cy="40233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3  ·  Month 12+</a:t>
            </a:r>
            <a:endParaRPr lang="en-US" sz="1000" dirty="0"/>
          </a:p>
        </p:txBody>
      </p:sp>
      <p:sp>
        <p:nvSpPr>
          <p:cNvPr id="30" name="Text 28"/>
          <p:cNvSpPr/>
          <p:nvPr/>
        </p:nvSpPr>
        <p:spPr>
          <a:xfrm>
            <a:off x="8247888" y="1572768"/>
            <a:ext cx="1828800" cy="548640"/>
          </a:xfrm>
          <a:prstGeom prst="rect">
            <a:avLst/>
          </a:prstGeom>
          <a:noFill/>
          <a:ln/>
        </p:spPr>
        <p:txBody>
          <a:bodyPr wrap="square" lIns="0" tIns="0" rIns="0" bIns="0" rtlCol="0" anchor="ctr"/>
          <a:lstStyle/>
          <a:p>
            <a:pPr indent="0" marL="0">
              <a:buNone/>
            </a:pPr>
            <a:r>
              <a:rPr lang="en-US" sz="2200" b="1" dirty="0">
                <a:solidFill>
                  <a:srgbClr val="16A34A"/>
                </a:solidFill>
                <a:latin typeface="Calibri" pitchFamily="34" charset="0"/>
                <a:ea typeface="Calibri" pitchFamily="34" charset="-122"/>
                <a:cs typeface="Calibri" pitchFamily="34" charset="-120"/>
              </a:rPr>
              <a:t>SCALE</a:t>
            </a:r>
            <a:endParaRPr lang="en-US" sz="2200" dirty="0"/>
          </a:p>
        </p:txBody>
      </p:sp>
      <p:sp>
        <p:nvSpPr>
          <p:cNvPr id="31" name="Text 29"/>
          <p:cNvSpPr/>
          <p:nvPr/>
        </p:nvSpPr>
        <p:spPr>
          <a:xfrm>
            <a:off x="10789920" y="1572768"/>
            <a:ext cx="640080" cy="50292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32" name="Text 30"/>
          <p:cNvSpPr/>
          <p:nvPr/>
        </p:nvSpPr>
        <p:spPr>
          <a:xfrm>
            <a:off x="8247888" y="2148840"/>
            <a:ext cx="3438144" cy="310896"/>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Goal: $3M ARR · Pega OEM conversation</a:t>
            </a:r>
            <a:endParaRPr lang="en-US" sz="1000" dirty="0"/>
          </a:p>
        </p:txBody>
      </p:sp>
      <p:sp>
        <p:nvSpPr>
          <p:cNvPr id="33" name="Shape 31"/>
          <p:cNvSpPr/>
          <p:nvPr/>
        </p:nvSpPr>
        <p:spPr>
          <a:xfrm>
            <a:off x="8138160" y="2542032"/>
            <a:ext cx="3657600" cy="2240280"/>
          </a:xfrm>
          <a:prstGeom prst="rect">
            <a:avLst/>
          </a:prstGeom>
          <a:solidFill>
            <a:srgbClr val="F1F5F9"/>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34" name="Shape 32"/>
          <p:cNvSpPr/>
          <p:nvPr/>
        </p:nvSpPr>
        <p:spPr>
          <a:xfrm>
            <a:off x="8138160" y="2542032"/>
            <a:ext cx="54864" cy="2240280"/>
          </a:xfrm>
          <a:prstGeom prst="rect">
            <a:avLst/>
          </a:prstGeom>
          <a:solidFill>
            <a:srgbClr val="16A34A"/>
          </a:solidFill>
          <a:ln w="12700">
            <a:solidFill>
              <a:srgbClr val="16A34A"/>
            </a:solidFill>
            <a:prstDash val="solid"/>
          </a:ln>
        </p:spPr>
      </p:sp>
      <p:sp>
        <p:nvSpPr>
          <p:cNvPr id="35" name="Text 33"/>
          <p:cNvSpPr/>
          <p:nvPr/>
        </p:nvSpPr>
        <p:spPr>
          <a:xfrm>
            <a:off x="8339328" y="2670048"/>
            <a:ext cx="329184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Approach Pega for OEM / "Pega Data Cloud" white-label deal</a:t>
            </a:r>
            <a:endParaRPr lang="en-US" sz="1050" dirty="0"/>
          </a:p>
        </p:txBody>
      </p:sp>
      <p:sp>
        <p:nvSpPr>
          <p:cNvPr id="36" name="Text 34"/>
          <p:cNvSpPr/>
          <p:nvPr/>
        </p:nvSpPr>
        <p:spPr>
          <a:xfrm>
            <a:off x="8339328" y="3172968"/>
            <a:ext cx="329184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Analyst briefings: Forrester CDP Wave, Gartner CDP MQ</a:t>
            </a:r>
            <a:endParaRPr lang="en-US" sz="1050" dirty="0"/>
          </a:p>
        </p:txBody>
      </p:sp>
      <p:sp>
        <p:nvSpPr>
          <p:cNvPr id="37" name="Text 35"/>
          <p:cNvSpPr/>
          <p:nvPr/>
        </p:nvSpPr>
        <p:spPr>
          <a:xfrm>
            <a:off x="8339328" y="3675888"/>
            <a:ext cx="329184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Target acquisition conversation at $35–60M</a:t>
            </a:r>
            <a:endParaRPr lang="en-US" sz="1050" dirty="0"/>
          </a:p>
        </p:txBody>
      </p:sp>
      <p:sp>
        <p:nvSpPr>
          <p:cNvPr id="38" name="Text 36"/>
          <p:cNvSpPr/>
          <p:nvPr/>
        </p:nvSpPr>
        <p:spPr>
          <a:xfrm>
            <a:off x="8339328" y="4178808"/>
            <a:ext cx="329184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Expand to Genesys, Salesforce, Adobe CEP customers</a:t>
            </a:r>
            <a:endParaRPr lang="en-US" sz="1050" dirty="0"/>
          </a:p>
        </p:txBody>
      </p:sp>
      <p:sp>
        <p:nvSpPr>
          <p:cNvPr id="39" name="Shape 37"/>
          <p:cNvSpPr/>
          <p:nvPr/>
        </p:nvSpPr>
        <p:spPr>
          <a:xfrm>
            <a:off x="4041648" y="1316736"/>
            <a:ext cx="201168" cy="0"/>
          </a:xfrm>
          <a:prstGeom prst="line">
            <a:avLst/>
          </a:prstGeom>
          <a:noFill/>
          <a:ln w="25400">
            <a:solidFill>
              <a:srgbClr val="FFFFFF"/>
            </a:solidFill>
            <a:prstDash val="solid"/>
          </a:ln>
        </p:spPr>
      </p:sp>
      <p:sp>
        <p:nvSpPr>
          <p:cNvPr id="40" name="Shape 38"/>
          <p:cNvSpPr/>
          <p:nvPr/>
        </p:nvSpPr>
        <p:spPr>
          <a:xfrm>
            <a:off x="7936992" y="1316736"/>
            <a:ext cx="201168" cy="0"/>
          </a:xfrm>
          <a:prstGeom prst="line">
            <a:avLst/>
          </a:prstGeom>
          <a:noFill/>
          <a:ln w="25400">
            <a:solidFill>
              <a:srgbClr val="FFFFFF"/>
            </a:solidFill>
            <a:prstDash val="solid"/>
          </a:ln>
        </p:spPr>
      </p:sp>
      <p:sp>
        <p:nvSpPr>
          <p:cNvPr id="41" name="Shape 39"/>
          <p:cNvSpPr/>
          <p:nvPr/>
        </p:nvSpPr>
        <p:spPr>
          <a:xfrm>
            <a:off x="365760" y="4956048"/>
            <a:ext cx="11457432" cy="1188720"/>
          </a:xfrm>
          <a:prstGeom prst="rect">
            <a:avLst/>
          </a:prstGeom>
          <a:solidFill>
            <a:srgbClr val="003A61"/>
          </a:solidFill>
          <a:ln w="12700">
            <a:solidFill>
              <a:srgbClr val="003A61"/>
            </a:solidFill>
            <a:prstDash val="solid"/>
          </a:ln>
        </p:spPr>
      </p:sp>
      <p:sp>
        <p:nvSpPr>
          <p:cNvPr id="42" name="Text 40"/>
          <p:cNvSpPr/>
          <p:nvPr/>
        </p:nvSpPr>
        <p:spPr>
          <a:xfrm>
            <a:off x="640080" y="5047488"/>
            <a:ext cx="1097280" cy="256032"/>
          </a:xfrm>
          <a:prstGeom prst="rect">
            <a:avLst/>
          </a:prstGeom>
          <a:noFill/>
          <a:ln/>
        </p:spPr>
        <p:txBody>
          <a:bodyPr wrap="square" lIns="0" tIns="0" rIns="0" bIns="0" rtlCol="0" anchor="ctr"/>
          <a:lstStyle/>
          <a:p>
            <a:pPr indent="0" marL="0">
              <a:buNone/>
            </a:pPr>
            <a:r>
              <a:rPr lang="en-US" sz="900" b="1" spc="200" kern="0" dirty="0">
                <a:solidFill>
                  <a:srgbClr val="16A34A"/>
                </a:solidFill>
                <a:latin typeface="Calibri" pitchFamily="34" charset="0"/>
                <a:ea typeface="Calibri" pitchFamily="34" charset="-122"/>
                <a:cs typeface="Calibri" pitchFamily="34" charset="-120"/>
              </a:rPr>
              <a:t>PRICING</a:t>
            </a:r>
            <a:endParaRPr lang="en-US" sz="900" dirty="0"/>
          </a:p>
        </p:txBody>
      </p:sp>
      <p:sp>
        <p:nvSpPr>
          <p:cNvPr id="43" name="Text 41"/>
          <p:cNvSpPr/>
          <p:nvPr/>
        </p:nvSpPr>
        <p:spPr>
          <a:xfrm>
            <a:off x="640080" y="5358384"/>
            <a:ext cx="356616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Starter</a:t>
            </a:r>
            <a:endParaRPr lang="en-US" sz="1100" dirty="0"/>
          </a:p>
        </p:txBody>
      </p:sp>
      <p:sp>
        <p:nvSpPr>
          <p:cNvPr id="44" name="Text 42"/>
          <p:cNvSpPr/>
          <p:nvPr/>
        </p:nvSpPr>
        <p:spPr>
          <a:xfrm>
            <a:off x="640080" y="5614416"/>
            <a:ext cx="3566160" cy="256032"/>
          </a:xfrm>
          <a:prstGeom prst="rect">
            <a:avLst/>
          </a:prstGeom>
          <a:noFill/>
          <a:ln/>
        </p:spPr>
        <p:txBody>
          <a:bodyPr wrap="square" lIns="0" tIns="0" rIns="0" bIns="0"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$8K/month</a:t>
            </a:r>
            <a:endParaRPr lang="en-US" sz="1400" dirty="0"/>
          </a:p>
        </p:txBody>
      </p:sp>
      <p:sp>
        <p:nvSpPr>
          <p:cNvPr id="45" name="Text 43"/>
          <p:cNvSpPr/>
          <p:nvPr/>
        </p:nvSpPr>
        <p:spPr>
          <a:xfrm>
            <a:off x="640080" y="5870448"/>
            <a:ext cx="3566160" cy="219456"/>
          </a:xfrm>
          <a:prstGeom prst="rect">
            <a:avLst/>
          </a:prstGeom>
          <a:noFill/>
          <a:ln/>
        </p:spPr>
        <p:txBody>
          <a:bodyPr wrap="square" lIns="0" tIns="0" rIns="0" bIns="0" rtlCol="0" anchor="ctr"/>
          <a:lstStyle/>
          <a:p>
            <a:pPr indent="0" marL="0">
              <a:buNone/>
            </a:pPr>
            <a:r>
              <a:rPr lang="en-US" sz="950" dirty="0">
                <a:solidFill>
                  <a:srgbClr val="7AAFC8"/>
                </a:solidFill>
                <a:latin typeface="Calibri" pitchFamily="34" charset="0"/>
                <a:ea typeface="Calibri" pitchFamily="34" charset="-122"/>
                <a:cs typeface="Calibri" pitchFamily="34" charset="-120"/>
              </a:rPr>
              <a:t>5M profiles · 1 CDH connection</a:t>
            </a:r>
            <a:endParaRPr lang="en-US" sz="950" dirty="0"/>
          </a:p>
        </p:txBody>
      </p:sp>
      <p:sp>
        <p:nvSpPr>
          <p:cNvPr id="46" name="Text 44"/>
          <p:cNvSpPr/>
          <p:nvPr/>
        </p:nvSpPr>
        <p:spPr>
          <a:xfrm>
            <a:off x="4434840" y="5358384"/>
            <a:ext cx="356616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Growth</a:t>
            </a:r>
            <a:endParaRPr lang="en-US" sz="1100" dirty="0"/>
          </a:p>
        </p:txBody>
      </p:sp>
      <p:sp>
        <p:nvSpPr>
          <p:cNvPr id="47" name="Text 45"/>
          <p:cNvSpPr/>
          <p:nvPr/>
        </p:nvSpPr>
        <p:spPr>
          <a:xfrm>
            <a:off x="4434840" y="5614416"/>
            <a:ext cx="3566160" cy="256032"/>
          </a:xfrm>
          <a:prstGeom prst="rect">
            <a:avLst/>
          </a:prstGeom>
          <a:noFill/>
          <a:ln/>
        </p:spPr>
        <p:txBody>
          <a:bodyPr wrap="square" lIns="0" tIns="0" rIns="0" bIns="0"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$25K/month</a:t>
            </a:r>
            <a:endParaRPr lang="en-US" sz="1400" dirty="0"/>
          </a:p>
        </p:txBody>
      </p:sp>
      <p:sp>
        <p:nvSpPr>
          <p:cNvPr id="48" name="Text 46"/>
          <p:cNvSpPr/>
          <p:nvPr/>
        </p:nvSpPr>
        <p:spPr>
          <a:xfrm>
            <a:off x="4434840" y="5870448"/>
            <a:ext cx="3566160" cy="219456"/>
          </a:xfrm>
          <a:prstGeom prst="rect">
            <a:avLst/>
          </a:prstGeom>
          <a:noFill/>
          <a:ln/>
        </p:spPr>
        <p:txBody>
          <a:bodyPr wrap="square" lIns="0" tIns="0" rIns="0" bIns="0" rtlCol="0" anchor="ctr"/>
          <a:lstStyle/>
          <a:p>
            <a:pPr indent="0" marL="0">
              <a:buNone/>
            </a:pPr>
            <a:r>
              <a:rPr lang="en-US" sz="950" dirty="0">
                <a:solidFill>
                  <a:srgbClr val="7AAFC8"/>
                </a:solidFill>
                <a:latin typeface="Calibri" pitchFamily="34" charset="0"/>
                <a:ea typeface="Calibri" pitchFamily="34" charset="-122"/>
                <a:cs typeface="Calibri" pitchFamily="34" charset="-120"/>
              </a:rPr>
              <a:t>25M profiles · Unlimited connections</a:t>
            </a:r>
            <a:endParaRPr lang="en-US" sz="950" dirty="0"/>
          </a:p>
        </p:txBody>
      </p:sp>
      <p:sp>
        <p:nvSpPr>
          <p:cNvPr id="49" name="Text 47"/>
          <p:cNvSpPr/>
          <p:nvPr/>
        </p:nvSpPr>
        <p:spPr>
          <a:xfrm>
            <a:off x="8229600" y="5358384"/>
            <a:ext cx="356616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Enterprise</a:t>
            </a:r>
            <a:endParaRPr lang="en-US" sz="1100" dirty="0"/>
          </a:p>
        </p:txBody>
      </p:sp>
      <p:sp>
        <p:nvSpPr>
          <p:cNvPr id="50" name="Text 48"/>
          <p:cNvSpPr/>
          <p:nvPr/>
        </p:nvSpPr>
        <p:spPr>
          <a:xfrm>
            <a:off x="8229600" y="5614416"/>
            <a:ext cx="3566160" cy="256032"/>
          </a:xfrm>
          <a:prstGeom prst="rect">
            <a:avLst/>
          </a:prstGeom>
          <a:noFill/>
          <a:ln/>
        </p:spPr>
        <p:txBody>
          <a:bodyPr wrap="square" lIns="0" tIns="0" rIns="0" bIns="0"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$75K–$200K/month</a:t>
            </a:r>
            <a:endParaRPr lang="en-US" sz="1400" dirty="0"/>
          </a:p>
        </p:txBody>
      </p:sp>
      <p:sp>
        <p:nvSpPr>
          <p:cNvPr id="51" name="Text 49"/>
          <p:cNvSpPr/>
          <p:nvPr/>
        </p:nvSpPr>
        <p:spPr>
          <a:xfrm>
            <a:off x="8229600" y="5870448"/>
            <a:ext cx="3566160" cy="219456"/>
          </a:xfrm>
          <a:prstGeom prst="rect">
            <a:avLst/>
          </a:prstGeom>
          <a:noFill/>
          <a:ln/>
        </p:spPr>
        <p:txBody>
          <a:bodyPr wrap="square" lIns="0" tIns="0" rIns="0" bIns="0" rtlCol="0" anchor="ctr"/>
          <a:lstStyle/>
          <a:p>
            <a:pPr indent="0" marL="0">
              <a:buNone/>
            </a:pPr>
            <a:r>
              <a:rPr lang="en-US" sz="950" dirty="0">
                <a:solidFill>
                  <a:srgbClr val="7AAFC8"/>
                </a:solidFill>
                <a:latin typeface="Calibri" pitchFamily="34" charset="0"/>
                <a:ea typeface="Calibri" pitchFamily="34" charset="-122"/>
                <a:cs typeface="Calibri" pitchFamily="34" charset="-120"/>
              </a:rPr>
              <a:t>VPC deploy · SLA · Dedicated CSM</a:t>
            </a:r>
            <a:endParaRPr lang="en-US" sz="950" dirty="0"/>
          </a:p>
        </p:txBody>
      </p:sp>
      <p:sp>
        <p:nvSpPr>
          <p:cNvPr id="52" name="Shape 50"/>
          <p:cNvSpPr/>
          <p:nvPr/>
        </p:nvSpPr>
        <p:spPr>
          <a:xfrm>
            <a:off x="0" y="6565392"/>
            <a:ext cx="12188952" cy="292608"/>
          </a:xfrm>
          <a:prstGeom prst="rect">
            <a:avLst/>
          </a:prstGeom>
          <a:solidFill>
            <a:srgbClr val="003A61"/>
          </a:solidFill>
          <a:ln w="12700">
            <a:solidFill>
              <a:srgbClr val="003A61"/>
            </a:solidFill>
            <a:prstDash val="solid"/>
          </a:ln>
        </p:spPr>
      </p:sp>
      <p:sp>
        <p:nvSpPr>
          <p:cNvPr id="53" name="Text 51"/>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54" name="Text 52"/>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12 / 15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164592"/>
            <a:ext cx="11274552" cy="502920"/>
          </a:xfrm>
          <a:prstGeom prst="rect">
            <a:avLst/>
          </a:prstGeom>
          <a:noFill/>
          <a:ln/>
        </p:spPr>
        <p:txBody>
          <a:bodyPr wrap="square" lIns="0" tIns="0" rIns="0" bIns="0" rtlCol="0" anchor="ctr"/>
          <a:lstStyle/>
          <a:p>
            <a:pPr indent="0" marL="0">
              <a:buNone/>
            </a:pPr>
            <a:r>
              <a:rPr lang="en-US" sz="2800" b="1" dirty="0">
                <a:solidFill>
                  <a:srgbClr val="003A61"/>
                </a:solidFill>
                <a:latin typeface="Calibri" pitchFamily="34" charset="0"/>
                <a:ea typeface="Calibri" pitchFamily="34" charset="-122"/>
                <a:cs typeface="Calibri" pitchFamily="34" charset="-120"/>
              </a:rPr>
              <a:t>CDH Bridge is Live — Try It Right Now</a:t>
            </a:r>
            <a:endParaRPr lang="en-US" sz="2800" dirty="0"/>
          </a:p>
        </p:txBody>
      </p:sp>
      <p:sp>
        <p:nvSpPr>
          <p:cNvPr id="4" name="Text 2"/>
          <p:cNvSpPr/>
          <p:nvPr/>
        </p:nvSpPr>
        <p:spPr>
          <a:xfrm>
            <a:off x="457200" y="667512"/>
            <a:ext cx="11274552" cy="2743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All demo environments are deployed and publicly accessible</a:t>
            </a:r>
            <a:endParaRPr lang="en-US" sz="1300" dirty="0"/>
          </a:p>
        </p:txBody>
      </p:sp>
      <p:sp>
        <p:nvSpPr>
          <p:cNvPr id="5" name="Shape 3"/>
          <p:cNvSpPr/>
          <p:nvPr/>
        </p:nvSpPr>
        <p:spPr>
          <a:xfrm>
            <a:off x="457200" y="914400"/>
            <a:ext cx="11274552" cy="27432"/>
          </a:xfrm>
          <a:prstGeom prst="rect">
            <a:avLst/>
          </a:prstGeom>
          <a:solidFill>
            <a:srgbClr val="E2E8F0"/>
          </a:solidFill>
          <a:ln w="12700">
            <a:solidFill>
              <a:srgbClr val="E2E8F0"/>
            </a:solidFill>
            <a:prstDash val="solid"/>
          </a:ln>
        </p:spPr>
      </p:sp>
      <p:sp>
        <p:nvSpPr>
          <p:cNvPr id="6" name="Shape 4"/>
          <p:cNvSpPr/>
          <p:nvPr/>
        </p:nvSpPr>
        <p:spPr>
          <a:xfrm>
            <a:off x="365760" y="1115568"/>
            <a:ext cx="3703320" cy="196596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7" name="Shape 5"/>
          <p:cNvSpPr/>
          <p:nvPr/>
        </p:nvSpPr>
        <p:spPr>
          <a:xfrm>
            <a:off x="365760" y="1115568"/>
            <a:ext cx="54864" cy="1965960"/>
          </a:xfrm>
          <a:prstGeom prst="rect">
            <a:avLst/>
          </a:prstGeom>
          <a:solidFill>
            <a:srgbClr val="003A61"/>
          </a:solidFill>
          <a:ln w="12700">
            <a:solidFill>
              <a:srgbClr val="003A61"/>
            </a:solidFill>
            <a:prstDash val="solid"/>
          </a:ln>
        </p:spPr>
      </p:sp>
      <p:sp>
        <p:nvSpPr>
          <p:cNvPr id="8" name="Text 6"/>
          <p:cNvSpPr/>
          <p:nvPr/>
        </p:nvSpPr>
        <p:spPr>
          <a:xfrm>
            <a:off x="548640" y="1298448"/>
            <a:ext cx="3337560" cy="411480"/>
          </a:xfrm>
          <a:prstGeom prst="rect">
            <a:avLst/>
          </a:prstGeom>
          <a:noFill/>
          <a:ln/>
        </p:spPr>
        <p:txBody>
          <a:bodyPr wrap="square" lIns="0" tIns="0" rIns="0" bIns="0" rtlCol="0" anchor="ctr"/>
          <a:lstStyle/>
          <a:p>
            <a:pPr indent="0" marL="0">
              <a:buNone/>
            </a:pPr>
            <a:r>
              <a:rPr lang="en-US" sz="1300" b="1" dirty="0">
                <a:solidFill>
                  <a:srgbClr val="003A61"/>
                </a:solidFill>
                <a:latin typeface="Calibri" pitchFamily="34" charset="0"/>
                <a:ea typeface="Calibri" pitchFamily="34" charset="-122"/>
                <a:cs typeface="Calibri" pitchFamily="34" charset="-120"/>
              </a:rPr>
              <a:t>📊  CDH Bridge Dashboard</a:t>
            </a:r>
            <a:endParaRPr lang="en-US" sz="1300" dirty="0"/>
          </a:p>
        </p:txBody>
      </p:sp>
      <p:sp>
        <p:nvSpPr>
          <p:cNvPr id="9" name="Text 7">
            <a:hlinkClick r:id="rId1" tooltip=""/>
          </p:cNvPr>
          <p:cNvSpPr/>
          <p:nvPr/>
        </p:nvSpPr>
        <p:spPr>
          <a:xfrm>
            <a:off x="493776" y="1755648"/>
            <a:ext cx="3456432" cy="256032"/>
          </a:xfrm>
          <a:prstGeom prst="rect">
            <a:avLst/>
          </a:prstGeom>
          <a:noFill/>
          <a:ln/>
        </p:spPr>
        <p:txBody>
          <a:bodyPr wrap="square" lIns="0" tIns="0" rIns="0" bIns="0" rtlCol="0" anchor="ctr"/>
          <a:lstStyle/>
          <a:p>
            <a:pPr indent="0" marL="0">
              <a:buNone/>
            </a:pPr>
            <a:r>
              <a:rPr lang="en-US" sz="950" b="1" u="sng" dirty="0">
                <a:solidFill>
                  <a:srgbClr val="003A6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https://cdh-bridge-dashboard.vercel.app</a:t>
            </a:r>
            <a:endParaRPr lang="en-US" sz="950" dirty="0"/>
          </a:p>
        </p:txBody>
      </p:sp>
      <p:sp>
        <p:nvSpPr>
          <p:cNvPr id="10" name="Text 8"/>
          <p:cNvSpPr/>
          <p:nvPr/>
        </p:nvSpPr>
        <p:spPr>
          <a:xfrm>
            <a:off x="493776" y="2075688"/>
            <a:ext cx="3456432" cy="8229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Full admin dashboard — live events, profiles, NBA lift, consent queue, identity graph</a:t>
            </a:r>
            <a:endParaRPr lang="en-US" sz="1050" dirty="0"/>
          </a:p>
        </p:txBody>
      </p:sp>
      <p:sp>
        <p:nvSpPr>
          <p:cNvPr id="11" name="Shape 9"/>
          <p:cNvSpPr/>
          <p:nvPr/>
        </p:nvSpPr>
        <p:spPr>
          <a:xfrm>
            <a:off x="4279392" y="1115568"/>
            <a:ext cx="3703320" cy="196596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2" name="Shape 10"/>
          <p:cNvSpPr/>
          <p:nvPr/>
        </p:nvSpPr>
        <p:spPr>
          <a:xfrm>
            <a:off x="4279392" y="1115568"/>
            <a:ext cx="54864" cy="1965960"/>
          </a:xfrm>
          <a:prstGeom prst="rect">
            <a:avLst/>
          </a:prstGeom>
          <a:solidFill>
            <a:srgbClr val="0063AB"/>
          </a:solidFill>
          <a:ln w="12700">
            <a:solidFill>
              <a:srgbClr val="0063AB"/>
            </a:solidFill>
            <a:prstDash val="solid"/>
          </a:ln>
        </p:spPr>
      </p:sp>
      <p:sp>
        <p:nvSpPr>
          <p:cNvPr id="13" name="Text 11"/>
          <p:cNvSpPr/>
          <p:nvPr/>
        </p:nvSpPr>
        <p:spPr>
          <a:xfrm>
            <a:off x="4462272" y="1298448"/>
            <a:ext cx="3337560" cy="411480"/>
          </a:xfrm>
          <a:prstGeom prst="rect">
            <a:avLst/>
          </a:prstGeom>
          <a:noFill/>
          <a:ln/>
        </p:spPr>
        <p:txBody>
          <a:bodyPr wrap="square" lIns="0" tIns="0" rIns="0" bIns="0" rtlCol="0" anchor="ctr"/>
          <a:lstStyle/>
          <a:p>
            <a:pPr indent="0" marL="0">
              <a:buNone/>
            </a:pPr>
            <a:r>
              <a:rPr lang="en-US" sz="1300" b="1" dirty="0">
                <a:solidFill>
                  <a:srgbClr val="003A61"/>
                </a:solidFill>
                <a:latin typeface="Calibri" pitchFamily="34" charset="0"/>
                <a:ea typeface="Calibri" pitchFamily="34" charset="-122"/>
                <a:cs typeface="Calibri" pitchFamily="34" charset="-120"/>
              </a:rPr>
              <a:t>🖥️  DemoBank Web Banking</a:t>
            </a:r>
            <a:endParaRPr lang="en-US" sz="1300" dirty="0"/>
          </a:p>
        </p:txBody>
      </p:sp>
      <p:sp>
        <p:nvSpPr>
          <p:cNvPr id="14" name="Text 12">
            <a:hlinkClick r:id="rId2" tooltip=""/>
          </p:cNvPr>
          <p:cNvSpPr/>
          <p:nvPr/>
        </p:nvSpPr>
        <p:spPr>
          <a:xfrm>
            <a:off x="4407408" y="1755648"/>
            <a:ext cx="3456432" cy="256032"/>
          </a:xfrm>
          <a:prstGeom prst="rect">
            <a:avLst/>
          </a:prstGeom>
          <a:noFill/>
          <a:ln/>
        </p:spPr>
        <p:txBody>
          <a:bodyPr wrap="square" lIns="0" tIns="0" rIns="0" bIns="0" rtlCol="0" anchor="ctr"/>
          <a:lstStyle/>
          <a:p>
            <a:pPr indent="0" marL="0">
              <a:buNone/>
            </a:pPr>
            <a:r>
              <a:rPr lang="en-US" sz="950" b="1" u="sng" dirty="0">
                <a:solidFill>
                  <a:srgbClr val="0063A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https://cdh-bridge-demos.vercel.app/web</a:t>
            </a:r>
            <a:endParaRPr lang="en-US" sz="950" dirty="0"/>
          </a:p>
        </p:txBody>
      </p:sp>
      <p:sp>
        <p:nvSpPr>
          <p:cNvPr id="15" name="Text 13"/>
          <p:cNvSpPr/>
          <p:nvPr/>
        </p:nvSpPr>
        <p:spPr>
          <a:xfrm>
            <a:off x="4407408" y="2075688"/>
            <a:ext cx="3456432" cy="8229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Desktop banking SPA — 6 interactive scenarios, live NBA offers, event log panel</a:t>
            </a:r>
            <a:endParaRPr lang="en-US" sz="1050" dirty="0"/>
          </a:p>
        </p:txBody>
      </p:sp>
      <p:sp>
        <p:nvSpPr>
          <p:cNvPr id="16" name="Shape 14"/>
          <p:cNvSpPr/>
          <p:nvPr/>
        </p:nvSpPr>
        <p:spPr>
          <a:xfrm>
            <a:off x="8193024" y="1115568"/>
            <a:ext cx="3703320" cy="196596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7" name="Shape 15"/>
          <p:cNvSpPr/>
          <p:nvPr/>
        </p:nvSpPr>
        <p:spPr>
          <a:xfrm>
            <a:off x="8193024" y="1115568"/>
            <a:ext cx="54864" cy="1965960"/>
          </a:xfrm>
          <a:prstGeom prst="rect">
            <a:avLst/>
          </a:prstGeom>
          <a:solidFill>
            <a:srgbClr val="1A85D6"/>
          </a:solidFill>
          <a:ln w="12700">
            <a:solidFill>
              <a:srgbClr val="1A85D6"/>
            </a:solidFill>
            <a:prstDash val="solid"/>
          </a:ln>
        </p:spPr>
      </p:sp>
      <p:sp>
        <p:nvSpPr>
          <p:cNvPr id="18" name="Text 16"/>
          <p:cNvSpPr/>
          <p:nvPr/>
        </p:nvSpPr>
        <p:spPr>
          <a:xfrm>
            <a:off x="8375904" y="1298448"/>
            <a:ext cx="3337560" cy="411480"/>
          </a:xfrm>
          <a:prstGeom prst="rect">
            <a:avLst/>
          </a:prstGeom>
          <a:noFill/>
          <a:ln/>
        </p:spPr>
        <p:txBody>
          <a:bodyPr wrap="square" lIns="0" tIns="0" rIns="0" bIns="0" rtlCol="0" anchor="ctr"/>
          <a:lstStyle/>
          <a:p>
            <a:pPr indent="0" marL="0">
              <a:buNone/>
            </a:pPr>
            <a:r>
              <a:rPr lang="en-US" sz="1300" b="1" dirty="0">
                <a:solidFill>
                  <a:srgbClr val="003A61"/>
                </a:solidFill>
                <a:latin typeface="Calibri" pitchFamily="34" charset="0"/>
                <a:ea typeface="Calibri" pitchFamily="34" charset="-122"/>
                <a:cs typeface="Calibri" pitchFamily="34" charset="-120"/>
              </a:rPr>
              <a:t>📱  DemoBank Mobile PWA</a:t>
            </a:r>
            <a:endParaRPr lang="en-US" sz="1300" dirty="0"/>
          </a:p>
        </p:txBody>
      </p:sp>
      <p:sp>
        <p:nvSpPr>
          <p:cNvPr id="19" name="Text 17">
            <a:hlinkClick r:id="rId3" tooltip=""/>
          </p:cNvPr>
          <p:cNvSpPr/>
          <p:nvPr/>
        </p:nvSpPr>
        <p:spPr>
          <a:xfrm>
            <a:off x="8321040" y="1755648"/>
            <a:ext cx="3456432" cy="256032"/>
          </a:xfrm>
          <a:prstGeom prst="rect">
            <a:avLst/>
          </a:prstGeom>
          <a:noFill/>
          <a:ln/>
        </p:spPr>
        <p:txBody>
          <a:bodyPr wrap="square" lIns="0" tIns="0" rIns="0" bIns="0" rtlCol="0" anchor="ctr"/>
          <a:lstStyle/>
          <a:p>
            <a:pPr indent="0" marL="0">
              <a:buNone/>
            </a:pPr>
            <a:r>
              <a:rPr lang="en-US" sz="950" b="1" u="sng" dirty="0">
                <a:solidFill>
                  <a:srgbClr val="1A85D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https://cdh-bridge-demos.vercel.app/mobile</a:t>
            </a:r>
            <a:endParaRPr lang="en-US" sz="950" dirty="0"/>
          </a:p>
        </p:txBody>
      </p:sp>
      <p:sp>
        <p:nvSpPr>
          <p:cNvPr id="20" name="Text 18"/>
          <p:cNvSpPr/>
          <p:nvPr/>
        </p:nvSpPr>
        <p:spPr>
          <a:xfrm>
            <a:off x="8321040" y="2075688"/>
            <a:ext cx="3456432" cy="8229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iOS-style mobile app — Face ID login, NBA smart offer, events drawer</a:t>
            </a:r>
            <a:endParaRPr lang="en-US" sz="1050" dirty="0"/>
          </a:p>
        </p:txBody>
      </p:sp>
      <p:sp>
        <p:nvSpPr>
          <p:cNvPr id="21" name="Shape 19"/>
          <p:cNvSpPr/>
          <p:nvPr/>
        </p:nvSpPr>
        <p:spPr>
          <a:xfrm>
            <a:off x="365760" y="3310128"/>
            <a:ext cx="3703320" cy="196596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2" name="Shape 20"/>
          <p:cNvSpPr/>
          <p:nvPr/>
        </p:nvSpPr>
        <p:spPr>
          <a:xfrm>
            <a:off x="365760" y="3310128"/>
            <a:ext cx="54864" cy="1965960"/>
          </a:xfrm>
          <a:prstGeom prst="rect">
            <a:avLst/>
          </a:prstGeom>
          <a:solidFill>
            <a:srgbClr val="16A34A"/>
          </a:solidFill>
          <a:ln w="12700">
            <a:solidFill>
              <a:srgbClr val="16A34A"/>
            </a:solidFill>
            <a:prstDash val="solid"/>
          </a:ln>
        </p:spPr>
      </p:sp>
      <p:sp>
        <p:nvSpPr>
          <p:cNvPr id="23" name="Text 21"/>
          <p:cNvSpPr/>
          <p:nvPr/>
        </p:nvSpPr>
        <p:spPr>
          <a:xfrm>
            <a:off x="548640" y="3493008"/>
            <a:ext cx="3337560" cy="411480"/>
          </a:xfrm>
          <a:prstGeom prst="rect">
            <a:avLst/>
          </a:prstGeom>
          <a:noFill/>
          <a:ln/>
        </p:spPr>
        <p:txBody>
          <a:bodyPr wrap="square" lIns="0" tIns="0" rIns="0" bIns="0" rtlCol="0" anchor="ctr"/>
          <a:lstStyle/>
          <a:p>
            <a:pPr indent="0" marL="0">
              <a:buNone/>
            </a:pPr>
            <a:r>
              <a:rPr lang="en-US" sz="1300" b="1" dirty="0">
                <a:solidFill>
                  <a:srgbClr val="003A61"/>
                </a:solidFill>
                <a:latin typeface="Calibri" pitchFamily="34" charset="0"/>
                <a:ea typeface="Calibri" pitchFamily="34" charset="-122"/>
                <a:cs typeface="Calibri" pitchFamily="34" charset="-120"/>
              </a:rPr>
              <a:t>🇱🇻  Citadele Banka Demo</a:t>
            </a:r>
            <a:endParaRPr lang="en-US" sz="1300" dirty="0"/>
          </a:p>
        </p:txBody>
      </p:sp>
      <p:sp>
        <p:nvSpPr>
          <p:cNvPr id="24" name="Text 22">
            <a:hlinkClick r:id="rId4" tooltip=""/>
          </p:cNvPr>
          <p:cNvSpPr/>
          <p:nvPr/>
        </p:nvSpPr>
        <p:spPr>
          <a:xfrm>
            <a:off x="493776" y="3950208"/>
            <a:ext cx="3456432" cy="256032"/>
          </a:xfrm>
          <a:prstGeom prst="rect">
            <a:avLst/>
          </a:prstGeom>
          <a:noFill/>
          <a:ln/>
        </p:spPr>
        <p:txBody>
          <a:bodyPr wrap="square" lIns="0" tIns="0" rIns="0" bIns="0" rtlCol="0" anchor="ctr"/>
          <a:lstStyle/>
          <a:p>
            <a:pPr indent="0" marL="0">
              <a:buNone/>
            </a:pPr>
            <a:r>
              <a:rPr lang="en-US" sz="950" b="1" u="sng" dirty="0">
                <a:solidFill>
                  <a:srgbClr val="16A34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https://cdh-bridge-demos.vercel.app/citadele</a:t>
            </a:r>
            <a:endParaRPr lang="en-US" sz="950" dirty="0"/>
          </a:p>
        </p:txBody>
      </p:sp>
      <p:sp>
        <p:nvSpPr>
          <p:cNvPr id="25" name="Text 23"/>
          <p:cNvSpPr/>
          <p:nvPr/>
        </p:nvSpPr>
        <p:spPr>
          <a:xfrm>
            <a:off x="493776" y="4270248"/>
            <a:ext cx="3456432" cy="8229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Latvia banking — Latvian UI, EUR accounts, DCS + Pega CDH attribution throughout</a:t>
            </a:r>
            <a:endParaRPr lang="en-US" sz="1050" dirty="0"/>
          </a:p>
        </p:txBody>
      </p:sp>
      <p:sp>
        <p:nvSpPr>
          <p:cNvPr id="26" name="Shape 24"/>
          <p:cNvSpPr/>
          <p:nvPr/>
        </p:nvSpPr>
        <p:spPr>
          <a:xfrm>
            <a:off x="4279392" y="3310128"/>
            <a:ext cx="3703320" cy="196596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7" name="Shape 25"/>
          <p:cNvSpPr/>
          <p:nvPr/>
        </p:nvSpPr>
        <p:spPr>
          <a:xfrm>
            <a:off x="4279392" y="3310128"/>
            <a:ext cx="54864" cy="1965960"/>
          </a:xfrm>
          <a:prstGeom prst="rect">
            <a:avLst/>
          </a:prstGeom>
          <a:solidFill>
            <a:srgbClr val="D97706"/>
          </a:solidFill>
          <a:ln w="12700">
            <a:solidFill>
              <a:srgbClr val="D97706"/>
            </a:solidFill>
            <a:prstDash val="solid"/>
          </a:ln>
        </p:spPr>
      </p:sp>
      <p:sp>
        <p:nvSpPr>
          <p:cNvPr id="28" name="Text 26"/>
          <p:cNvSpPr/>
          <p:nvPr/>
        </p:nvSpPr>
        <p:spPr>
          <a:xfrm>
            <a:off x="4462272" y="3493008"/>
            <a:ext cx="3337560" cy="411480"/>
          </a:xfrm>
          <a:prstGeom prst="rect">
            <a:avLst/>
          </a:prstGeom>
          <a:noFill/>
          <a:ln/>
        </p:spPr>
        <p:txBody>
          <a:bodyPr wrap="square" lIns="0" tIns="0" rIns="0" bIns="0" rtlCol="0" anchor="ctr"/>
          <a:lstStyle/>
          <a:p>
            <a:pPr indent="0" marL="0">
              <a:buNone/>
            </a:pPr>
            <a:r>
              <a:rPr lang="en-US" sz="1300" b="1" dirty="0">
                <a:solidFill>
                  <a:srgbClr val="003A61"/>
                </a:solidFill>
                <a:latin typeface="Calibri" pitchFamily="34" charset="0"/>
                <a:ea typeface="Calibri" pitchFamily="34" charset="-122"/>
                <a:cs typeface="Calibri" pitchFamily="34" charset="-120"/>
              </a:rPr>
              <a:t>📚  Team Cookbook</a:t>
            </a:r>
            <a:endParaRPr lang="en-US" sz="1300" dirty="0"/>
          </a:p>
        </p:txBody>
      </p:sp>
      <p:sp>
        <p:nvSpPr>
          <p:cNvPr id="29" name="Text 27">
            <a:hlinkClick r:id="rId5" tooltip=""/>
          </p:cNvPr>
          <p:cNvSpPr/>
          <p:nvPr/>
        </p:nvSpPr>
        <p:spPr>
          <a:xfrm>
            <a:off x="4407408" y="3950208"/>
            <a:ext cx="3456432" cy="256032"/>
          </a:xfrm>
          <a:prstGeom prst="rect">
            <a:avLst/>
          </a:prstGeom>
          <a:noFill/>
          <a:ln/>
        </p:spPr>
        <p:txBody>
          <a:bodyPr wrap="square" lIns="0" tIns="0" rIns="0" bIns="0" rtlCol="0" anchor="ctr"/>
          <a:lstStyle/>
          <a:p>
            <a:pPr indent="0" marL="0">
              <a:buNone/>
            </a:pPr>
            <a:r>
              <a:rPr lang="en-US" sz="950" b="1" u="sng" dirty="0">
                <a:solidFill>
                  <a:srgbClr val="D9770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https://cdh-bridge-demos.vercel.app/cookbook</a:t>
            </a:r>
            <a:endParaRPr lang="en-US" sz="950" dirty="0"/>
          </a:p>
        </p:txBody>
      </p:sp>
      <p:sp>
        <p:nvSpPr>
          <p:cNvPr id="30" name="Text 28"/>
          <p:cNvSpPr/>
          <p:nvPr/>
        </p:nvSpPr>
        <p:spPr>
          <a:xfrm>
            <a:off x="4407408" y="4270248"/>
            <a:ext cx="3456432" cy="8229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73 curl recipes, SDK reference, deployment guide, troubleshooting for your team</a:t>
            </a:r>
            <a:endParaRPr lang="en-US" sz="1050" dirty="0"/>
          </a:p>
        </p:txBody>
      </p:sp>
      <p:sp>
        <p:nvSpPr>
          <p:cNvPr id="31" name="Shape 29"/>
          <p:cNvSpPr/>
          <p:nvPr/>
        </p:nvSpPr>
        <p:spPr>
          <a:xfrm>
            <a:off x="8193024" y="3310128"/>
            <a:ext cx="3703320" cy="1965960"/>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32" name="Shape 30"/>
          <p:cNvSpPr/>
          <p:nvPr/>
        </p:nvSpPr>
        <p:spPr>
          <a:xfrm>
            <a:off x="8193024" y="3310128"/>
            <a:ext cx="54864" cy="1965960"/>
          </a:xfrm>
          <a:prstGeom prst="rect">
            <a:avLst/>
          </a:prstGeom>
          <a:solidFill>
            <a:srgbClr val="475569"/>
          </a:solidFill>
          <a:ln w="12700">
            <a:solidFill>
              <a:srgbClr val="475569"/>
            </a:solidFill>
            <a:prstDash val="solid"/>
          </a:ln>
        </p:spPr>
      </p:sp>
      <p:sp>
        <p:nvSpPr>
          <p:cNvPr id="33" name="Text 31"/>
          <p:cNvSpPr/>
          <p:nvPr/>
        </p:nvSpPr>
        <p:spPr>
          <a:xfrm>
            <a:off x="8375904" y="3493008"/>
            <a:ext cx="3337560" cy="411480"/>
          </a:xfrm>
          <a:prstGeom prst="rect">
            <a:avLst/>
          </a:prstGeom>
          <a:noFill/>
          <a:ln/>
        </p:spPr>
        <p:txBody>
          <a:bodyPr wrap="square" lIns="0" tIns="0" rIns="0" bIns="0" rtlCol="0" anchor="ctr"/>
          <a:lstStyle/>
          <a:p>
            <a:pPr indent="0" marL="0">
              <a:buNone/>
            </a:pPr>
            <a:r>
              <a:rPr lang="en-US" sz="1300" b="1" dirty="0">
                <a:solidFill>
                  <a:srgbClr val="003A61"/>
                </a:solidFill>
                <a:latin typeface="Calibri" pitchFamily="34" charset="0"/>
                <a:ea typeface="Calibri" pitchFamily="34" charset="-122"/>
                <a:cs typeface="Calibri" pitchFamily="34" charset="-120"/>
              </a:rPr>
              <a:t>💻  GitHub Repository</a:t>
            </a:r>
            <a:endParaRPr lang="en-US" sz="1300" dirty="0"/>
          </a:p>
        </p:txBody>
      </p:sp>
      <p:sp>
        <p:nvSpPr>
          <p:cNvPr id="34" name="Text 32">
            <a:hlinkClick r:id="rId6" tooltip=""/>
          </p:cNvPr>
          <p:cNvSpPr/>
          <p:nvPr/>
        </p:nvSpPr>
        <p:spPr>
          <a:xfrm>
            <a:off x="8321040" y="3950208"/>
            <a:ext cx="3456432" cy="256032"/>
          </a:xfrm>
          <a:prstGeom prst="rect">
            <a:avLst/>
          </a:prstGeom>
          <a:noFill/>
          <a:ln/>
        </p:spPr>
        <p:txBody>
          <a:bodyPr wrap="square" lIns="0" tIns="0" rIns="0" bIns="0" rtlCol="0" anchor="ctr"/>
          <a:lstStyle/>
          <a:p>
            <a:pPr indent="0" marL="0">
              <a:buNone/>
            </a:pPr>
            <a:r>
              <a:rPr lang="en-US" sz="950" b="1" u="sng" dirty="0">
                <a:solidFill>
                  <a:srgbClr val="47556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https://github.com/sunilmlodha/cdh-bridge</a:t>
            </a:r>
            <a:endParaRPr lang="en-US" sz="950" dirty="0"/>
          </a:p>
        </p:txBody>
      </p:sp>
      <p:sp>
        <p:nvSpPr>
          <p:cNvPr id="35" name="Text 33"/>
          <p:cNvSpPr/>
          <p:nvPr/>
        </p:nvSpPr>
        <p:spPr>
          <a:xfrm>
            <a:off x="8321040" y="4270248"/>
            <a:ext cx="3456432" cy="82296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Full source code — 7 microservices, Next.js dashboard, identity resolution, CI/CD</a:t>
            </a:r>
            <a:endParaRPr lang="en-US" sz="1050" dirty="0"/>
          </a:p>
        </p:txBody>
      </p:sp>
      <p:sp>
        <p:nvSpPr>
          <p:cNvPr id="36" name="Shape 34"/>
          <p:cNvSpPr/>
          <p:nvPr/>
        </p:nvSpPr>
        <p:spPr>
          <a:xfrm>
            <a:off x="10972800" y="1143000"/>
            <a:ext cx="1051560" cy="384048"/>
          </a:xfrm>
          <a:prstGeom prst="rect">
            <a:avLst/>
          </a:prstGeom>
          <a:solidFill>
            <a:srgbClr val="16A34A"/>
          </a:solidFill>
          <a:ln w="12700">
            <a:solidFill>
              <a:srgbClr val="16A34A"/>
            </a:solidFill>
            <a:prstDash val="solid"/>
          </a:ln>
        </p:spPr>
      </p:sp>
      <p:sp>
        <p:nvSpPr>
          <p:cNvPr id="37" name="Text 35"/>
          <p:cNvSpPr/>
          <p:nvPr/>
        </p:nvSpPr>
        <p:spPr>
          <a:xfrm>
            <a:off x="10972800" y="1143000"/>
            <a:ext cx="10515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LIVE</a:t>
            </a:r>
            <a:endParaRPr lang="en-US" sz="1100" dirty="0"/>
          </a:p>
        </p:txBody>
      </p:sp>
      <p:sp>
        <p:nvSpPr>
          <p:cNvPr id="38" name="Shape 36"/>
          <p:cNvSpPr/>
          <p:nvPr/>
        </p:nvSpPr>
        <p:spPr>
          <a:xfrm>
            <a:off x="0" y="6565392"/>
            <a:ext cx="12188952" cy="292608"/>
          </a:xfrm>
          <a:prstGeom prst="rect">
            <a:avLst/>
          </a:prstGeom>
          <a:solidFill>
            <a:srgbClr val="003A61"/>
          </a:solidFill>
          <a:ln w="12700">
            <a:solidFill>
              <a:srgbClr val="003A61"/>
            </a:solidFill>
            <a:prstDash val="solid"/>
          </a:ln>
        </p:spPr>
      </p:sp>
      <p:sp>
        <p:nvSpPr>
          <p:cNvPr id="39" name="Text 37"/>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40" name="Text 38"/>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13 / 15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Text 1"/>
          <p:cNvSpPr/>
          <p:nvPr/>
        </p:nvSpPr>
        <p:spPr>
          <a:xfrm>
            <a:off x="457200" y="164592"/>
            <a:ext cx="11274552" cy="502920"/>
          </a:xfrm>
          <a:prstGeom prst="rect">
            <a:avLst/>
          </a:prstGeom>
          <a:noFill/>
          <a:ln/>
        </p:spPr>
        <p:txBody>
          <a:bodyPr wrap="square" lIns="0" tIns="0" rIns="0" bIns="0" rtlCol="0" anchor="ctr"/>
          <a:lstStyle/>
          <a:p>
            <a:pPr indent="0" marL="0">
              <a:buNone/>
            </a:pPr>
            <a:r>
              <a:rPr lang="en-US" sz="2800" b="1" dirty="0">
                <a:solidFill>
                  <a:srgbClr val="003A61"/>
                </a:solidFill>
                <a:latin typeface="Calibri" pitchFamily="34" charset="0"/>
                <a:ea typeface="Calibri" pitchFamily="34" charset="-122"/>
                <a:cs typeface="Calibri" pitchFamily="34" charset="-120"/>
              </a:rPr>
              <a:t>Start the Conversation</a:t>
            </a:r>
            <a:endParaRPr lang="en-US" sz="2800" dirty="0"/>
          </a:p>
        </p:txBody>
      </p:sp>
      <p:sp>
        <p:nvSpPr>
          <p:cNvPr id="4" name="Text 2"/>
          <p:cNvSpPr/>
          <p:nvPr/>
        </p:nvSpPr>
        <p:spPr>
          <a:xfrm>
            <a:off x="457200" y="667512"/>
            <a:ext cx="11274552" cy="2743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Three ways to move forward this week</a:t>
            </a:r>
            <a:endParaRPr lang="en-US" sz="1300" dirty="0"/>
          </a:p>
        </p:txBody>
      </p:sp>
      <p:sp>
        <p:nvSpPr>
          <p:cNvPr id="5" name="Shape 3"/>
          <p:cNvSpPr/>
          <p:nvPr/>
        </p:nvSpPr>
        <p:spPr>
          <a:xfrm>
            <a:off x="457200" y="914400"/>
            <a:ext cx="11274552" cy="27432"/>
          </a:xfrm>
          <a:prstGeom prst="rect">
            <a:avLst/>
          </a:prstGeom>
          <a:solidFill>
            <a:srgbClr val="E2E8F0"/>
          </a:solidFill>
          <a:ln w="12700">
            <a:solidFill>
              <a:srgbClr val="E2E8F0"/>
            </a:solidFill>
            <a:prstDash val="solid"/>
          </a:ln>
        </p:spPr>
      </p:sp>
      <p:sp>
        <p:nvSpPr>
          <p:cNvPr id="6" name="Shape 4"/>
          <p:cNvSpPr/>
          <p:nvPr/>
        </p:nvSpPr>
        <p:spPr>
          <a:xfrm>
            <a:off x="365760" y="1143000"/>
            <a:ext cx="11457432" cy="1481328"/>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7" name="Shape 5"/>
          <p:cNvSpPr/>
          <p:nvPr/>
        </p:nvSpPr>
        <p:spPr>
          <a:xfrm>
            <a:off x="365760" y="1143000"/>
            <a:ext cx="54864" cy="1481328"/>
          </a:xfrm>
          <a:prstGeom prst="rect">
            <a:avLst/>
          </a:prstGeom>
          <a:solidFill>
            <a:srgbClr val="0063AB"/>
          </a:solidFill>
          <a:ln w="12700">
            <a:solidFill>
              <a:srgbClr val="0063AB"/>
            </a:solidFill>
            <a:prstDash val="solid"/>
          </a:ln>
        </p:spPr>
      </p:sp>
      <p:sp>
        <p:nvSpPr>
          <p:cNvPr id="8" name="Shape 6"/>
          <p:cNvSpPr/>
          <p:nvPr/>
        </p:nvSpPr>
        <p:spPr>
          <a:xfrm>
            <a:off x="420624" y="1143000"/>
            <a:ext cx="1097280" cy="1481328"/>
          </a:xfrm>
          <a:prstGeom prst="rect">
            <a:avLst/>
          </a:prstGeom>
          <a:solidFill>
            <a:srgbClr val="0063AB"/>
          </a:solidFill>
          <a:ln w="12700">
            <a:solidFill>
              <a:srgbClr val="0063AB"/>
            </a:solidFill>
            <a:prstDash val="solid"/>
          </a:ln>
        </p:spPr>
      </p:sp>
      <p:sp>
        <p:nvSpPr>
          <p:cNvPr id="9" name="Text 7"/>
          <p:cNvSpPr/>
          <p:nvPr/>
        </p:nvSpPr>
        <p:spPr>
          <a:xfrm>
            <a:off x="420624" y="1645920"/>
            <a:ext cx="109728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01</a:t>
            </a:r>
            <a:endParaRPr lang="en-US" sz="2600" dirty="0"/>
          </a:p>
        </p:txBody>
      </p:sp>
      <p:sp>
        <p:nvSpPr>
          <p:cNvPr id="10" name="Text 8"/>
          <p:cNvSpPr/>
          <p:nvPr/>
        </p:nvSpPr>
        <p:spPr>
          <a:xfrm>
            <a:off x="1645920" y="1280160"/>
            <a:ext cx="5029200" cy="411480"/>
          </a:xfrm>
          <a:prstGeom prst="rect">
            <a:avLst/>
          </a:prstGeom>
          <a:noFill/>
          <a:ln/>
        </p:spPr>
        <p:txBody>
          <a:bodyPr wrap="square" lIns="0" tIns="0" rIns="0" bIns="0" rtlCol="0" anchor="ctr"/>
          <a:lstStyle/>
          <a:p>
            <a:pPr indent="0" marL="0">
              <a:buNone/>
            </a:pPr>
            <a:r>
              <a:rPr lang="en-US" sz="1600" b="1" dirty="0">
                <a:solidFill>
                  <a:srgbClr val="003A61"/>
                </a:solidFill>
                <a:latin typeface="Calibri" pitchFamily="34" charset="0"/>
                <a:ea typeface="Calibri" pitchFamily="34" charset="-122"/>
                <a:cs typeface="Calibri" pitchFamily="34" charset="-120"/>
              </a:rPr>
              <a:t>Book a 30-Minute Demo</a:t>
            </a:r>
            <a:endParaRPr lang="en-US" sz="1600" dirty="0"/>
          </a:p>
        </p:txBody>
      </p:sp>
      <p:sp>
        <p:nvSpPr>
          <p:cNvPr id="11" name="Text 9"/>
          <p:cNvSpPr/>
          <p:nvPr/>
        </p:nvSpPr>
        <p:spPr>
          <a:xfrm>
            <a:off x="1645920" y="1737360"/>
            <a:ext cx="7132320" cy="68580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See CDH Bridge live with your own Pega CDH sandbox or our reference environment. We walk you through a real customer journey — anonymous browse to NBA acceptance — and show you the exact latency and lift numbers.</a:t>
            </a:r>
            <a:endParaRPr lang="en-US" sz="1150" dirty="0"/>
          </a:p>
        </p:txBody>
      </p:sp>
      <p:sp>
        <p:nvSpPr>
          <p:cNvPr id="12" name="Text 10"/>
          <p:cNvSpPr/>
          <p:nvPr/>
        </p:nvSpPr>
        <p:spPr>
          <a:xfrm>
            <a:off x="9144000" y="1280160"/>
            <a:ext cx="2743200" cy="384048"/>
          </a:xfrm>
          <a:prstGeom prst="rect">
            <a:avLst/>
          </a:prstGeom>
          <a:noFill/>
          <a:ln/>
        </p:spPr>
        <p:txBody>
          <a:bodyPr wrap="square" lIns="0" tIns="0" rIns="0" bIns="0" rtlCol="0" anchor="ctr"/>
          <a:lstStyle/>
          <a:p>
            <a:pPr algn="r" indent="0" marL="0">
              <a:buNone/>
            </a:pPr>
            <a:r>
              <a:rPr lang="en-US" sz="1050" b="1" dirty="0">
                <a:solidFill>
                  <a:srgbClr val="0063AB"/>
                </a:solidFill>
                <a:latin typeface="Calibri" pitchFamily="34" charset="0"/>
                <a:ea typeface="Calibri" pitchFamily="34" charset="-122"/>
                <a:cs typeface="Calibri" pitchFamily="34" charset="-120"/>
              </a:rPr>
              <a:t>Book demo → calendly.com/wearedcs</a:t>
            </a:r>
            <a:endParaRPr lang="en-US" sz="1050" dirty="0"/>
          </a:p>
        </p:txBody>
      </p:sp>
      <p:sp>
        <p:nvSpPr>
          <p:cNvPr id="13" name="Shape 11"/>
          <p:cNvSpPr/>
          <p:nvPr/>
        </p:nvSpPr>
        <p:spPr>
          <a:xfrm>
            <a:off x="365760" y="2788920"/>
            <a:ext cx="11457432" cy="1481328"/>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14" name="Shape 12"/>
          <p:cNvSpPr/>
          <p:nvPr/>
        </p:nvSpPr>
        <p:spPr>
          <a:xfrm>
            <a:off x="365760" y="2788920"/>
            <a:ext cx="54864" cy="1481328"/>
          </a:xfrm>
          <a:prstGeom prst="rect">
            <a:avLst/>
          </a:prstGeom>
          <a:solidFill>
            <a:srgbClr val="003A61"/>
          </a:solidFill>
          <a:ln w="12700">
            <a:solidFill>
              <a:srgbClr val="003A61"/>
            </a:solidFill>
            <a:prstDash val="solid"/>
          </a:ln>
        </p:spPr>
      </p:sp>
      <p:sp>
        <p:nvSpPr>
          <p:cNvPr id="15" name="Shape 13"/>
          <p:cNvSpPr/>
          <p:nvPr/>
        </p:nvSpPr>
        <p:spPr>
          <a:xfrm>
            <a:off x="420624" y="2788920"/>
            <a:ext cx="1097280" cy="1481328"/>
          </a:xfrm>
          <a:prstGeom prst="rect">
            <a:avLst/>
          </a:prstGeom>
          <a:solidFill>
            <a:srgbClr val="003A61"/>
          </a:solidFill>
          <a:ln w="12700">
            <a:solidFill>
              <a:srgbClr val="003A61"/>
            </a:solidFill>
            <a:prstDash val="solid"/>
          </a:ln>
        </p:spPr>
      </p:sp>
      <p:sp>
        <p:nvSpPr>
          <p:cNvPr id="16" name="Text 14"/>
          <p:cNvSpPr/>
          <p:nvPr/>
        </p:nvSpPr>
        <p:spPr>
          <a:xfrm>
            <a:off x="420624" y="3291840"/>
            <a:ext cx="109728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02</a:t>
            </a:r>
            <a:endParaRPr lang="en-US" sz="2600" dirty="0"/>
          </a:p>
        </p:txBody>
      </p:sp>
      <p:sp>
        <p:nvSpPr>
          <p:cNvPr id="17" name="Text 15"/>
          <p:cNvSpPr/>
          <p:nvPr/>
        </p:nvSpPr>
        <p:spPr>
          <a:xfrm>
            <a:off x="1645920" y="2926080"/>
            <a:ext cx="5029200" cy="411480"/>
          </a:xfrm>
          <a:prstGeom prst="rect">
            <a:avLst/>
          </a:prstGeom>
          <a:noFill/>
          <a:ln/>
        </p:spPr>
        <p:txBody>
          <a:bodyPr wrap="square" lIns="0" tIns="0" rIns="0" bIns="0" rtlCol="0" anchor="ctr"/>
          <a:lstStyle/>
          <a:p>
            <a:pPr indent="0" marL="0">
              <a:buNone/>
            </a:pPr>
            <a:r>
              <a:rPr lang="en-US" sz="1600" b="1" dirty="0">
                <a:solidFill>
                  <a:srgbClr val="003A61"/>
                </a:solidFill>
                <a:latin typeface="Calibri" pitchFamily="34" charset="0"/>
                <a:ea typeface="Calibri" pitchFamily="34" charset="-122"/>
                <a:cs typeface="Calibri" pitchFamily="34" charset="-120"/>
              </a:rPr>
              <a:t>Run a 30-Day POC</a:t>
            </a:r>
            <a:endParaRPr lang="en-US" sz="1600" dirty="0"/>
          </a:p>
        </p:txBody>
      </p:sp>
      <p:sp>
        <p:nvSpPr>
          <p:cNvPr id="18" name="Text 16"/>
          <p:cNvSpPr/>
          <p:nvPr/>
        </p:nvSpPr>
        <p:spPr>
          <a:xfrm>
            <a:off x="1645920" y="3383280"/>
            <a:ext cx="7132320" cy="68580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We connect CDH Bridge to one data source and one customer channel at your client site. Within 30 days, you have a measurable before/after NBA acceptance rate comparison. We guarantee a result or refund month 1.</a:t>
            </a:r>
            <a:endParaRPr lang="en-US" sz="1150" dirty="0"/>
          </a:p>
        </p:txBody>
      </p:sp>
      <p:sp>
        <p:nvSpPr>
          <p:cNvPr id="19" name="Text 17"/>
          <p:cNvSpPr/>
          <p:nvPr/>
        </p:nvSpPr>
        <p:spPr>
          <a:xfrm>
            <a:off x="9144000" y="2926080"/>
            <a:ext cx="2743200" cy="384048"/>
          </a:xfrm>
          <a:prstGeom prst="rect">
            <a:avLst/>
          </a:prstGeom>
          <a:noFill/>
          <a:ln/>
        </p:spPr>
        <p:txBody>
          <a:bodyPr wrap="square" lIns="0" tIns="0" rIns="0" bIns="0" rtlCol="0" anchor="ctr"/>
          <a:lstStyle/>
          <a:p>
            <a:pPr algn="r" indent="0" marL="0">
              <a:buNone/>
            </a:pPr>
            <a:r>
              <a:rPr lang="en-US" sz="1050" b="1" dirty="0">
                <a:solidFill>
                  <a:srgbClr val="003A61"/>
                </a:solidFill>
                <a:latin typeface="Calibri" pitchFamily="34" charset="0"/>
                <a:ea typeface="Calibri" pitchFamily="34" charset="-122"/>
                <a:cs typeface="Calibri" pitchFamily="34" charset="-120"/>
              </a:rPr>
              <a:t>Start POC → sunil@wearedcs.com</a:t>
            </a:r>
            <a:endParaRPr lang="en-US" sz="1050" dirty="0"/>
          </a:p>
        </p:txBody>
      </p:sp>
      <p:sp>
        <p:nvSpPr>
          <p:cNvPr id="20" name="Shape 18"/>
          <p:cNvSpPr/>
          <p:nvPr/>
        </p:nvSpPr>
        <p:spPr>
          <a:xfrm>
            <a:off x="365760" y="4434840"/>
            <a:ext cx="11457432" cy="1481328"/>
          </a:xfrm>
          <a:prstGeom prst="rect">
            <a:avLst/>
          </a:prstGeom>
          <a:solidFill>
            <a:srgbClr val="FFFFFF"/>
          </a:solidFill>
          <a:ln w="12700">
            <a:solidFill>
              <a:srgbClr val="E2E8F0"/>
            </a:solidFill>
            <a:prstDash val="solid"/>
          </a:ln>
          <a:effectLst>
            <a:outerShdw sx="100000" sy="100000" kx="0" ky="0" algn="bl" rotWithShape="0" blurRad="152400" dist="50800" dir="8100000">
              <a:srgbClr val="000000">
                <a:alpha val="10000"/>
              </a:srgbClr>
            </a:outerShdw>
          </a:effectLst>
        </p:spPr>
      </p:sp>
      <p:sp>
        <p:nvSpPr>
          <p:cNvPr id="21" name="Shape 19"/>
          <p:cNvSpPr/>
          <p:nvPr/>
        </p:nvSpPr>
        <p:spPr>
          <a:xfrm>
            <a:off x="365760" y="4434840"/>
            <a:ext cx="54864" cy="1481328"/>
          </a:xfrm>
          <a:prstGeom prst="rect">
            <a:avLst/>
          </a:prstGeom>
          <a:solidFill>
            <a:srgbClr val="16A34A"/>
          </a:solidFill>
          <a:ln w="12700">
            <a:solidFill>
              <a:srgbClr val="16A34A"/>
            </a:solidFill>
            <a:prstDash val="solid"/>
          </a:ln>
        </p:spPr>
      </p:sp>
      <p:sp>
        <p:nvSpPr>
          <p:cNvPr id="22" name="Shape 20"/>
          <p:cNvSpPr/>
          <p:nvPr/>
        </p:nvSpPr>
        <p:spPr>
          <a:xfrm>
            <a:off x="420624" y="4434840"/>
            <a:ext cx="1097280" cy="1481328"/>
          </a:xfrm>
          <a:prstGeom prst="rect">
            <a:avLst/>
          </a:prstGeom>
          <a:solidFill>
            <a:srgbClr val="16A34A"/>
          </a:solidFill>
          <a:ln w="12700">
            <a:solidFill>
              <a:srgbClr val="16A34A"/>
            </a:solidFill>
            <a:prstDash val="solid"/>
          </a:ln>
        </p:spPr>
      </p:sp>
      <p:sp>
        <p:nvSpPr>
          <p:cNvPr id="23" name="Text 21"/>
          <p:cNvSpPr/>
          <p:nvPr/>
        </p:nvSpPr>
        <p:spPr>
          <a:xfrm>
            <a:off x="420624" y="4937760"/>
            <a:ext cx="109728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03</a:t>
            </a:r>
            <a:endParaRPr lang="en-US" sz="2600" dirty="0"/>
          </a:p>
        </p:txBody>
      </p:sp>
      <p:sp>
        <p:nvSpPr>
          <p:cNvPr id="24" name="Text 22"/>
          <p:cNvSpPr/>
          <p:nvPr/>
        </p:nvSpPr>
        <p:spPr>
          <a:xfrm>
            <a:off x="1645920" y="4572000"/>
            <a:ext cx="5029200" cy="411480"/>
          </a:xfrm>
          <a:prstGeom prst="rect">
            <a:avLst/>
          </a:prstGeom>
          <a:noFill/>
          <a:ln/>
        </p:spPr>
        <p:txBody>
          <a:bodyPr wrap="square" lIns="0" tIns="0" rIns="0" bIns="0" rtlCol="0" anchor="ctr"/>
          <a:lstStyle/>
          <a:p>
            <a:pPr indent="0" marL="0">
              <a:buNone/>
            </a:pPr>
            <a:r>
              <a:rPr lang="en-US" sz="1600" b="1" dirty="0">
                <a:solidFill>
                  <a:srgbClr val="003A61"/>
                </a:solidFill>
                <a:latin typeface="Calibri" pitchFamily="34" charset="0"/>
                <a:ea typeface="Calibri" pitchFamily="34" charset="-122"/>
                <a:cs typeface="Calibri" pitchFamily="34" charset="-120"/>
              </a:rPr>
              <a:t>Propose to a Client</a:t>
            </a:r>
            <a:endParaRPr lang="en-US" sz="1600" dirty="0"/>
          </a:p>
        </p:txBody>
      </p:sp>
      <p:sp>
        <p:nvSpPr>
          <p:cNvPr id="25" name="Text 23"/>
          <p:cNvSpPr/>
          <p:nvPr/>
        </p:nvSpPr>
        <p:spPr>
          <a:xfrm>
            <a:off x="1645920" y="5029200"/>
            <a:ext cx="7132320" cy="68580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Tell us which Pega CDH client is underperforming. DCS will build the business case, pricing proposal, and this deck in your client's branding. You bring the relationship, we bring the product and the proof.</a:t>
            </a:r>
            <a:endParaRPr lang="en-US" sz="1150" dirty="0"/>
          </a:p>
        </p:txBody>
      </p:sp>
      <p:sp>
        <p:nvSpPr>
          <p:cNvPr id="26" name="Text 24"/>
          <p:cNvSpPr/>
          <p:nvPr/>
        </p:nvSpPr>
        <p:spPr>
          <a:xfrm>
            <a:off x="9144000" y="4572000"/>
            <a:ext cx="2743200" cy="384048"/>
          </a:xfrm>
          <a:prstGeom prst="rect">
            <a:avLst/>
          </a:prstGeom>
          <a:noFill/>
          <a:ln/>
        </p:spPr>
        <p:txBody>
          <a:bodyPr wrap="square" lIns="0" tIns="0" rIns="0" bIns="0" rtlCol="0" anchor="ctr"/>
          <a:lstStyle/>
          <a:p>
            <a:pPr algn="r" indent="0" marL="0">
              <a:buNone/>
            </a:pPr>
            <a:r>
              <a:rPr lang="en-US" sz="1050" b="1" dirty="0">
                <a:solidFill>
                  <a:srgbClr val="16A34A"/>
                </a:solidFill>
                <a:latin typeface="Calibri" pitchFamily="34" charset="0"/>
                <a:ea typeface="Calibri" pitchFamily="34" charset="-122"/>
                <a:cs typeface="Calibri" pitchFamily="34" charset="-120"/>
              </a:rPr>
              <a:t>Propose now → nanjundan@wearedcs.com</a:t>
            </a:r>
            <a:endParaRPr lang="en-US" sz="1050" dirty="0"/>
          </a:p>
        </p:txBody>
      </p:sp>
      <p:sp>
        <p:nvSpPr>
          <p:cNvPr id="27" name="Shape 25"/>
          <p:cNvSpPr/>
          <p:nvPr/>
        </p:nvSpPr>
        <p:spPr>
          <a:xfrm>
            <a:off x="365760" y="6080760"/>
            <a:ext cx="11457432" cy="502920"/>
          </a:xfrm>
          <a:prstGeom prst="rect">
            <a:avLst/>
          </a:prstGeom>
          <a:solidFill>
            <a:srgbClr val="003A61"/>
          </a:solidFill>
          <a:ln w="12700">
            <a:solidFill>
              <a:srgbClr val="003A61"/>
            </a:solidFill>
            <a:prstDash val="solid"/>
          </a:ln>
        </p:spPr>
      </p:sp>
      <p:sp>
        <p:nvSpPr>
          <p:cNvPr id="28" name="Text 26"/>
          <p:cNvSpPr/>
          <p:nvPr/>
        </p:nvSpPr>
        <p:spPr>
          <a:xfrm>
            <a:off x="548640" y="6080760"/>
            <a:ext cx="11091672"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DCS  ·  wearedcs.com  ·  Sunil Lodha  ·  Nanjundan Chinnasamy  ·  github.com/sunilmlodha/cdh-bridge</a:t>
            </a:r>
            <a:endParaRPr lang="en-US" sz="1100" dirty="0"/>
          </a:p>
        </p:txBody>
      </p:sp>
      <p:sp>
        <p:nvSpPr>
          <p:cNvPr id="29" name="Shape 27"/>
          <p:cNvSpPr/>
          <p:nvPr/>
        </p:nvSpPr>
        <p:spPr>
          <a:xfrm>
            <a:off x="0" y="6565392"/>
            <a:ext cx="12188952" cy="292608"/>
          </a:xfrm>
          <a:prstGeom prst="rect">
            <a:avLst/>
          </a:prstGeom>
          <a:solidFill>
            <a:srgbClr val="003A61"/>
          </a:solidFill>
          <a:ln w="12700">
            <a:solidFill>
              <a:srgbClr val="003A61"/>
            </a:solidFill>
            <a:prstDash val="solid"/>
          </a:ln>
        </p:spPr>
      </p:sp>
      <p:sp>
        <p:nvSpPr>
          <p:cNvPr id="30" name="Text 28"/>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31" name="Text 29"/>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14 / 15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F3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16A34A"/>
          </a:solidFill>
          <a:ln w="12700">
            <a:solidFill>
              <a:srgbClr val="16A34A"/>
            </a:solidFill>
            <a:prstDash val="solid"/>
          </a:ln>
        </p:spPr>
      </p:sp>
      <p:sp>
        <p:nvSpPr>
          <p:cNvPr id="3" name="Shape 1"/>
          <p:cNvSpPr/>
          <p:nvPr/>
        </p:nvSpPr>
        <p:spPr>
          <a:xfrm>
            <a:off x="0" y="6803136"/>
            <a:ext cx="12188952" cy="54864"/>
          </a:xfrm>
          <a:prstGeom prst="rect">
            <a:avLst/>
          </a:prstGeom>
          <a:solidFill>
            <a:srgbClr val="16A34A"/>
          </a:solidFill>
          <a:ln w="12700">
            <a:solidFill>
              <a:srgbClr val="16A34A"/>
            </a:solidFill>
            <a:prstDash val="solid"/>
          </a:ln>
        </p:spPr>
      </p:sp>
      <p:sp>
        <p:nvSpPr>
          <p:cNvPr id="4" name="Shape 2"/>
          <p:cNvSpPr/>
          <p:nvPr/>
        </p:nvSpPr>
        <p:spPr>
          <a:xfrm>
            <a:off x="0" y="54864"/>
            <a:ext cx="228600" cy="6748272"/>
          </a:xfrm>
          <a:prstGeom prst="rect">
            <a:avLst/>
          </a:prstGeom>
          <a:solidFill>
            <a:srgbClr val="0D5080"/>
          </a:solidFill>
          <a:ln w="12700">
            <a:solidFill>
              <a:srgbClr val="0D5080"/>
            </a:solidFill>
            <a:prstDash val="solid"/>
          </a:ln>
        </p:spPr>
      </p:sp>
      <p:sp>
        <p:nvSpPr>
          <p:cNvPr id="5" name="Text 3"/>
          <p:cNvSpPr/>
          <p:nvPr/>
        </p:nvSpPr>
        <p:spPr>
          <a:xfrm>
            <a:off x="548640" y="1280160"/>
            <a:ext cx="8229600" cy="100584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CDH Bridge</a:t>
            </a:r>
            <a:endParaRPr lang="en-US" sz="5200" dirty="0"/>
          </a:p>
        </p:txBody>
      </p:sp>
      <p:sp>
        <p:nvSpPr>
          <p:cNvPr id="6" name="Shape 4"/>
          <p:cNvSpPr/>
          <p:nvPr/>
        </p:nvSpPr>
        <p:spPr>
          <a:xfrm>
            <a:off x="548640" y="2331720"/>
            <a:ext cx="2926080" cy="64008"/>
          </a:xfrm>
          <a:prstGeom prst="rect">
            <a:avLst/>
          </a:prstGeom>
          <a:solidFill>
            <a:srgbClr val="16A34A"/>
          </a:solidFill>
          <a:ln w="12700">
            <a:solidFill>
              <a:srgbClr val="16A34A"/>
            </a:solidFill>
            <a:prstDash val="solid"/>
          </a:ln>
        </p:spPr>
      </p:sp>
      <p:sp>
        <p:nvSpPr>
          <p:cNvPr id="7" name="Text 5"/>
          <p:cNvSpPr/>
          <p:nvPr/>
        </p:nvSpPr>
        <p:spPr>
          <a:xfrm>
            <a:off x="548640" y="2514600"/>
            <a:ext cx="8229600" cy="594360"/>
          </a:xfrm>
          <a:prstGeom prst="rect">
            <a:avLst/>
          </a:prstGeom>
          <a:noFill/>
          <a:ln/>
        </p:spPr>
        <p:txBody>
          <a:bodyPr wrap="square" lIns="0" tIns="0" rIns="0" bIns="0" rtlCol="0" anchor="ctr"/>
          <a:lstStyle/>
          <a:p>
            <a:pPr indent="0" marL="0">
              <a:buNone/>
            </a:pPr>
            <a:r>
              <a:rPr lang="en-US" sz="2000" dirty="0">
                <a:solidFill>
                  <a:srgbClr val="A8C8E0"/>
                </a:solidFill>
                <a:latin typeface="Calibri" pitchFamily="34" charset="0"/>
                <a:ea typeface="Calibri" pitchFamily="34" charset="-122"/>
                <a:cs typeface="Calibri" pitchFamily="34" charset="-120"/>
              </a:rPr>
              <a:t>The fastest path to real-time NBA accuracy for Pega CDH customers.</a:t>
            </a:r>
            <a:endParaRPr lang="en-US" sz="2000" dirty="0"/>
          </a:p>
        </p:txBody>
      </p:sp>
      <p:sp>
        <p:nvSpPr>
          <p:cNvPr id="8" name="Text 6"/>
          <p:cNvSpPr/>
          <p:nvPr/>
        </p:nvSpPr>
        <p:spPr>
          <a:xfrm>
            <a:off x="548640" y="3200400"/>
            <a:ext cx="8229600" cy="411480"/>
          </a:xfrm>
          <a:prstGeom prst="rect">
            <a:avLst/>
          </a:prstGeom>
          <a:noFill/>
          <a:ln/>
        </p:spPr>
        <p:txBody>
          <a:bodyPr wrap="square" lIns="0" tIns="0" rIns="0" bIns="0" rtlCol="0" anchor="ctr"/>
          <a:lstStyle/>
          <a:p>
            <a:pPr indent="0" marL="0">
              <a:buNone/>
            </a:pPr>
            <a:r>
              <a:rPr lang="en-US" sz="1500" i="1" dirty="0">
                <a:solidFill>
                  <a:srgbClr val="6E9DB5"/>
                </a:solidFill>
                <a:latin typeface="Calibri" pitchFamily="34" charset="0"/>
                <a:ea typeface="Calibri" pitchFamily="34" charset="-122"/>
                <a:cs typeface="Calibri" pitchFamily="34" charset="-120"/>
              </a:rPr>
              <a:t>Built by DCS. Powered by Pega. Live in 30 Days.</a:t>
            </a:r>
            <a:endParaRPr lang="en-US" sz="1500" dirty="0"/>
          </a:p>
        </p:txBody>
      </p:sp>
      <p:sp>
        <p:nvSpPr>
          <p:cNvPr id="9" name="Text 7"/>
          <p:cNvSpPr/>
          <p:nvPr/>
        </p:nvSpPr>
        <p:spPr>
          <a:xfrm>
            <a:off x="548640" y="3977640"/>
            <a:ext cx="5943600" cy="310896"/>
          </a:xfrm>
          <a:prstGeom prst="rect">
            <a:avLst/>
          </a:prstGeom>
          <a:noFill/>
          <a:ln/>
        </p:spPr>
        <p:txBody>
          <a:bodyPr wrap="square" lIns="0" tIns="0" rIns="0" bIns="0" rtlCol="0" anchor="ctr"/>
          <a:lstStyle/>
          <a:p>
            <a:pPr indent="0" marL="0">
              <a:buNone/>
            </a:pPr>
            <a:r>
              <a:rPr lang="en-US" sz="1050" dirty="0">
                <a:solidFill>
                  <a:srgbClr val="5A8FA8"/>
                </a:solidFill>
                <a:latin typeface="Calibri" pitchFamily="34" charset="0"/>
                <a:ea typeface="Calibri" pitchFamily="34" charset="-122"/>
                <a:cs typeface="Calibri" pitchFamily="34" charset="-120"/>
              </a:rPr>
              <a:t>Dashboard:  https://cdh-bridge-dashboard.vercel.app</a:t>
            </a:r>
            <a:endParaRPr lang="en-US" sz="1050" dirty="0"/>
          </a:p>
        </p:txBody>
      </p:sp>
      <p:sp>
        <p:nvSpPr>
          <p:cNvPr id="10" name="Text 8"/>
          <p:cNvSpPr/>
          <p:nvPr/>
        </p:nvSpPr>
        <p:spPr>
          <a:xfrm>
            <a:off x="548640" y="4325112"/>
            <a:ext cx="5943600" cy="310896"/>
          </a:xfrm>
          <a:prstGeom prst="rect">
            <a:avLst/>
          </a:prstGeom>
          <a:noFill/>
          <a:ln/>
        </p:spPr>
        <p:txBody>
          <a:bodyPr wrap="square" lIns="0" tIns="0" rIns="0" bIns="0" rtlCol="0" anchor="ctr"/>
          <a:lstStyle/>
          <a:p>
            <a:pPr indent="0" marL="0">
              <a:buNone/>
            </a:pPr>
            <a:r>
              <a:rPr lang="en-US" sz="1050" dirty="0">
                <a:solidFill>
                  <a:srgbClr val="5A8FA8"/>
                </a:solidFill>
                <a:latin typeface="Calibri" pitchFamily="34" charset="0"/>
                <a:ea typeface="Calibri" pitchFamily="34" charset="-122"/>
                <a:cs typeface="Calibri" pitchFamily="34" charset="-120"/>
              </a:rPr>
              <a:t>Demo Suite: https://cdh-bridge-demos.vercel.app</a:t>
            </a:r>
            <a:endParaRPr lang="en-US" sz="1050" dirty="0"/>
          </a:p>
        </p:txBody>
      </p:sp>
      <p:sp>
        <p:nvSpPr>
          <p:cNvPr id="11" name="Text 9"/>
          <p:cNvSpPr/>
          <p:nvPr/>
        </p:nvSpPr>
        <p:spPr>
          <a:xfrm>
            <a:off x="548640" y="4672584"/>
            <a:ext cx="5943600" cy="310896"/>
          </a:xfrm>
          <a:prstGeom prst="rect">
            <a:avLst/>
          </a:prstGeom>
          <a:noFill/>
          <a:ln/>
        </p:spPr>
        <p:txBody>
          <a:bodyPr wrap="square" lIns="0" tIns="0" rIns="0" bIns="0" rtlCol="0" anchor="ctr"/>
          <a:lstStyle/>
          <a:p>
            <a:pPr indent="0" marL="0">
              <a:buNone/>
            </a:pPr>
            <a:r>
              <a:rPr lang="en-US" sz="1050" dirty="0">
                <a:solidFill>
                  <a:srgbClr val="5A8FA8"/>
                </a:solidFill>
                <a:latin typeface="Calibri" pitchFamily="34" charset="0"/>
                <a:ea typeface="Calibri" pitchFamily="34" charset="-122"/>
                <a:cs typeface="Calibri" pitchFamily="34" charset="-120"/>
              </a:rPr>
              <a:t>Citadele:   https://cdh-bridge-demos.vercel.app/citadele</a:t>
            </a:r>
            <a:endParaRPr lang="en-US" sz="1050" dirty="0"/>
          </a:p>
        </p:txBody>
      </p:sp>
      <p:sp>
        <p:nvSpPr>
          <p:cNvPr id="12" name="Text 10"/>
          <p:cNvSpPr/>
          <p:nvPr/>
        </p:nvSpPr>
        <p:spPr>
          <a:xfrm>
            <a:off x="548640" y="5020056"/>
            <a:ext cx="5943600" cy="310896"/>
          </a:xfrm>
          <a:prstGeom prst="rect">
            <a:avLst/>
          </a:prstGeom>
          <a:noFill/>
          <a:ln/>
        </p:spPr>
        <p:txBody>
          <a:bodyPr wrap="square" lIns="0" tIns="0" rIns="0" bIns="0" rtlCol="0" anchor="ctr"/>
          <a:lstStyle/>
          <a:p>
            <a:pPr indent="0" marL="0">
              <a:buNone/>
            </a:pPr>
            <a:r>
              <a:rPr lang="en-US" sz="1050" dirty="0">
                <a:solidFill>
                  <a:srgbClr val="5A8FA8"/>
                </a:solidFill>
                <a:latin typeface="Calibri" pitchFamily="34" charset="0"/>
                <a:ea typeface="Calibri" pitchFamily="34" charset="-122"/>
                <a:cs typeface="Calibri" pitchFamily="34" charset="-120"/>
              </a:rPr>
              <a:t>Cookbook:   https://cdh-bridge-demos.vercel.app/cookbook</a:t>
            </a:r>
            <a:endParaRPr lang="en-US" sz="1050" dirty="0"/>
          </a:p>
        </p:txBody>
      </p:sp>
      <p:sp>
        <p:nvSpPr>
          <p:cNvPr id="13" name="Text 11"/>
          <p:cNvSpPr/>
          <p:nvPr/>
        </p:nvSpPr>
        <p:spPr>
          <a:xfrm>
            <a:off x="548640" y="5367528"/>
            <a:ext cx="5943600" cy="310896"/>
          </a:xfrm>
          <a:prstGeom prst="rect">
            <a:avLst/>
          </a:prstGeom>
          <a:noFill/>
          <a:ln/>
        </p:spPr>
        <p:txBody>
          <a:bodyPr wrap="square" lIns="0" tIns="0" rIns="0" bIns="0" rtlCol="0" anchor="ctr"/>
          <a:lstStyle/>
          <a:p>
            <a:pPr indent="0" marL="0">
              <a:buNone/>
            </a:pPr>
            <a:r>
              <a:rPr lang="en-US" sz="1050" dirty="0">
                <a:solidFill>
                  <a:srgbClr val="5A8FA8"/>
                </a:solidFill>
                <a:latin typeface="Calibri" pitchFamily="34" charset="0"/>
                <a:ea typeface="Calibri" pitchFamily="34" charset="-122"/>
                <a:cs typeface="Calibri" pitchFamily="34" charset="-120"/>
              </a:rPr>
              <a:t>GitHub:     https://github.com/sunilmlodha/cdh-bridge</a:t>
            </a:r>
            <a:endParaRPr lang="en-US" sz="1050" dirty="0"/>
          </a:p>
        </p:txBody>
      </p:sp>
      <p:sp>
        <p:nvSpPr>
          <p:cNvPr id="14" name="Shape 12"/>
          <p:cNvSpPr/>
          <p:nvPr/>
        </p:nvSpPr>
        <p:spPr>
          <a:xfrm>
            <a:off x="8503920" y="1188720"/>
            <a:ext cx="3474720" cy="4572000"/>
          </a:xfrm>
          <a:prstGeom prst="rect">
            <a:avLst/>
          </a:prstGeom>
          <a:solidFill>
            <a:srgbClr val="0A2540"/>
          </a:solidFill>
          <a:ln w="12700">
            <a:solidFill>
              <a:srgbClr val="0D4060"/>
            </a:solidFill>
            <a:prstDash val="solid"/>
          </a:ln>
        </p:spPr>
      </p:sp>
      <p:sp>
        <p:nvSpPr>
          <p:cNvPr id="15" name="Shape 13"/>
          <p:cNvSpPr/>
          <p:nvPr/>
        </p:nvSpPr>
        <p:spPr>
          <a:xfrm>
            <a:off x="8503920" y="1188720"/>
            <a:ext cx="3474720" cy="54864"/>
          </a:xfrm>
          <a:prstGeom prst="rect">
            <a:avLst/>
          </a:prstGeom>
          <a:solidFill>
            <a:srgbClr val="16A34A"/>
          </a:solidFill>
          <a:ln w="12700">
            <a:solidFill>
              <a:srgbClr val="16A34A"/>
            </a:solidFill>
            <a:prstDash val="solid"/>
          </a:ln>
        </p:spPr>
      </p:sp>
      <p:sp>
        <p:nvSpPr>
          <p:cNvPr id="16" name="Text 14"/>
          <p:cNvSpPr/>
          <p:nvPr/>
        </p:nvSpPr>
        <p:spPr>
          <a:xfrm>
            <a:off x="8503920" y="1828800"/>
            <a:ext cx="3474720" cy="822960"/>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DCS</a:t>
            </a:r>
            <a:endParaRPr lang="en-US" sz="4200" dirty="0"/>
          </a:p>
        </p:txBody>
      </p:sp>
      <p:sp>
        <p:nvSpPr>
          <p:cNvPr id="17" name="Text 15"/>
          <p:cNvSpPr/>
          <p:nvPr/>
        </p:nvSpPr>
        <p:spPr>
          <a:xfrm>
            <a:off x="8503920" y="2697480"/>
            <a:ext cx="3474720" cy="320040"/>
          </a:xfrm>
          <a:prstGeom prst="rect">
            <a:avLst/>
          </a:prstGeom>
          <a:noFill/>
          <a:ln/>
        </p:spPr>
        <p:txBody>
          <a:bodyPr wrap="square" lIns="0" tIns="0" rIns="0" bIns="0" rtlCol="0" anchor="ctr"/>
          <a:lstStyle/>
          <a:p>
            <a:pPr algn="ctr" indent="0" marL="0">
              <a:buNone/>
            </a:pPr>
            <a:r>
              <a:rPr lang="en-US" sz="1100" dirty="0">
                <a:solidFill>
                  <a:srgbClr val="6E9DB5"/>
                </a:solidFill>
                <a:latin typeface="Calibri" pitchFamily="34" charset="0"/>
                <a:ea typeface="Calibri" pitchFamily="34" charset="-122"/>
                <a:cs typeface="Calibri" pitchFamily="34" charset="-120"/>
              </a:rPr>
              <a:t>Decision Consulting Solutions</a:t>
            </a:r>
            <a:endParaRPr lang="en-US" sz="1100" dirty="0"/>
          </a:p>
        </p:txBody>
      </p:sp>
      <p:sp>
        <p:nvSpPr>
          <p:cNvPr id="18" name="Shape 16"/>
          <p:cNvSpPr/>
          <p:nvPr/>
        </p:nvSpPr>
        <p:spPr>
          <a:xfrm>
            <a:off x="8869680" y="3108960"/>
            <a:ext cx="2743200" cy="27432"/>
          </a:xfrm>
          <a:prstGeom prst="rect">
            <a:avLst/>
          </a:prstGeom>
          <a:solidFill>
            <a:srgbClr val="0D4060"/>
          </a:solidFill>
          <a:ln w="12700">
            <a:solidFill>
              <a:srgbClr val="0D4060"/>
            </a:solidFill>
            <a:prstDash val="solid"/>
          </a:ln>
        </p:spPr>
      </p:sp>
      <p:sp>
        <p:nvSpPr>
          <p:cNvPr id="19" name="Text 17"/>
          <p:cNvSpPr/>
          <p:nvPr/>
        </p:nvSpPr>
        <p:spPr>
          <a:xfrm>
            <a:off x="8503920" y="3246120"/>
            <a:ext cx="3474720" cy="292608"/>
          </a:xfrm>
          <a:prstGeom prst="rect">
            <a:avLst/>
          </a:prstGeom>
          <a:noFill/>
          <a:ln/>
        </p:spPr>
        <p:txBody>
          <a:bodyPr wrap="square" lIns="0" tIns="0" rIns="0" bIns="0" rtlCol="0" anchor="ctr"/>
          <a:lstStyle/>
          <a:p>
            <a:pPr algn="ctr" indent="0" marL="0">
              <a:buNone/>
            </a:pPr>
            <a:r>
              <a:rPr lang="en-US" sz="1100" b="1" dirty="0">
                <a:solidFill>
                  <a:srgbClr val="16A34A"/>
                </a:solidFill>
                <a:latin typeface="Calibri" pitchFamily="34" charset="0"/>
                <a:ea typeface="Calibri" pitchFamily="34" charset="-122"/>
                <a:cs typeface="Calibri" pitchFamily="34" charset="-120"/>
              </a:rPr>
              <a:t>Pega CDH Partner</a:t>
            </a:r>
            <a:endParaRPr lang="en-US" sz="1100" dirty="0"/>
          </a:p>
        </p:txBody>
      </p:sp>
      <p:sp>
        <p:nvSpPr>
          <p:cNvPr id="20" name="Text 18"/>
          <p:cNvSpPr/>
          <p:nvPr/>
        </p:nvSpPr>
        <p:spPr>
          <a:xfrm>
            <a:off x="8503920" y="3611880"/>
            <a:ext cx="3474720" cy="292608"/>
          </a:xfrm>
          <a:prstGeom prst="rect">
            <a:avLst/>
          </a:prstGeom>
          <a:noFill/>
          <a:ln/>
        </p:spPr>
        <p:txBody>
          <a:bodyPr wrap="square" lIns="0" tIns="0" rIns="0" bIns="0" rtlCol="0" anchor="ctr"/>
          <a:lstStyle/>
          <a:p>
            <a:pPr algn="ctr" indent="0" marL="0">
              <a:buNone/>
            </a:pPr>
            <a:r>
              <a:rPr lang="en-US" sz="1100" dirty="0">
                <a:solidFill>
                  <a:srgbClr val="6E9DB5"/>
                </a:solidFill>
                <a:latin typeface="Calibri" pitchFamily="34" charset="0"/>
                <a:ea typeface="Calibri" pitchFamily="34" charset="-122"/>
                <a:cs typeface="Calibri" pitchFamily="34" charset="-120"/>
              </a:rPr>
              <a:t>wearedcs.com</a:t>
            </a:r>
            <a:endParaRPr lang="en-US" sz="1100" dirty="0"/>
          </a:p>
        </p:txBody>
      </p:sp>
      <p:sp>
        <p:nvSpPr>
          <p:cNvPr id="21" name="Text 19"/>
          <p:cNvSpPr/>
          <p:nvPr/>
        </p:nvSpPr>
        <p:spPr>
          <a:xfrm>
            <a:off x="8503920" y="4160520"/>
            <a:ext cx="347472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Sunil Lodha</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Nanjundan Chinnasamy</a:t>
            </a:r>
            <a:endParaRPr lang="en-US" sz="1200" dirty="0"/>
          </a:p>
        </p:txBody>
      </p:sp>
      <p:sp>
        <p:nvSpPr>
          <p:cNvPr id="22" name="Text 20"/>
          <p:cNvSpPr/>
          <p:nvPr/>
        </p:nvSpPr>
        <p:spPr>
          <a:xfrm>
            <a:off x="8503920" y="5394960"/>
            <a:ext cx="3474720" cy="256032"/>
          </a:xfrm>
          <a:prstGeom prst="rect">
            <a:avLst/>
          </a:prstGeom>
          <a:noFill/>
          <a:ln/>
        </p:spPr>
        <p:txBody>
          <a:bodyPr wrap="square" lIns="0" tIns="0" rIns="0" bIns="0" rtlCol="0" anchor="ctr"/>
          <a:lstStyle/>
          <a:p>
            <a:pPr algn="ctr" indent="0" marL="0">
              <a:buNone/>
            </a:pPr>
            <a:r>
              <a:rPr lang="en-US" sz="900" dirty="0">
                <a:solidFill>
                  <a:srgbClr val="3A6A88"/>
                </a:solidFill>
                <a:latin typeface="Calibri" pitchFamily="34" charset="0"/>
                <a:ea typeface="Calibri" pitchFamily="34" charset="-122"/>
                <a:cs typeface="Calibri" pitchFamily="34" charset="-120"/>
              </a:rPr>
              <a:t>© 2026 DCS — Confidential</a:t>
            </a:r>
            <a:endParaRPr lang="en-US" sz="900" dirty="0"/>
          </a:p>
        </p:txBody>
      </p:sp>
      <p:sp>
        <p:nvSpPr>
          <p:cNvPr id="23" name="Shape 21"/>
          <p:cNvSpPr/>
          <p:nvPr/>
        </p:nvSpPr>
        <p:spPr>
          <a:xfrm>
            <a:off x="0" y="6565392"/>
            <a:ext cx="12188952" cy="292608"/>
          </a:xfrm>
          <a:prstGeom prst="rect">
            <a:avLst/>
          </a:prstGeom>
          <a:solidFill>
            <a:srgbClr val="003A61"/>
          </a:solidFill>
          <a:ln w="12700">
            <a:solidFill>
              <a:srgbClr val="003A61"/>
            </a:solidFill>
            <a:prstDash val="solid"/>
          </a:ln>
        </p:spPr>
      </p:sp>
      <p:sp>
        <p:nvSpPr>
          <p:cNvPr id="24" name="Text 22"/>
          <p:cNvSpPr/>
          <p:nvPr/>
        </p:nvSpPr>
        <p:spPr>
          <a:xfrm>
            <a:off x="274320" y="6583680"/>
            <a:ext cx="9144000" cy="256032"/>
          </a:xfrm>
          <a:prstGeom prst="rect">
            <a:avLst/>
          </a:prstGeom>
          <a:noFill/>
          <a:ln/>
        </p:spPr>
        <p:txBody>
          <a:bodyPr wrap="square" lIns="0" tIns="0" rIns="0" bIns="0" rtlCol="0" anchor="ctr"/>
          <a:lstStyle/>
          <a:p>
            <a:pPr indent="0" marL="0">
              <a:buNone/>
            </a:pPr>
            <a:r>
              <a:rPr lang="en-US" sz="850" dirty="0">
                <a:solidFill>
                  <a:srgbClr val="AABFCE"/>
                </a:solidFill>
                <a:latin typeface="Calibri" pitchFamily="34" charset="0"/>
                <a:ea typeface="Calibri" pitchFamily="34" charset="-122"/>
                <a:cs typeface="Calibri" pitchFamily="34" charset="-120"/>
              </a:rPr>
              <a:t>DCS — Decision Consulting Solutions  |  CDH Bridge GTM 2026  |  Confidential</a:t>
            </a:r>
            <a:endParaRPr lang="en-US" sz="850" dirty="0"/>
          </a:p>
        </p:txBody>
      </p:sp>
      <p:sp>
        <p:nvSpPr>
          <p:cNvPr id="25" name="Text 23"/>
          <p:cNvSpPr/>
          <p:nvPr/>
        </p:nvSpPr>
        <p:spPr>
          <a:xfrm>
            <a:off x="11091672" y="6583680"/>
            <a:ext cx="822960" cy="256032"/>
          </a:xfrm>
          <a:prstGeom prst="rect">
            <a:avLst/>
          </a:prstGeom>
          <a:noFill/>
          <a:ln/>
        </p:spPr>
        <p:txBody>
          <a:bodyPr wrap="square" lIns="0" tIns="0" rIns="0" bIns="0" rtlCol="0" anchor="ctr"/>
          <a:lstStyle/>
          <a:p>
            <a:pPr algn="r" indent="0" marL="0">
              <a:buNone/>
            </a:pPr>
            <a:r>
              <a:rPr lang="en-US" sz="850" dirty="0">
                <a:solidFill>
                  <a:srgbClr val="AABFCE"/>
                </a:solidFill>
                <a:latin typeface="Calibri" pitchFamily="34" charset="0"/>
                <a:ea typeface="Calibri" pitchFamily="34" charset="-122"/>
                <a:cs typeface="Calibri" pitchFamily="34" charset="-120"/>
              </a:rPr>
              <a:t>15 / 15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CDH Bridge — DCS GTM Deck 2026</dc:title>
  <dc:subject>PptxGenJS Presentation</dc:subject>
  <dc:creator>DCS — Decision Consulting Solutions</dc:creator>
  <cp:lastModifiedBy>DCS — Decision Consulting Solutions</cp:lastModifiedBy>
  <cp:revision>1</cp:revision>
  <dcterms:created xsi:type="dcterms:W3CDTF">2026-06-08T14:16:57Z</dcterms:created>
  <dcterms:modified xsi:type="dcterms:W3CDTF">2026-06-08T14:16:57Z</dcterms:modified>
</cp:coreProperties>
</file>